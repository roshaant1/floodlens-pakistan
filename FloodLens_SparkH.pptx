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fa24fe71-777c-dacb-f5e4-f67d83feac7e}">
          <p14:sldIdLst>
            <p14:sldId id="256"/>
          </p14:sldIdLst>
        </p14:section>
        <p14:section name="Problem" id="{7a439515-f095-f631-2696-b9e28d36dcfb}">
          <p14:sldIdLst>
            <p14:sldId id="257"/>
          </p14:sldIdLst>
        </p14:section>
        <p14:section name="Data" id="{d6347614-b07a-7bc2-f3a0-8bd9fa1a08e5}">
          <p14:sldIdLst>
            <p14:sldId id="258"/>
            <p14:sldId id="259"/>
          </p14:sldIdLst>
        </p14:section>
        <p14:section name="Pipeline" id="{7dfccdba-76a2-557f-3aff-41c615e7a6a8}">
          <p14:sldIdLst>
            <p14:sldId id="260"/>
            <p14:sldId id="261"/>
          </p14:sldIdLst>
        </p14:section>
        <p14:section name="Agents" id="{408a5390-9c59-e75d-9f1a-d8bcd6117719}">
          <p14:sldIdLst>
            <p14:sldId id="262"/>
            <p14:sldId id="263"/>
          </p14:sldIdLst>
        </p14:section>
        <p14:section name="Dashboard" id="{3479e009-7c2e-abca-2204-ad0616143e4d}">
          <p14:sldIdLst>
            <p14:sldId id="264"/>
          </p14:sldIdLst>
        </p14:section>
        <p14:section name="Results" id="{e1313b1c-82c6-0bb7-479d-2547e1a9e0b9}">
          <p14:sldIdLst>
            <p14:sldId id="265"/>
            <p14:sldId id="266"/>
          </p14:sldIdLst>
        </p14:section>
        <p14:section name="Impact" id="{2bd37b05-0865-2ef1-d373-bf58c3dbea5b}">
          <p14:sldIdLst>
            <p14:sldId id="267"/>
          </p14:sldIdLst>
        </p14:section>
        <p14:section name="Business" id="{3d02030f-3475-d4ff-829b-f1e2e1c58531}">
          <p14:sldIdLst>
            <p14:sldId id="268"/>
            <p14:sldId id="269"/>
          </p14:sldIdLst>
        </p14:section>
        <p14:section name="Conclusion" id="{2f893800-0697-0a85-88e2-815cb840c9b1}">
          <p14:sldIdLst>
            <p14:sldId id="270"/>
          </p14:sldIdLst>
        </p14:section>
        <p14:section name="Team" id="{bcc90c47-d07f-5746-40bd-d982beabfdb2}">
          <p14:sldIdLst>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0B5D2A"/>
                </a:solidFill>
                <a:latin typeface="+mn-lt"/>
              </a:defRPr>
            </a:pPr>
            <a:r>
              <a:rPr sz="1100" b="0" i="0" u="none" strike="noStrike">
                <a:solidFill>
                  <a:srgbClr val="0B5D2A"/>
                </a:solidFill>
                <a:latin typeface="+mn-lt"/>
              </a:rPr>
              <a:t>Better than climatology in every province (validation, 24 h, %)</a:t>
            </a:r>
          </a:p>
        </c:rich>
      </c:tx>
      <c:layout/>
      <c:overlay val="0"/>
    </c:title>
    <c:autoTitleDeleted val="0"/>
    <c:plotArea>
      <c:layout/>
      <c:barChart>
        <c:barDir val="bar"/>
        <c:grouping val="clustered"/>
        <c:varyColors val="0"/>
        <c:ser>
          <c:idx val="0"/>
          <c:order val="0"/>
          <c:tx>
            <c:strRef>
              <c:f>Sheet1!$B$1</c:f>
              <c:strCache>
                <c:ptCount val="1"/>
                <c:pt idx="0">
                  <c:v>Skill vs climatology (%)</c:v>
                </c:pt>
              </c:strCache>
            </c:strRef>
          </c:tx>
          <c:spPr>
            <a:solidFill>
              <a:srgbClr val="2E8B57"/>
            </a:solidFill>
            <a:effectLst/>
          </c:spPr>
          <c:invertIfNegative val="0"/>
          <c:dLbls>
            <c:numFmt formatCode="0.0" sourceLinked="0"/>
            <c:txPr>
              <a:bodyPr/>
              <a:lstStyle/>
              <a:p>
                <a:pPr>
                  <a:defRPr b="0" i="0" strike="noStrike" sz="1000" u="none">
                    <a:solidFill>
                      <a:srgbClr val="1F2933"/>
                    </a:solidFill>
                    <a:latin typeface="+mn-lt"/>
                  </a:defRPr>
                </a:pPr>
              </a:p>
            </c:txPr>
            <c:showLegendKey val="0"/>
            <c:showVal val="1"/>
            <c:showCatName val="0"/>
            <c:showSerName val="0"/>
            <c:showPercent val="0"/>
            <c:showBubbleSize val="0"/>
            <c:showLeaderLines val="0"/>
          </c:dLbls>
          <c:cat>
            <c:multiLvlStrRef>
              <c:f>Sheet1!$A$2:$A$8</c:f>
              <c:multiLvlStrCache>
                <c:ptCount val="7"/>
                <c:lvl>
                  <c:pt idx="0">
                    <c:v>Sindh</c:v>
                  </c:pt>
                  <c:pt idx="1">
                    <c:v>Gilgit-Baltistan</c:v>
                  </c:pt>
                  <c:pt idx="2">
                    <c:v>Khyber Pakhtunkhwa</c:v>
                  </c:pt>
                  <c:pt idx="3">
                    <c:v>Punjab</c:v>
                  </c:pt>
                  <c:pt idx="4">
                    <c:v>Balochistan</c:v>
                  </c:pt>
                  <c:pt idx="5">
                    <c:v>Islamabad</c:v>
                  </c:pt>
                  <c:pt idx="6">
                    <c:v>Azad Kashmir</c:v>
                  </c:pt>
                </c:lvl>
              </c:multiLvlStrCache>
            </c:multiLvlStrRef>
          </c:cat>
          <c:val>
            <c:numRef>
              <c:f>Sheet1!$B$2:$B$8</c:f>
              <c:numCache>
                <c:formatCode>General</c:formatCode>
                <c:ptCount val="7"/>
                <c:pt idx="0">
                  <c:v>12</c:v>
                </c:pt>
                <c:pt idx="1">
                  <c:v>8.4</c:v>
                </c:pt>
                <c:pt idx="2">
                  <c:v>7.6</c:v>
                </c:pt>
                <c:pt idx="3">
                  <c:v>5.9</c:v>
                </c:pt>
                <c:pt idx="4">
                  <c:v>4.5</c:v>
                </c:pt>
                <c:pt idx="5">
                  <c:v>3.2</c:v>
                </c:pt>
                <c:pt idx="6">
                  <c:v>1.5</c:v>
                </c:pt>
              </c:numCache>
            </c:numRef>
          </c:val>
        </c:ser>
        <c:dLbls>
          <c:numFmt formatCode="0.0" sourceLinked="0"/>
          <c:txPr>
            <a:bodyPr/>
            <a:lstStyle/>
            <a:p>
              <a:pPr>
                <a:defRPr b="0" i="0" strike="noStrike" sz="1000" u="none">
                  <a:solidFill>
                    <a:srgbClr val="1F293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1F2933"/>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ONLY">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754880"/>
            <a:ext cx="6400800" cy="228600"/>
          </a:xfrm>
          <a:prstGeom prst="rect">
            <a:avLst/>
          </a:prstGeom>
          <a:noFill/>
          <a:ln/>
        </p:spPr>
        <p:txBody>
          <a:bodyPr wrap="square" lIns="0" tIns="0" rIns="0" bIns="0" rtlCol="0" anchor="ctr"/>
          <a:lstStyle/>
          <a:p>
            <a:pPr indent="0" marL="0">
              <a:buNone/>
            </a:pPr>
            <a:r>
              <a:rPr lang="en-US" sz="900" dirty="0">
                <a:solidFill>
                  <a:schemeClr val="accent6"/>
                </a:solidFill>
              </a:rPr>
              <a:t>HACKINSIGHT 2026  |  NED University of Engineering &amp; Technology  |  Team Spark H</a:t>
            </a:r>
            <a:endParaRPr lang="en-US" sz="900" dirty="0"/>
          </a:p>
        </p:txBody>
      </p:sp>
      <p:sp>
        <p:nvSpPr>
          <p:cNvPr id="3" name="Text 1"/>
          <p:cNvSpPr/>
          <p:nvPr>
            <p:ph idx="101" type="title" hasCustomPrompt="1"/>
          </p:nvPr>
        </p:nvSpPr>
        <p:spPr>
          <a:xfrm>
            <a:off x="457200" y="274320"/>
            <a:ext cx="8229600" cy="548640"/>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4937760" cy="914400"/>
          </a:xfrm>
          <a:prstGeom prst="rect">
            <a:avLst/>
          </a:prstGeom>
          <a:noFill/>
          <a:ln/>
        </p:spPr>
        <p:txBody>
          <a:bodyPr wrap="square" rtlCol="0"/>
          <a:lstStyle>
            <a:lvl1pPr algn="l" indent="0" marL="0">
              <a:buNone/>
              <a:defRPr lang="en-US" sz="4400" b="1" dirty="0">
                <a:solidFill>
                  <a:schemeClr val="tx2"/>
                </a:solidFill>
              </a:defRPr>
            </a:lvl1pPr>
          </a:lstStyle>
          <a:p>
            <a:pPr algn="l" indent="0" marL="0">
              <a:buNone/>
            </a:pPr>
            <a:endParaRPr lang="en-US" sz="4400" dirty="0"/>
          </a:p>
        </p:txBody>
      </p:sp>
      <p:sp>
        <p:nvSpPr>
          <p:cNvPr id="3" name="Text 0"/>
          <p:cNvSpPr/>
          <p:nvPr>
            <p:ph idx="101" type="body" hasCustomPrompt="1"/>
          </p:nvPr>
        </p:nvSpPr>
        <p:spPr>
          <a:xfrm>
            <a:off x="548640" y="2423160"/>
            <a:ext cx="4754880" cy="822960"/>
          </a:xfrm>
          <a:prstGeom prst="rect">
            <a:avLst/>
          </a:prstGeom>
          <a:noFill/>
          <a:ln/>
        </p:spPr>
        <p:txBody>
          <a:bodyPr wrap="square" rtlCol="0"/>
          <a:lstStyle>
            <a:lvl1pPr indent="0" marL="0">
              <a:buNone/>
              <a:defRPr lang="en-US" sz="1800" dirty="0">
                <a:solidFill>
                  <a:schemeClr val="tx1"/>
                </a:solidFill>
              </a:defRPr>
            </a:lvl1pPr>
          </a:lstStyle>
          <a:p>
            <a:pPr indent="0" marL="0">
              <a:buNone/>
            </a:pPr>
            <a:endParaRPr lang="en-US" sz="1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2.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4937760" cy="914400"/>
          </a:xfrm>
          <a:prstGeom prst="rect">
            <a:avLst/>
          </a:prstGeom>
          <a:noFill/>
          <a:ln/>
        </p:spPr>
        <p:txBody>
          <a:bodyPr wrap="square" lIns="0" tIns="0" rIns="0" bIns="0" rtlCol="0" anchor="b"/>
          <a:lstStyle/>
          <a:p>
            <a:pPr algn="l" indent="0" marL="0">
              <a:buNone/>
            </a:pPr>
            <a:r>
              <a:rPr lang="en-US" sz="4400" b="1" dirty="0">
                <a:solidFill>
                  <a:schemeClr val="tx2"/>
                </a:solidFill>
              </a:rPr>
              <a:t>FloodLens Pakistan</a:t>
            </a:r>
            <a:endParaRPr lang="en-US" sz="4400" dirty="0"/>
          </a:p>
        </p:txBody>
      </p:sp>
      <p:sp>
        <p:nvSpPr>
          <p:cNvPr id="3" name="Text 0"/>
          <p:cNvSpPr/>
          <p:nvPr>
            <p:ph idx="101" type="body" hasCustomPrompt="1"/>
          </p:nvPr>
        </p:nvSpPr>
        <p:spPr>
          <a:xfrm>
            <a:off x="548640" y="2423160"/>
            <a:ext cx="4754880" cy="822960"/>
          </a:xfrm>
          <a:prstGeom prst="rect">
            <a:avLst/>
          </a:prstGeom>
          <a:noFill/>
          <a:ln/>
        </p:spPr>
        <p:txBody>
          <a:bodyPr wrap="square" lIns="0" tIns="0" rIns="0" bIns="0" rtlCol="0" anchor="t"/>
          <a:lstStyle/>
          <a:p>
            <a:pPr indent="0" marL="0">
              <a:buNone/>
            </a:pPr>
            <a:r>
              <a:rPr lang="en-US" sz="1800" dirty="0">
                <a:solidFill>
                  <a:schemeClr val="tx1"/>
                </a:solidFill>
              </a:rPr>
              <a:t>District heavy-rain warnings 1–3 days ahead, with a weekly food-price watch</a:t>
            </a:r>
            <a:endParaRPr lang="en-US" sz="1800" dirty="0"/>
          </a:p>
        </p:txBody>
      </p:sp>
      <p:sp>
        <p:nvSpPr>
          <p:cNvPr id="4" name="Text 2"/>
          <p:cNvSpPr txBox="1"/>
          <p:nvPr/>
        </p:nvSpPr>
        <p:spPr>
          <a:xfrm>
            <a:off x="548640" y="960120"/>
            <a:ext cx="3657600" cy="320040"/>
          </a:xfrm>
          <a:prstGeom prst="rect">
            <a:avLst/>
          </a:prstGeom>
          <a:noFill/>
          <a:ln/>
        </p:spPr>
        <p:txBody>
          <a:bodyPr wrap="square" lIns="0" tIns="0" rIns="0" bIns="0" rtlCol="0" anchor="t"/>
          <a:lstStyle/>
          <a:p>
            <a:pPr indent="0" marL="0">
              <a:buNone/>
            </a:pPr>
            <a:r>
              <a:rPr lang="en-US" sz="1400" b="1" spc="300" kern="0" dirty="0">
                <a:solidFill>
                  <a:schemeClr val="accent2"/>
                </a:solidFill>
              </a:rPr>
              <a:t>HACKINSIGHT 2026</a:t>
            </a:r>
            <a:endParaRPr lang="en-US" sz="1400" dirty="0"/>
          </a:p>
        </p:txBody>
      </p:sp>
      <p:sp>
        <p:nvSpPr>
          <p:cNvPr id="5" name="Text 3"/>
          <p:cNvSpPr txBox="1"/>
          <p:nvPr/>
        </p:nvSpPr>
        <p:spPr>
          <a:xfrm>
            <a:off x="548640" y="3429000"/>
            <a:ext cx="4937760" cy="320040"/>
          </a:xfrm>
          <a:prstGeom prst="rect">
            <a:avLst/>
          </a:prstGeom>
          <a:noFill/>
          <a:ln/>
        </p:spPr>
        <p:txBody>
          <a:bodyPr wrap="square" lIns="0" tIns="0" rIns="0" bIns="0" rtlCol="0" anchor="t"/>
          <a:lstStyle/>
          <a:p>
            <a:pPr indent="0" marL="0">
              <a:buNone/>
            </a:pPr>
            <a:r>
              <a:rPr lang="en-US" sz="1400" b="1" dirty="0">
                <a:solidFill>
                  <a:schemeClr val="tx2"/>
                </a:solidFill>
              </a:rPr>
              <a:t>Team Spark H</a:t>
            </a:r>
            <a:pPr indent="0" marL="0">
              <a:buNone/>
            </a:pPr>
            <a:r>
              <a:rPr lang="en-US" sz="1400" dirty="0">
                <a:solidFill>
                  <a:schemeClr val="tx1"/>
                </a:solidFill>
              </a:rPr>
              <a:t>   |   Climate &amp; disaster risk  ·  food security</a:t>
            </a:r>
            <a:endParaRPr lang="en-US" sz="1400" dirty="0"/>
          </a:p>
        </p:txBody>
      </p:sp>
      <p:sp>
        <p:nvSpPr>
          <p:cNvPr id="6" name="Text 4"/>
          <p:cNvSpPr txBox="1"/>
          <p:nvPr/>
        </p:nvSpPr>
        <p:spPr>
          <a:xfrm>
            <a:off x="548640" y="3840480"/>
            <a:ext cx="4937760" cy="274320"/>
          </a:xfrm>
          <a:prstGeom prst="rect">
            <a:avLst/>
          </a:prstGeom>
          <a:noFill/>
          <a:ln/>
        </p:spPr>
        <p:txBody>
          <a:bodyPr wrap="square" lIns="0" tIns="0" rIns="0" bIns="0" rtlCol="0" anchor="t"/>
          <a:lstStyle/>
          <a:p>
            <a:pPr indent="0" marL="0">
              <a:buNone/>
            </a:pPr>
            <a:r>
              <a:rPr lang="en-US" sz="1200" dirty="0">
                <a:solidFill>
                  <a:schemeClr val="accent5"/>
                </a:solidFill>
              </a:rPr>
              <a:t>huggingface.co/spaces/RoshaanT1/floodlens-pakistan</a:t>
            </a:r>
            <a:endParaRPr lang="en-US" sz="1200" dirty="0"/>
          </a:p>
        </p:txBody>
      </p:sp>
      <p:pic>
        <p:nvPicPr>
          <p:cNvPr id="7" name="Pakistan outline" descr="Outline of Pakistan, traced from the 160 OCHA district boundaries">    </p:cNvPr>
          <p:cNvPicPr>
            <a:picLocks noChangeAspect="1"/>
          </p:cNvPicPr>
          <p:nvPr/>
        </p:nvPicPr>
        <p:blipFill>
          <a:blip r:embed="rId1"/>
          <a:stretch>
            <a:fillRect/>
          </a:stretch>
        </p:blipFill>
        <p:spPr>
          <a:xfrm>
            <a:off x="5760720" y="777240"/>
            <a:ext cx="3017520" cy="2798064"/>
          </a:xfrm>
          <a:prstGeom prst="rect">
            <a:avLst/>
          </a:prstGeom>
        </p:spPr>
      </p:pic>
      <p:sp>
        <p:nvSpPr>
          <p:cNvPr id="8" name="Text 5"/>
          <p:cNvSpPr txBox="1"/>
          <p:nvPr/>
        </p:nvSpPr>
        <p:spPr>
          <a:xfrm>
            <a:off x="5760720" y="3703320"/>
            <a:ext cx="3017520" cy="274320"/>
          </a:xfrm>
          <a:prstGeom prst="rect">
            <a:avLst/>
          </a:prstGeom>
          <a:noFill/>
          <a:ln/>
        </p:spPr>
        <p:txBody>
          <a:bodyPr wrap="square" lIns="0" tIns="0" rIns="0" bIns="0" rtlCol="0" anchor="t"/>
          <a:lstStyle/>
          <a:p>
            <a:pPr algn="ctr" indent="0" marL="0">
              <a:buNone/>
            </a:pPr>
            <a:r>
              <a:rPr lang="en-US" sz="1200" dirty="0">
                <a:solidFill>
                  <a:schemeClr val="accent6"/>
                </a:solidFill>
              </a:rPr>
              <a:t>160 districts · scored every hour</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548640"/>
          </a:xfrm>
          <a:prstGeom prst="rect">
            <a:avLst/>
          </a:prstGeom>
          <a:noFill/>
          <a:ln/>
        </p:spPr>
        <p:txBody>
          <a:bodyPr wrap="square" lIns="0" tIns="0" rIns="0" bIns="0" rtlCol="0" anchor="ctr"/>
          <a:lstStyle/>
          <a:p>
            <a:pPr algn="l" indent="0" marL="0">
              <a:buNone/>
            </a:pPr>
            <a:r>
              <a:rPr lang="en-US" sz="2800" b="1" dirty="0">
                <a:solidFill>
                  <a:schemeClr val="tx2"/>
                </a:solidFill>
              </a:rPr>
              <a:t>Problem Statement</a:t>
            </a:r>
            <a:endParaRPr lang="en-US" sz="2800" dirty="0"/>
          </a:p>
        </p:txBody>
      </p:sp>
      <p:sp>
        <p:nvSpPr>
          <p:cNvPr id="3" name="problem card"/>
          <p:cNvSpPr/>
          <p:nvPr/>
        </p:nvSpPr>
        <p:spPr>
          <a:xfrm>
            <a:off x="457200" y="1051560"/>
            <a:ext cx="4114800" cy="3429000"/>
          </a:xfrm>
          <a:prstGeom prst="roundRect">
            <a:avLst>
              <a:gd name="adj" fmla="val 2133"/>
            </a:avLst>
          </a:prstGeom>
          <a:solidFill>
            <a:schemeClr val="bg2"/>
          </a:solidFill>
          <a:ln w="12700">
            <a:solidFill>
              <a:schemeClr val="bg2"/>
            </a:solidFill>
            <a:prstDash val="solid"/>
          </a:ln>
        </p:spPr>
      </p:sp>
      <p:sp>
        <p:nvSpPr>
          <p:cNvPr id="4" name="Text 2"/>
          <p:cNvSpPr txBox="1"/>
          <p:nvPr/>
        </p:nvSpPr>
        <p:spPr>
          <a:xfrm>
            <a:off x="685800" y="1280160"/>
            <a:ext cx="3657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THE PROBLEM</a:t>
            </a:r>
            <a:endParaRPr lang="en-US" sz="1200" dirty="0"/>
          </a:p>
        </p:txBody>
      </p:sp>
      <p:sp>
        <p:nvSpPr>
          <p:cNvPr id="5" name="Text 3"/>
          <p:cNvSpPr txBox="1"/>
          <p:nvPr/>
        </p:nvSpPr>
        <p:spPr>
          <a:xfrm>
            <a:off x="685800" y="1645920"/>
            <a:ext cx="3657600" cy="1828800"/>
          </a:xfrm>
          <a:prstGeom prst="rect">
            <a:avLst/>
          </a:prstGeom>
          <a:noFill/>
          <a:ln/>
        </p:spPr>
        <p:txBody>
          <a:bodyPr wrap="square" lIns="0" tIns="0" rIns="0" bIns="0" rtlCol="0" anchor="t"/>
          <a:lstStyle/>
          <a:p>
            <a:pPr indent="0" marL="0">
              <a:lnSpc>
                <a:spcPct val="110000"/>
              </a:lnSpc>
              <a:buNone/>
            </a:pPr>
            <a:r>
              <a:rPr lang="en-US" sz="1500" dirty="0">
                <a:solidFill>
                  <a:schemeClr val="tx1"/>
                </a:solidFill>
              </a:rPr>
              <a:t>Monsoon rain in Pakistan turns deadly within hours. District planners must decide where to send rescue teams, pumps and relief before the rain arrives, but weather models give grid cells, not a per-district answer to “is this unusual for us?”</a:t>
            </a:r>
            <a:endParaRPr lang="en-US" sz="1500" dirty="0"/>
          </a:p>
        </p:txBody>
      </p:sp>
      <p:sp>
        <p:nvSpPr>
          <p:cNvPr id="6" name="Text 4"/>
          <p:cNvSpPr txBox="1"/>
          <p:nvPr/>
        </p:nvSpPr>
        <p:spPr>
          <a:xfrm>
            <a:off x="685800" y="3337560"/>
            <a:ext cx="3657600" cy="1005840"/>
          </a:xfrm>
          <a:prstGeom prst="rect">
            <a:avLst/>
          </a:prstGeom>
          <a:noFill/>
          <a:ln/>
        </p:spPr>
        <p:txBody>
          <a:bodyPr wrap="square" lIns="0" tIns="0" rIns="0" bIns="0" rtlCol="0" anchor="t"/>
          <a:lstStyle/>
          <a:p>
            <a:pPr indent="0" marL="0">
              <a:buNone/>
            </a:pPr>
            <a:r>
              <a:rPr lang="en-US" sz="3600" b="1" dirty="0">
                <a:solidFill>
                  <a:schemeClr val="accent3"/>
                </a:solidFill>
              </a:rPr>
              <a:t>1,037</a:t>
            </a:r>
            <a:endParaRPr lang="en-US" sz="3600" dirty="0"/>
          </a:p>
          <a:p>
            <a:pPr indent="0" marL="0">
              <a:buNone/>
            </a:pPr>
            <a:r>
              <a:rPr lang="en-US" sz="1200" dirty="0">
                <a:solidFill>
                  <a:schemeClr val="tx1"/>
                </a:solidFill>
              </a:rPr>
              <a:t>deaths and 1,067 injured in the 2025 monsoon (NDMA final sitrep No. 87)</a:t>
            </a:r>
            <a:endParaRPr lang="en-US" sz="3600" dirty="0"/>
          </a:p>
        </p:txBody>
      </p:sp>
      <p:sp>
        <p:nvSpPr>
          <p:cNvPr id="7" name="question 1"/>
          <p:cNvSpPr/>
          <p:nvPr/>
        </p:nvSpPr>
        <p:spPr>
          <a:xfrm>
            <a:off x="4846320" y="1051560"/>
            <a:ext cx="3840480" cy="1051560"/>
          </a:xfrm>
          <a:prstGeom prst="roundRect">
            <a:avLst>
              <a:gd name="adj" fmla="val 6957"/>
            </a:avLst>
          </a:prstGeom>
          <a:solidFill>
            <a:schemeClr val="bg2"/>
          </a:solidFill>
          <a:ln w="12700">
            <a:solidFill>
              <a:schemeClr val="bg2"/>
            </a:solidFill>
            <a:prstDash val="solid"/>
          </a:ln>
        </p:spPr>
      </p:sp>
      <p:sp>
        <p:nvSpPr>
          <p:cNvPr id="8" name="dot 1"/>
          <p:cNvSpPr/>
          <p:nvPr/>
        </p:nvSpPr>
        <p:spPr>
          <a:xfrm>
            <a:off x="5029200" y="1234440"/>
            <a:ext cx="329184" cy="329184"/>
          </a:xfrm>
          <a:prstGeom prst="ellipse">
            <a:avLst/>
          </a:prstGeom>
          <a:solidFill>
            <a:schemeClr val="accent1"/>
          </a:solidFill>
          <a:ln w="12700">
            <a:solidFill>
              <a:schemeClr val="accent1"/>
            </a:solidFill>
            <a:prstDash val="solid"/>
          </a:ln>
        </p:spPr>
      </p:sp>
      <p:sp>
        <p:nvSpPr>
          <p:cNvPr id="9" name="Text 7"/>
          <p:cNvSpPr txBox="1"/>
          <p:nvPr/>
        </p:nvSpPr>
        <p:spPr>
          <a:xfrm>
            <a:off x="5029200" y="1234440"/>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10" name="Text 8"/>
          <p:cNvSpPr txBox="1"/>
          <p:nvPr/>
        </p:nvSpPr>
        <p:spPr>
          <a:xfrm>
            <a:off x="5532120" y="1197864"/>
            <a:ext cx="3017520" cy="292608"/>
          </a:xfrm>
          <a:prstGeom prst="rect">
            <a:avLst/>
          </a:prstGeom>
          <a:noFill/>
          <a:ln/>
        </p:spPr>
        <p:txBody>
          <a:bodyPr wrap="square" lIns="0" tIns="0" rIns="0" bIns="0" rtlCol="0" anchor="t"/>
          <a:lstStyle/>
          <a:p>
            <a:pPr indent="0" marL="0">
              <a:buNone/>
            </a:pPr>
            <a:r>
              <a:rPr lang="en-US" sz="1500" b="1" dirty="0">
                <a:solidFill>
                  <a:schemeClr val="tx2"/>
                </a:solidFill>
              </a:rPr>
              <a:t>The decision window</a:t>
            </a:r>
            <a:endParaRPr lang="en-US" sz="1500" dirty="0"/>
          </a:p>
        </p:txBody>
      </p:sp>
      <p:sp>
        <p:nvSpPr>
          <p:cNvPr id="11" name="Text 9"/>
          <p:cNvSpPr txBox="1"/>
          <p:nvPr/>
        </p:nvSpPr>
        <p:spPr>
          <a:xfrm>
            <a:off x="5532120" y="1508760"/>
            <a:ext cx="3017520" cy="548640"/>
          </a:xfrm>
          <a:prstGeom prst="rect">
            <a:avLst/>
          </a:prstGeom>
          <a:noFill/>
          <a:ln/>
        </p:spPr>
        <p:txBody>
          <a:bodyPr wrap="square" lIns="0" tIns="0" rIns="0" bIns="0" rtlCol="0" anchor="t"/>
          <a:lstStyle/>
          <a:p>
            <a:pPr indent="0" marL="0">
              <a:buNone/>
            </a:pPr>
            <a:r>
              <a:rPr lang="en-US" sz="1200" dirty="0">
                <a:solidFill>
                  <a:schemeClr val="tx1"/>
                </a:solidFill>
              </a:rPr>
              <a:t>District and PDMA planners need 24–72 h to pre-position Rescue 1122 teams, pumps and relief before roads wash out</a:t>
            </a:r>
            <a:endParaRPr lang="en-US" sz="1200" dirty="0"/>
          </a:p>
        </p:txBody>
      </p:sp>
      <p:sp>
        <p:nvSpPr>
          <p:cNvPr id="12" name="question 2"/>
          <p:cNvSpPr/>
          <p:nvPr/>
        </p:nvSpPr>
        <p:spPr>
          <a:xfrm>
            <a:off x="4846320" y="2240280"/>
            <a:ext cx="3840480" cy="1051560"/>
          </a:xfrm>
          <a:prstGeom prst="roundRect">
            <a:avLst>
              <a:gd name="adj" fmla="val 6957"/>
            </a:avLst>
          </a:prstGeom>
          <a:solidFill>
            <a:schemeClr val="bg2"/>
          </a:solidFill>
          <a:ln w="12700">
            <a:solidFill>
              <a:schemeClr val="bg2"/>
            </a:solidFill>
            <a:prstDash val="solid"/>
          </a:ln>
        </p:spPr>
      </p:sp>
      <p:sp>
        <p:nvSpPr>
          <p:cNvPr id="13" name="dot 2"/>
          <p:cNvSpPr/>
          <p:nvPr/>
        </p:nvSpPr>
        <p:spPr>
          <a:xfrm>
            <a:off x="5029200" y="2423160"/>
            <a:ext cx="329184" cy="329184"/>
          </a:xfrm>
          <a:prstGeom prst="ellipse">
            <a:avLst/>
          </a:prstGeom>
          <a:solidFill>
            <a:schemeClr val="accent1"/>
          </a:solidFill>
          <a:ln w="12700">
            <a:solidFill>
              <a:schemeClr val="accent1"/>
            </a:solidFill>
            <a:prstDash val="solid"/>
          </a:ln>
        </p:spPr>
      </p:sp>
      <p:sp>
        <p:nvSpPr>
          <p:cNvPr id="14" name="Text 12"/>
          <p:cNvSpPr txBox="1"/>
          <p:nvPr/>
        </p:nvSpPr>
        <p:spPr>
          <a:xfrm>
            <a:off x="5029200" y="2423160"/>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5" name="Text 13"/>
          <p:cNvSpPr txBox="1"/>
          <p:nvPr/>
        </p:nvSpPr>
        <p:spPr>
          <a:xfrm>
            <a:off x="5532120" y="2386584"/>
            <a:ext cx="3017520" cy="292608"/>
          </a:xfrm>
          <a:prstGeom prst="rect">
            <a:avLst/>
          </a:prstGeom>
          <a:noFill/>
          <a:ln/>
        </p:spPr>
        <p:txBody>
          <a:bodyPr wrap="square" lIns="0" tIns="0" rIns="0" bIns="0" rtlCol="0" anchor="t"/>
          <a:lstStyle/>
          <a:p>
            <a:pPr indent="0" marL="0">
              <a:buNone/>
            </a:pPr>
            <a:r>
              <a:rPr lang="en-US" sz="1500" b="1" dirty="0">
                <a:solidFill>
                  <a:schemeClr val="tx2"/>
                </a:solidFill>
              </a:rPr>
              <a:t>The gap today</a:t>
            </a:r>
            <a:endParaRPr lang="en-US" sz="1500" dirty="0"/>
          </a:p>
        </p:txBody>
      </p:sp>
      <p:sp>
        <p:nvSpPr>
          <p:cNvPr id="16" name="Text 14"/>
          <p:cNvSpPr txBox="1"/>
          <p:nvPr/>
        </p:nvSpPr>
        <p:spPr>
          <a:xfrm>
            <a:off x="5532120" y="2697480"/>
            <a:ext cx="3017520" cy="548640"/>
          </a:xfrm>
          <a:prstGeom prst="rect">
            <a:avLst/>
          </a:prstGeom>
          <a:noFill/>
          <a:ln/>
        </p:spPr>
        <p:txBody>
          <a:bodyPr wrap="square" lIns="0" tIns="0" rIns="0" bIns="0" rtlCol="0" anchor="t"/>
          <a:lstStyle/>
          <a:p>
            <a:pPr indent="0" marL="0">
              <a:buNone/>
            </a:pPr>
            <a:r>
              <a:rPr lang="en-US" sz="1200" dirty="0">
                <a:solidFill>
                  <a:schemeClr val="tx1"/>
                </a:solidFill>
              </a:rPr>
              <a:t>Advisories list areas in words; none gives each district a calibrated chance of rain that is unusual for it</a:t>
            </a:r>
            <a:endParaRPr lang="en-US" sz="1200" dirty="0"/>
          </a:p>
        </p:txBody>
      </p:sp>
      <p:sp>
        <p:nvSpPr>
          <p:cNvPr id="17" name="question 3"/>
          <p:cNvSpPr/>
          <p:nvPr/>
        </p:nvSpPr>
        <p:spPr>
          <a:xfrm>
            <a:off x="4846320" y="3429000"/>
            <a:ext cx="3840480" cy="1051560"/>
          </a:xfrm>
          <a:prstGeom prst="roundRect">
            <a:avLst>
              <a:gd name="adj" fmla="val 6957"/>
            </a:avLst>
          </a:prstGeom>
          <a:solidFill>
            <a:schemeClr val="bg2"/>
          </a:solidFill>
          <a:ln w="12700">
            <a:solidFill>
              <a:schemeClr val="bg2"/>
            </a:solidFill>
            <a:prstDash val="solid"/>
          </a:ln>
        </p:spPr>
      </p:sp>
      <p:sp>
        <p:nvSpPr>
          <p:cNvPr id="18" name="dot 3"/>
          <p:cNvSpPr/>
          <p:nvPr/>
        </p:nvSpPr>
        <p:spPr>
          <a:xfrm>
            <a:off x="5029200" y="3611880"/>
            <a:ext cx="329184" cy="329184"/>
          </a:xfrm>
          <a:prstGeom prst="ellipse">
            <a:avLst/>
          </a:prstGeom>
          <a:solidFill>
            <a:schemeClr val="accent1"/>
          </a:solidFill>
          <a:ln w="12700">
            <a:solidFill>
              <a:schemeClr val="accent1"/>
            </a:solidFill>
            <a:prstDash val="solid"/>
          </a:ln>
        </p:spPr>
      </p:sp>
      <p:sp>
        <p:nvSpPr>
          <p:cNvPr id="19" name="Text 17"/>
          <p:cNvSpPr txBox="1"/>
          <p:nvPr/>
        </p:nvSpPr>
        <p:spPr>
          <a:xfrm>
            <a:off x="5029200" y="3611880"/>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20" name="Text 18"/>
          <p:cNvSpPr txBox="1"/>
          <p:nvPr/>
        </p:nvSpPr>
        <p:spPr>
          <a:xfrm>
            <a:off x="5532120" y="3575304"/>
            <a:ext cx="3017520" cy="292608"/>
          </a:xfrm>
          <a:prstGeom prst="rect">
            <a:avLst/>
          </a:prstGeom>
          <a:noFill/>
          <a:ln/>
        </p:spPr>
        <p:txBody>
          <a:bodyPr wrap="square" lIns="0" tIns="0" rIns="0" bIns="0" rtlCol="0" anchor="t"/>
          <a:lstStyle/>
          <a:p>
            <a:pPr indent="0" marL="0">
              <a:buNone/>
            </a:pPr>
            <a:r>
              <a:rPr lang="en-US" sz="1500" b="1" dirty="0">
                <a:solidFill>
                  <a:schemeClr val="tx2"/>
                </a:solidFill>
              </a:rPr>
              <a:t>The compound threat</a:t>
            </a:r>
            <a:endParaRPr lang="en-US" sz="1500" dirty="0"/>
          </a:p>
        </p:txBody>
      </p:sp>
      <p:sp>
        <p:nvSpPr>
          <p:cNvPr id="21" name="Text 19"/>
          <p:cNvSpPr txBox="1"/>
          <p:nvPr/>
        </p:nvSpPr>
        <p:spPr>
          <a:xfrm>
            <a:off x="5532120" y="3886200"/>
            <a:ext cx="3017520" cy="548640"/>
          </a:xfrm>
          <a:prstGeom prst="rect">
            <a:avLst/>
          </a:prstGeom>
          <a:noFill/>
          <a:ln/>
        </p:spPr>
        <p:txBody>
          <a:bodyPr wrap="square" lIns="0" tIns="0" rIns="0" bIns="0" rtlCol="0" anchor="t"/>
          <a:lstStyle/>
          <a:p>
            <a:pPr indent="0" marL="0">
              <a:buNone/>
            </a:pPr>
            <a:r>
              <a:rPr lang="en-US" sz="1200" dirty="0">
                <a:solidFill>
                  <a:schemeClr val="tx1"/>
                </a:solidFill>
              </a:rPr>
              <a:t>Floods can disrupt supply routes and move staple prices; rain alerts and price data sit in separate places</a:t>
            </a:r>
            <a:endParaRPr lang="en-US" sz="12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548640"/>
          </a:xfrm>
          <a:prstGeom prst="rect">
            <a:avLst/>
          </a:prstGeom>
          <a:noFill/>
          <a:ln/>
        </p:spPr>
        <p:txBody>
          <a:bodyPr wrap="square" lIns="0" tIns="0" rIns="0" bIns="0" rtlCol="0" anchor="ctr"/>
          <a:lstStyle/>
          <a:p>
            <a:pPr algn="l" indent="0" marL="0">
              <a:buNone/>
            </a:pPr>
            <a:r>
              <a:rPr lang="en-US" sz="2800" b="1" dirty="0">
                <a:solidFill>
                  <a:schemeClr val="tx2"/>
                </a:solidFill>
              </a:rPr>
              <a:t>Dataset Declaration</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6035040" cy="914400"/>
        </p:xfrm>
        <a:graphic>
          <a:graphicData uri="http://schemas.openxmlformats.org/drawingml/2006/table">
            <a:tbl>
              <a:tblPr/>
              <a:tblGrid>
                <a:gridCol w="1417320"/>
                <a:gridCol w="4617720"/>
              </a:tblGrid>
              <a:tr h="548640">
                <a:tc>
                  <a:txBody>
                    <a:bodyPr/>
                    <a:lstStyle/>
                    <a:p>
                      <a:pPr indent="0" marL="0">
                        <a:buNone/>
                      </a:pPr>
                      <a:r>
                        <a:rPr lang="en-US" sz="1100" b="1" dirty="0">
                          <a:solidFill>
                            <a:srgbClr val="0B5D2A"/>
                          </a:solidFill>
                        </a:rPr>
                        <a:t>Dataset name</a:t>
                      </a:r>
                      <a:endParaRPr lang="en-US" sz="1100" dirty="0"/>
                    </a:p>
                  </a:txBody>
                  <a:tcPr marL="73152" marR="73152" marT="36576" marB="36576"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EEF6F0"/>
                    </a:solidFill>
                  </a:tcPr>
                </a:tc>
                <a:tc>
                  <a:txBody>
                    <a:bodyPr/>
                    <a:lstStyle/>
                    <a:p>
                      <a:pPr indent="0" marL="0">
                        <a:buNone/>
                      </a:pPr>
                      <a:r>
                        <a:rPr lang="en-US" sz="1100" dirty="0">
                          <a:solidFill>
                            <a:srgbClr val="1F2933"/>
                          </a:solidFill>
                        </a:rPr>
                        <a:t>FloodLens district-day warehouse (5 public sources joined on 160 districts)</a:t>
                      </a:r>
                      <a:endParaRPr lang="en-US" sz="1100" dirty="0"/>
                    </a:p>
                  </a:txBody>
                  <a:tcPr marL="73152" marR="73152" marT="36576" marB="36576"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r>
              <a:tr h="548640">
                <a:tc>
                  <a:txBody>
                    <a:bodyPr/>
                    <a:lstStyle/>
                    <a:p>
                      <a:pPr indent="0" marL="0">
                        <a:buNone/>
                      </a:pPr>
                      <a:r>
                        <a:rPr lang="en-US" sz="1100" b="1" dirty="0">
                          <a:solidFill>
                            <a:srgbClr val="0B5D2A"/>
                          </a:solidFill>
                        </a:rPr>
                        <a:t>Source / link</a:t>
                      </a:r>
                      <a:endParaRPr lang="en-US" sz="1100" dirty="0"/>
                    </a:p>
                  </a:txBody>
                  <a:tcPr marL="73152" marR="73152" marT="36576" marB="36576"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EEF6F0"/>
                    </a:solidFill>
                  </a:tcPr>
                </a:tc>
                <a:tc>
                  <a:txBody>
                    <a:bodyPr/>
                    <a:lstStyle/>
                    <a:p>
                      <a:pPr indent="0" marL="0">
                        <a:buNone/>
                      </a:pPr>
                      <a:r>
                        <a:rPr lang="en-US" sz="1100" dirty="0">
                          <a:solidFill>
                            <a:srgbClr val="1F2933"/>
                          </a:solidFill>
                        </a:rPr>
                        <a:t>Open-Meteo Previous Runs (API) · NASA GPM IMERG V07 · OCHA boundaries (HDX) · PBS weekly SPI · NDMA sitreps</a:t>
                      </a:r>
                      <a:endParaRPr lang="en-US" sz="1100" dirty="0"/>
                    </a:p>
                  </a:txBody>
                  <a:tcPr marL="73152" marR="73152" marT="36576" marB="36576"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r>
              <a:tr h="548640">
                <a:tc>
                  <a:txBody>
                    <a:bodyPr/>
                    <a:lstStyle/>
                    <a:p>
                      <a:pPr indent="0" marL="0">
                        <a:buNone/>
                      </a:pPr>
                      <a:r>
                        <a:rPr lang="en-US" sz="1100" b="1" dirty="0">
                          <a:solidFill>
                            <a:srgbClr val="0B5D2A"/>
                          </a:solidFill>
                        </a:rPr>
                        <a:t>Size</a:t>
                      </a:r>
                      <a:endParaRPr lang="en-US" sz="1100" dirty="0"/>
                    </a:p>
                  </a:txBody>
                  <a:tcPr marL="73152" marR="73152" marT="36576" marB="36576"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EEF6F0"/>
                    </a:solidFill>
                  </a:tcPr>
                </a:tc>
                <a:tc>
                  <a:txBody>
                    <a:bodyPr/>
                    <a:lstStyle/>
                    <a:p>
                      <a:pPr indent="0" marL="0">
                        <a:buNone/>
                      </a:pPr>
                      <a:r>
                        <a:rPr lang="en-US" sz="1100" dirty="0">
                          <a:solidFill>
                            <a:srgbClr val="1F2933"/>
                          </a:solidFill>
                        </a:rPr>
                        <a:t>476,640 forecast rows × 25 features · 689,280 satellite rain rows · 146,523 prices · 157 NDMA documents</a:t>
                      </a:r>
                      <a:endParaRPr lang="en-US" sz="1100" dirty="0"/>
                    </a:p>
                  </a:txBody>
                  <a:tcPr marL="73152" marR="73152" marT="36576" marB="36576"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r>
              <a:tr h="548640">
                <a:tc>
                  <a:txBody>
                    <a:bodyPr/>
                    <a:lstStyle/>
                    <a:p>
                      <a:pPr indent="0" marL="0">
                        <a:buNone/>
                      </a:pPr>
                      <a:r>
                        <a:rPr lang="en-US" sz="1100" b="1" dirty="0">
                          <a:solidFill>
                            <a:srgbClr val="0B5D2A"/>
                          </a:solidFill>
                        </a:rPr>
                        <a:t>Time period</a:t>
                      </a:r>
                      <a:endParaRPr lang="en-US" sz="1100" dirty="0"/>
                    </a:p>
                  </a:txBody>
                  <a:tcPr marL="73152" marR="73152" marT="36576" marB="36576"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EEF6F0"/>
                    </a:solidFill>
                  </a:tcPr>
                </a:tc>
                <a:tc>
                  <a:txBody>
                    <a:bodyPr/>
                    <a:lstStyle/>
                    <a:p>
                      <a:pPr indent="0" marL="0">
                        <a:buNone/>
                      </a:pPr>
                      <a:r>
                        <a:rPr lang="en-US" sz="1100" dirty="0">
                          <a:solidFill>
                            <a:srgbClr val="1F2933"/>
                          </a:solidFill>
                        </a:rPr>
                        <a:t>Satellite rain 2015–2026 · forecasts Feb 2024–Oct 2026 · prices Jan 2023–Oct 2026</a:t>
                      </a:r>
                      <a:endParaRPr lang="en-US" sz="1100" dirty="0"/>
                    </a:p>
                  </a:txBody>
                  <a:tcPr marL="73152" marR="73152" marT="36576" marB="36576"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r>
              <a:tr h="548640">
                <a:tc>
                  <a:txBody>
                    <a:bodyPr/>
                    <a:lstStyle/>
                    <a:p>
                      <a:pPr indent="0" marL="0">
                        <a:buNone/>
                      </a:pPr>
                      <a:r>
                        <a:rPr lang="en-US" sz="1100" b="1" dirty="0">
                          <a:solidFill>
                            <a:srgbClr val="0B5D2A"/>
                          </a:solidFill>
                        </a:rPr>
                        <a:t>Format &amp; license</a:t>
                      </a:r>
                      <a:endParaRPr lang="en-US" sz="1100" dirty="0"/>
                    </a:p>
                  </a:txBody>
                  <a:tcPr marL="73152" marR="73152" marT="36576" marB="36576"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EEF6F0"/>
                    </a:solidFill>
                  </a:tcPr>
                </a:tc>
                <a:tc>
                  <a:txBody>
                    <a:bodyPr/>
                    <a:lstStyle/>
                    <a:p>
                      <a:pPr indent="0" marL="0">
                        <a:buNone/>
                      </a:pPr>
                      <a:r>
                        <a:rPr lang="en-US" sz="1100" dirty="0">
                          <a:solidFill>
                            <a:srgbClr val="1F2933"/>
                          </a:solidFill>
                        </a:rPr>
                        <a:t>4,856 raw files in manifest.csv (source, query, UTC time, SHA-256, licence) → Parquet / DuckDB · CC BY 4.0, NASA open data, public govt. statistics</a:t>
                      </a:r>
                      <a:endParaRPr lang="en-US" sz="1100" dirty="0"/>
                    </a:p>
                  </a:txBody>
                  <a:tcPr marL="73152" marR="73152" marT="36576" marB="36576"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r>
              <a:tr h="548640">
                <a:tc>
                  <a:txBody>
                    <a:bodyPr/>
                    <a:lstStyle/>
                    <a:p>
                      <a:pPr indent="0" marL="0">
                        <a:buNone/>
                      </a:pPr>
                      <a:r>
                        <a:rPr lang="en-US" sz="1100" b="1" dirty="0">
                          <a:solidFill>
                            <a:srgbClr val="0B5D2A"/>
                          </a:solidFill>
                        </a:rPr>
                        <a:t>Key features / target</a:t>
                      </a:r>
                      <a:endParaRPr lang="en-US" sz="1100" dirty="0"/>
                    </a:p>
                  </a:txBody>
                  <a:tcPr marL="73152" marR="73152" marT="36576" marB="36576"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EEF6F0"/>
                    </a:solidFill>
                  </a:tcPr>
                </a:tc>
                <a:tc>
                  <a:txBody>
                    <a:bodyPr/>
                    <a:lstStyle/>
                    <a:p>
                      <a:pPr indent="0" marL="0">
                        <a:buNone/>
                      </a:pPr>
                      <a:r>
                        <a:rPr lang="en-US" sz="1100" dirty="0">
                          <a:solidFill>
                            <a:srgbClr val="1F2933"/>
                          </a:solidFill>
                        </a:rPr>
                        <a:t>Forecast rain, humidity, pressure, cloud, wind (1–3 days ahead), lagged observed rain. Target: rain above the district's own 95th percentile</a:t>
                      </a:r>
                      <a:endParaRPr lang="en-US" sz="1100" dirty="0"/>
                    </a:p>
                  </a:txBody>
                  <a:tcPr marL="73152" marR="73152" marT="36576" marB="36576"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r>
            </a:tbl>
          </a:graphicData>
        </a:graphic>
      </p:graphicFrame>
      <p:sp>
        <p:nvSpPr>
          <p:cNvPr id="4" name="stat 1"/>
          <p:cNvSpPr/>
          <p:nvPr/>
        </p:nvSpPr>
        <p:spPr>
          <a:xfrm>
            <a:off x="6766560" y="1051560"/>
            <a:ext cx="1920240" cy="987552"/>
          </a:xfrm>
          <a:prstGeom prst="roundRect">
            <a:avLst>
              <a:gd name="adj" fmla="val 7407"/>
            </a:avLst>
          </a:prstGeom>
          <a:solidFill>
            <a:schemeClr val="bg2"/>
          </a:solidFill>
          <a:ln w="12700">
            <a:solidFill>
              <a:schemeClr val="bg2"/>
            </a:solidFill>
            <a:prstDash val="solid"/>
          </a:ln>
        </p:spPr>
      </p:sp>
      <p:sp>
        <p:nvSpPr>
          <p:cNvPr id="5" name="Text 2"/>
          <p:cNvSpPr txBox="1"/>
          <p:nvPr/>
        </p:nvSpPr>
        <p:spPr>
          <a:xfrm>
            <a:off x="6766560" y="1161288"/>
            <a:ext cx="1920240" cy="502920"/>
          </a:xfrm>
          <a:prstGeom prst="rect">
            <a:avLst/>
          </a:prstGeom>
          <a:noFill/>
          <a:ln/>
        </p:spPr>
        <p:txBody>
          <a:bodyPr wrap="square" lIns="0" tIns="0" rIns="0" bIns="0" rtlCol="0" anchor="t"/>
          <a:lstStyle/>
          <a:p>
            <a:pPr algn="ctr" indent="0" marL="0">
              <a:buNone/>
            </a:pPr>
            <a:r>
              <a:rPr lang="en-US" sz="3000" b="1" dirty="0">
                <a:solidFill>
                  <a:schemeClr val="tx2"/>
                </a:solidFill>
              </a:rPr>
              <a:t>476K</a:t>
            </a:r>
            <a:endParaRPr lang="en-US" sz="3000" dirty="0"/>
          </a:p>
        </p:txBody>
      </p:sp>
      <p:sp>
        <p:nvSpPr>
          <p:cNvPr id="6" name="Text 3"/>
          <p:cNvSpPr txBox="1"/>
          <p:nvPr/>
        </p:nvSpPr>
        <p:spPr>
          <a:xfrm>
            <a:off x="6766560" y="1673352"/>
            <a:ext cx="1920240" cy="274320"/>
          </a:xfrm>
          <a:prstGeom prst="rect">
            <a:avLst/>
          </a:prstGeom>
          <a:noFill/>
          <a:ln/>
        </p:spPr>
        <p:txBody>
          <a:bodyPr wrap="square" lIns="0" tIns="0" rIns="0" bIns="0" rtlCol="0" anchor="t"/>
          <a:lstStyle/>
          <a:p>
            <a:pPr algn="ctr" indent="0" marL="0">
              <a:buNone/>
            </a:pPr>
            <a:r>
              <a:rPr lang="en-US" sz="1100" dirty="0">
                <a:solidFill>
                  <a:schemeClr val="tx1"/>
                </a:solidFill>
              </a:rPr>
              <a:t>Rows / records (model table)</a:t>
            </a:r>
            <a:endParaRPr lang="en-US" sz="1100" dirty="0"/>
          </a:p>
        </p:txBody>
      </p:sp>
      <p:sp>
        <p:nvSpPr>
          <p:cNvPr id="7" name="stat 2"/>
          <p:cNvSpPr/>
          <p:nvPr/>
        </p:nvSpPr>
        <p:spPr>
          <a:xfrm>
            <a:off x="6766560" y="2176272"/>
            <a:ext cx="1920240" cy="987552"/>
          </a:xfrm>
          <a:prstGeom prst="roundRect">
            <a:avLst>
              <a:gd name="adj" fmla="val 7407"/>
            </a:avLst>
          </a:prstGeom>
          <a:solidFill>
            <a:schemeClr val="bg2"/>
          </a:solidFill>
          <a:ln w="12700">
            <a:solidFill>
              <a:schemeClr val="bg2"/>
            </a:solidFill>
            <a:prstDash val="solid"/>
          </a:ln>
        </p:spPr>
      </p:sp>
      <p:sp>
        <p:nvSpPr>
          <p:cNvPr id="8" name="Text 5"/>
          <p:cNvSpPr txBox="1"/>
          <p:nvPr/>
        </p:nvSpPr>
        <p:spPr>
          <a:xfrm>
            <a:off x="6766560" y="2286000"/>
            <a:ext cx="1920240" cy="502920"/>
          </a:xfrm>
          <a:prstGeom prst="rect">
            <a:avLst/>
          </a:prstGeom>
          <a:noFill/>
          <a:ln/>
        </p:spPr>
        <p:txBody>
          <a:bodyPr wrap="square" lIns="0" tIns="0" rIns="0" bIns="0" rtlCol="0" anchor="t"/>
          <a:lstStyle/>
          <a:p>
            <a:pPr algn="ctr" indent="0" marL="0">
              <a:buNone/>
            </a:pPr>
            <a:r>
              <a:rPr lang="en-US" sz="3000" b="1" dirty="0">
                <a:solidFill>
                  <a:schemeClr val="tx2"/>
                </a:solidFill>
              </a:rPr>
              <a:t>25</a:t>
            </a:r>
            <a:endParaRPr lang="en-US" sz="3000" dirty="0"/>
          </a:p>
        </p:txBody>
      </p:sp>
      <p:sp>
        <p:nvSpPr>
          <p:cNvPr id="9" name="Text 6"/>
          <p:cNvSpPr txBox="1"/>
          <p:nvPr/>
        </p:nvSpPr>
        <p:spPr>
          <a:xfrm>
            <a:off x="6766560" y="2798064"/>
            <a:ext cx="1920240" cy="274320"/>
          </a:xfrm>
          <a:prstGeom prst="rect">
            <a:avLst/>
          </a:prstGeom>
          <a:noFill/>
          <a:ln/>
        </p:spPr>
        <p:txBody>
          <a:bodyPr wrap="square" lIns="0" tIns="0" rIns="0" bIns="0" rtlCol="0" anchor="t"/>
          <a:lstStyle/>
          <a:p>
            <a:pPr algn="ctr" indent="0" marL="0">
              <a:buNone/>
            </a:pPr>
            <a:r>
              <a:rPr lang="en-US" sz="1100" dirty="0">
                <a:solidFill>
                  <a:schemeClr val="tx1"/>
                </a:solidFill>
              </a:rPr>
              <a:t>Columns / features</a:t>
            </a:r>
            <a:endParaRPr lang="en-US" sz="1100" dirty="0"/>
          </a:p>
        </p:txBody>
      </p:sp>
      <p:sp>
        <p:nvSpPr>
          <p:cNvPr id="10" name="stat 3"/>
          <p:cNvSpPr/>
          <p:nvPr/>
        </p:nvSpPr>
        <p:spPr>
          <a:xfrm>
            <a:off x="6766560" y="3300984"/>
            <a:ext cx="1920240" cy="987552"/>
          </a:xfrm>
          <a:prstGeom prst="roundRect">
            <a:avLst>
              <a:gd name="adj" fmla="val 7407"/>
            </a:avLst>
          </a:prstGeom>
          <a:solidFill>
            <a:schemeClr val="bg2"/>
          </a:solidFill>
          <a:ln w="12700">
            <a:solidFill>
              <a:schemeClr val="bg2"/>
            </a:solidFill>
            <a:prstDash val="solid"/>
          </a:ln>
        </p:spPr>
      </p:sp>
      <p:sp>
        <p:nvSpPr>
          <p:cNvPr id="11" name="Text 8"/>
          <p:cNvSpPr txBox="1"/>
          <p:nvPr/>
        </p:nvSpPr>
        <p:spPr>
          <a:xfrm>
            <a:off x="6766560" y="3410712"/>
            <a:ext cx="1920240" cy="502920"/>
          </a:xfrm>
          <a:prstGeom prst="rect">
            <a:avLst/>
          </a:prstGeom>
          <a:noFill/>
          <a:ln/>
        </p:spPr>
        <p:txBody>
          <a:bodyPr wrap="square" lIns="0" tIns="0" rIns="0" bIns="0" rtlCol="0" anchor="t"/>
          <a:lstStyle/>
          <a:p>
            <a:pPr algn="ctr" indent="0" marL="0">
              <a:buNone/>
            </a:pPr>
            <a:r>
              <a:rPr lang="en-US" sz="3000" b="1" dirty="0">
                <a:solidFill>
                  <a:schemeClr val="tx2"/>
                </a:solidFill>
              </a:rPr>
              <a:t>1.3 GB</a:t>
            </a:r>
            <a:endParaRPr lang="en-US" sz="3000" dirty="0"/>
          </a:p>
        </p:txBody>
      </p:sp>
      <p:sp>
        <p:nvSpPr>
          <p:cNvPr id="12" name="Text 9"/>
          <p:cNvSpPr txBox="1"/>
          <p:nvPr/>
        </p:nvSpPr>
        <p:spPr>
          <a:xfrm>
            <a:off x="6766560" y="3922776"/>
            <a:ext cx="1920240" cy="274320"/>
          </a:xfrm>
          <a:prstGeom prst="rect">
            <a:avLst/>
          </a:prstGeom>
          <a:noFill/>
          <a:ln/>
        </p:spPr>
        <p:txBody>
          <a:bodyPr wrap="square" lIns="0" tIns="0" rIns="0" bIns="0" rtlCol="0" anchor="t"/>
          <a:lstStyle/>
          <a:p>
            <a:pPr algn="ctr" indent="0" marL="0">
              <a:buNone/>
            </a:pPr>
            <a:r>
              <a:rPr lang="en-US" sz="1100" dirty="0">
                <a:solidFill>
                  <a:schemeClr val="tx1"/>
                </a:solidFill>
              </a:rPr>
              <a:t>Raw data, 4,856 files</a:t>
            </a:r>
            <a:endParaRPr lang="en-US" sz="11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548640"/>
          </a:xfrm>
          <a:prstGeom prst="rect">
            <a:avLst/>
          </a:prstGeom>
          <a:noFill/>
          <a:ln/>
        </p:spPr>
        <p:txBody>
          <a:bodyPr wrap="square" lIns="0" tIns="0" rIns="0" bIns="0" rtlCol="0" anchor="ctr"/>
          <a:lstStyle/>
          <a:p>
            <a:pPr algn="l" indent="0" marL="0">
              <a:buNone/>
            </a:pPr>
            <a:r>
              <a:rPr lang="en-US" sz="2800" b="1" dirty="0">
                <a:solidFill>
                  <a:schemeClr val="tx2"/>
                </a:solidFill>
              </a:rPr>
              <a:t>Why These Sources: Forecasts vs Satellite Truth</a:t>
            </a:r>
            <a:endParaRPr lang="en-US" sz="2800" dirty="0"/>
          </a:p>
        </p:txBody>
      </p:sp>
      <p:sp>
        <p:nvSpPr>
          <p:cNvPr id="3" name="source 1"/>
          <p:cNvSpPr/>
          <p:nvPr/>
        </p:nvSpPr>
        <p:spPr>
          <a:xfrm>
            <a:off x="457200" y="1051560"/>
            <a:ext cx="4023360" cy="3429000"/>
          </a:xfrm>
          <a:prstGeom prst="roundRect">
            <a:avLst>
              <a:gd name="adj" fmla="val 2133"/>
            </a:avLst>
          </a:prstGeom>
          <a:solidFill>
            <a:schemeClr val="bg2"/>
          </a:solidFill>
          <a:ln w="12700">
            <a:solidFill>
              <a:schemeClr val="bg2"/>
            </a:solidFill>
            <a:prstDash val="solid"/>
          </a:ln>
        </p:spPr>
      </p:sp>
      <p:sp>
        <p:nvSpPr>
          <p:cNvPr id="4" name="Text 2"/>
          <p:cNvSpPr txBox="1"/>
          <p:nvPr/>
        </p:nvSpPr>
        <p:spPr>
          <a:xfrm>
            <a:off x="685800" y="1234440"/>
            <a:ext cx="3566160" cy="457200"/>
          </a:xfrm>
          <a:prstGeom prst="rect">
            <a:avLst/>
          </a:prstGeom>
          <a:noFill/>
          <a:ln/>
        </p:spPr>
        <p:txBody>
          <a:bodyPr wrap="square" lIns="0" tIns="0" rIns="0" bIns="0" rtlCol="0" anchor="t"/>
          <a:lstStyle/>
          <a:p>
            <a:pPr indent="0" marL="0">
              <a:buNone/>
            </a:pPr>
            <a:r>
              <a:rPr lang="en-US" sz="1250" b="1" dirty="0">
                <a:solidFill>
                  <a:schemeClr val="accent2"/>
                </a:solidFill>
              </a:rPr>
              <a:t>INPUTS (X) · OPEN-METEO ARCHIVED FORECASTS</a:t>
            </a:r>
            <a:endParaRPr lang="en-US" sz="1250" dirty="0"/>
          </a:p>
        </p:txBody>
      </p:sp>
      <p:sp>
        <p:nvSpPr>
          <p:cNvPr id="5" name="Text 3"/>
          <p:cNvSpPr txBox="1"/>
          <p:nvPr/>
        </p:nvSpPr>
        <p:spPr>
          <a:xfrm>
            <a:off x="685800" y="1783080"/>
            <a:ext cx="3611880" cy="260604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chemeClr val="tx1"/>
                </a:solidFill>
              </a:rPr>
              <a:t>Previous Runs API: weather-model forecasts exactly as issued 1, 2 and 3 days ahead</a:t>
            </a:r>
            <a:endParaRPr lang="en-US" sz="1350" dirty="0"/>
          </a:p>
          <a:p>
            <a:pPr marL="342900" indent="-342900">
              <a:spcAft>
                <a:spcPts val="800"/>
              </a:spcAft>
              <a:buSzPct val="100000"/>
              <a:buChar char="•"/>
            </a:pPr>
            <a:r>
              <a:rPr lang="en-US" sz="1350" dirty="0">
                <a:solidFill>
                  <a:schemeClr val="tx1"/>
                </a:solidFill>
              </a:rPr>
              <a:t>Rain sum, max hourly rain, humidity, pressure, cloud cover, wind speed</a:t>
            </a:r>
            <a:endParaRPr lang="en-US" sz="1350" dirty="0"/>
          </a:p>
          <a:p>
            <a:pPr marL="342900" indent="-342900">
              <a:spcAft>
                <a:spcPts val="800"/>
              </a:spcAft>
              <a:buSzPct val="100000"/>
              <a:buChar char="•"/>
            </a:pPr>
            <a:r>
              <a:rPr lang="en-US" sz="1350" dirty="0">
                <a:solidFill>
                  <a:schemeClr val="tx1"/>
                </a:solidFill>
              </a:rPr>
              <a:t>Honest lead time: the model only sees forecasts that existed before the target day</a:t>
            </a:r>
            <a:endParaRPr lang="en-US" sz="1350" dirty="0"/>
          </a:p>
        </p:txBody>
      </p:sp>
      <p:sp>
        <p:nvSpPr>
          <p:cNvPr id="6" name="source 2"/>
          <p:cNvSpPr/>
          <p:nvPr/>
        </p:nvSpPr>
        <p:spPr>
          <a:xfrm>
            <a:off x="4663440" y="1051560"/>
            <a:ext cx="4023360" cy="3429000"/>
          </a:xfrm>
          <a:prstGeom prst="roundRect">
            <a:avLst>
              <a:gd name="adj" fmla="val 2133"/>
            </a:avLst>
          </a:prstGeom>
          <a:solidFill>
            <a:schemeClr val="bg2"/>
          </a:solidFill>
          <a:ln w="12700">
            <a:solidFill>
              <a:schemeClr val="bg2"/>
            </a:solidFill>
            <a:prstDash val="solid"/>
          </a:ln>
        </p:spPr>
      </p:sp>
      <p:sp>
        <p:nvSpPr>
          <p:cNvPr id="7" name="Text 5"/>
          <p:cNvSpPr txBox="1"/>
          <p:nvPr/>
        </p:nvSpPr>
        <p:spPr>
          <a:xfrm>
            <a:off x="4892040" y="1234440"/>
            <a:ext cx="3566160" cy="457200"/>
          </a:xfrm>
          <a:prstGeom prst="rect">
            <a:avLst/>
          </a:prstGeom>
          <a:noFill/>
          <a:ln/>
        </p:spPr>
        <p:txBody>
          <a:bodyPr wrap="square" lIns="0" tIns="0" rIns="0" bIns="0" rtlCol="0" anchor="t"/>
          <a:lstStyle/>
          <a:p>
            <a:pPr indent="0" marL="0">
              <a:buNone/>
            </a:pPr>
            <a:r>
              <a:rPr lang="en-US" sz="1250" b="1" dirty="0">
                <a:solidFill>
                  <a:schemeClr val="accent2"/>
                </a:solidFill>
              </a:rPr>
              <a:t>TRUTH (Y) · NASA GPM IMERG V07 SATELLITE RAIN</a:t>
            </a:r>
            <a:endParaRPr lang="en-US" sz="1250" dirty="0"/>
          </a:p>
        </p:txBody>
      </p:sp>
      <p:sp>
        <p:nvSpPr>
          <p:cNvPr id="8" name="Text 6"/>
          <p:cNvSpPr txBox="1"/>
          <p:nvPr/>
        </p:nvSpPr>
        <p:spPr>
          <a:xfrm>
            <a:off x="4892040" y="1783080"/>
            <a:ext cx="3611880" cy="260604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chemeClr val="tx1"/>
                </a:solidFill>
              </a:rPr>
              <a:t>0.1° daily satellite rainfall, 2015–2026: labels and each district's 95th-percentile threshold (2015–2023)</a:t>
            </a:r>
            <a:endParaRPr lang="en-US" sz="1350" dirty="0"/>
          </a:p>
          <a:p>
            <a:pPr marL="342900" indent="-342900">
              <a:spcAft>
                <a:spcPts val="800"/>
              </a:spcAft>
              <a:buSzPct val="100000"/>
              <a:buChar char="•"/>
            </a:pPr>
            <a:r>
              <a:rPr lang="en-US" sz="1350" dirty="0">
                <a:solidFill>
                  <a:schemeClr val="tx1"/>
                </a:solidFill>
              </a:rPr>
              <a:t>Why not gauges? Rain gauges are sparse in many remote districts; satellites cover all 160 evenly</a:t>
            </a:r>
            <a:endParaRPr lang="en-US" sz="1350" dirty="0"/>
          </a:p>
          <a:p>
            <a:pPr marL="342900" indent="-342900">
              <a:spcAft>
                <a:spcPts val="800"/>
              </a:spcAft>
              <a:buSzPct val="100000"/>
              <a:buChar char="•"/>
            </a:pPr>
            <a:r>
              <a:rPr lang="en-US" sz="1350" dirty="0">
                <a:solidFill>
                  <a:schemeClr val="tx1"/>
                </a:solidFill>
              </a:rPr>
              <a:t>Independent of the weather models, so the model is not graded against its own inputs</a:t>
            </a:r>
            <a:endParaRPr lang="en-US" sz="135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548640"/>
          </a:xfrm>
          <a:prstGeom prst="rect">
            <a:avLst/>
          </a:prstGeom>
          <a:noFill/>
          <a:ln/>
        </p:spPr>
        <p:txBody>
          <a:bodyPr wrap="square" lIns="0" tIns="0" rIns="0" bIns="0" rtlCol="0" anchor="ctr"/>
          <a:lstStyle/>
          <a:p>
            <a:pPr algn="l" indent="0" marL="0">
              <a:buNone/>
            </a:pPr>
            <a:r>
              <a:rPr lang="en-US" sz="2800" b="1" dirty="0">
                <a:solidFill>
                  <a:schemeClr val="tx2"/>
                </a:solidFill>
              </a:rPr>
              <a:t>Pipeline Used</a:t>
            </a:r>
            <a:endParaRPr lang="en-US" sz="2800" dirty="0"/>
          </a:p>
        </p:txBody>
      </p:sp>
      <p:sp>
        <p:nvSpPr>
          <p:cNvPr id="3" name="step 1"/>
          <p:cNvSpPr/>
          <p:nvPr/>
        </p:nvSpPr>
        <p:spPr>
          <a:xfrm>
            <a:off x="457200" y="1097280"/>
            <a:ext cx="1463040" cy="2468880"/>
          </a:xfrm>
          <a:prstGeom prst="roundRect">
            <a:avLst>
              <a:gd name="adj" fmla="val 5000"/>
            </a:avLst>
          </a:prstGeom>
          <a:solidFill>
            <a:schemeClr val="bg2"/>
          </a:solidFill>
          <a:ln w="12700">
            <a:solidFill>
              <a:schemeClr val="bg2"/>
            </a:solidFill>
            <a:prstDash val="solid"/>
          </a:ln>
        </p:spPr>
      </p:sp>
      <p:sp>
        <p:nvSpPr>
          <p:cNvPr id="4" name="dot 1"/>
          <p:cNvSpPr/>
          <p:nvPr/>
        </p:nvSpPr>
        <p:spPr>
          <a:xfrm>
            <a:off x="1024128" y="1261872"/>
            <a:ext cx="329184" cy="329184"/>
          </a:xfrm>
          <a:prstGeom prst="ellipse">
            <a:avLst/>
          </a:prstGeom>
          <a:solidFill>
            <a:schemeClr val="accent1"/>
          </a:solidFill>
          <a:ln w="12700">
            <a:solidFill>
              <a:schemeClr val="accent1"/>
            </a:solidFill>
            <a:prstDash val="solid"/>
          </a:ln>
        </p:spPr>
      </p:sp>
      <p:sp>
        <p:nvSpPr>
          <p:cNvPr id="5" name="Text 3"/>
          <p:cNvSpPr txBox="1"/>
          <p:nvPr/>
        </p:nvSpPr>
        <p:spPr>
          <a:xfrm>
            <a:off x="1024128" y="1261872"/>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6" name="Text 4"/>
          <p:cNvSpPr txBox="1"/>
          <p:nvPr/>
        </p:nvSpPr>
        <p:spPr>
          <a:xfrm>
            <a:off x="548640" y="1691640"/>
            <a:ext cx="1280160" cy="502920"/>
          </a:xfrm>
          <a:prstGeom prst="rect">
            <a:avLst/>
          </a:prstGeom>
          <a:noFill/>
          <a:ln/>
        </p:spPr>
        <p:txBody>
          <a:bodyPr wrap="square" lIns="0" tIns="0" rIns="0" bIns="0" rtlCol="0" anchor="ctr"/>
          <a:lstStyle/>
          <a:p>
            <a:pPr algn="ctr" indent="0" marL="0">
              <a:buNone/>
            </a:pPr>
            <a:r>
              <a:rPr lang="en-US" sz="1400" b="1" dirty="0">
                <a:solidFill>
                  <a:schemeClr val="tx2"/>
                </a:solidFill>
              </a:rPr>
              <a:t>Data Collection</a:t>
            </a:r>
            <a:endParaRPr lang="en-US" sz="1400" dirty="0"/>
          </a:p>
        </p:txBody>
      </p:sp>
      <p:sp>
        <p:nvSpPr>
          <p:cNvPr id="7" name="Text 5"/>
          <p:cNvSpPr txBox="1"/>
          <p:nvPr/>
        </p:nvSpPr>
        <p:spPr>
          <a:xfrm>
            <a:off x="566928" y="2240280"/>
            <a:ext cx="1243584" cy="1234440"/>
          </a:xfrm>
          <a:prstGeom prst="rect">
            <a:avLst/>
          </a:prstGeom>
          <a:noFill/>
          <a:ln/>
        </p:spPr>
        <p:txBody>
          <a:bodyPr wrap="square" lIns="0" tIns="0" rIns="0" bIns="0" rtlCol="0" anchor="t"/>
          <a:lstStyle/>
          <a:p>
            <a:pPr algn="ctr" indent="0" marL="0">
              <a:buNone/>
            </a:pPr>
            <a:r>
              <a:rPr lang="en-US" sz="1150" dirty="0">
                <a:solidFill>
                  <a:schemeClr val="tx1"/>
                </a:solidFill>
              </a:rPr>
              <a:t>APIs, NASA cloud, PBS and NDMA files; every file hashed into a manifest</a:t>
            </a:r>
            <a:endParaRPr lang="en-US" sz="1150" dirty="0"/>
          </a:p>
        </p:txBody>
      </p:sp>
      <p:sp>
        <p:nvSpPr>
          <p:cNvPr id="8" name="arrow 1"/>
          <p:cNvSpPr/>
          <p:nvPr/>
        </p:nvSpPr>
        <p:spPr>
          <a:xfrm>
            <a:off x="1975104" y="2231136"/>
            <a:ext cx="118872" cy="201168"/>
          </a:xfrm>
          <a:prstGeom prst="chevron">
            <a:avLst/>
          </a:prstGeom>
          <a:solidFill>
            <a:schemeClr val="accent2"/>
          </a:solidFill>
          <a:ln w="12700">
            <a:solidFill>
              <a:schemeClr val="accent2"/>
            </a:solidFill>
            <a:prstDash val="solid"/>
          </a:ln>
        </p:spPr>
      </p:sp>
      <p:sp>
        <p:nvSpPr>
          <p:cNvPr id="9" name="step 2"/>
          <p:cNvSpPr/>
          <p:nvPr/>
        </p:nvSpPr>
        <p:spPr>
          <a:xfrm>
            <a:off x="2148840" y="1097280"/>
            <a:ext cx="1463040" cy="2468880"/>
          </a:xfrm>
          <a:prstGeom prst="roundRect">
            <a:avLst>
              <a:gd name="adj" fmla="val 5000"/>
            </a:avLst>
          </a:prstGeom>
          <a:solidFill>
            <a:schemeClr val="bg2"/>
          </a:solidFill>
          <a:ln w="12700">
            <a:solidFill>
              <a:schemeClr val="bg2"/>
            </a:solidFill>
            <a:prstDash val="solid"/>
          </a:ln>
        </p:spPr>
      </p:sp>
      <p:sp>
        <p:nvSpPr>
          <p:cNvPr id="10" name="dot 2"/>
          <p:cNvSpPr/>
          <p:nvPr/>
        </p:nvSpPr>
        <p:spPr>
          <a:xfrm>
            <a:off x="2715768" y="1261872"/>
            <a:ext cx="329184" cy="329184"/>
          </a:xfrm>
          <a:prstGeom prst="ellipse">
            <a:avLst/>
          </a:prstGeom>
          <a:solidFill>
            <a:schemeClr val="accent1"/>
          </a:solidFill>
          <a:ln w="12700">
            <a:solidFill>
              <a:schemeClr val="accent1"/>
            </a:solidFill>
            <a:prstDash val="solid"/>
          </a:ln>
        </p:spPr>
      </p:sp>
      <p:sp>
        <p:nvSpPr>
          <p:cNvPr id="11" name="Text 9"/>
          <p:cNvSpPr txBox="1"/>
          <p:nvPr/>
        </p:nvSpPr>
        <p:spPr>
          <a:xfrm>
            <a:off x="2715768" y="1261872"/>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2" name="Text 10"/>
          <p:cNvSpPr txBox="1"/>
          <p:nvPr/>
        </p:nvSpPr>
        <p:spPr>
          <a:xfrm>
            <a:off x="2240280" y="1691640"/>
            <a:ext cx="1280160" cy="502920"/>
          </a:xfrm>
          <a:prstGeom prst="rect">
            <a:avLst/>
          </a:prstGeom>
          <a:noFill/>
          <a:ln/>
        </p:spPr>
        <p:txBody>
          <a:bodyPr wrap="square" lIns="0" tIns="0" rIns="0" bIns="0" rtlCol="0" anchor="ctr"/>
          <a:lstStyle/>
          <a:p>
            <a:pPr algn="ctr" indent="0" marL="0">
              <a:buNone/>
            </a:pPr>
            <a:r>
              <a:rPr lang="en-US" sz="1400" b="1" dirty="0">
                <a:solidFill>
                  <a:schemeClr val="tx2"/>
                </a:solidFill>
              </a:rPr>
              <a:t>Data Cleaning</a:t>
            </a:r>
            <a:endParaRPr lang="en-US" sz="1400" dirty="0"/>
          </a:p>
        </p:txBody>
      </p:sp>
      <p:sp>
        <p:nvSpPr>
          <p:cNvPr id="13" name="Text 11"/>
          <p:cNvSpPr txBox="1"/>
          <p:nvPr/>
        </p:nvSpPr>
        <p:spPr>
          <a:xfrm>
            <a:off x="2258568" y="2240280"/>
            <a:ext cx="1243584" cy="1234440"/>
          </a:xfrm>
          <a:prstGeom prst="rect">
            <a:avLst/>
          </a:prstGeom>
          <a:noFill/>
          <a:ln/>
        </p:spPr>
        <p:txBody>
          <a:bodyPr wrap="square" lIns="0" tIns="0" rIns="0" bIns="0" rtlCol="0" anchor="t"/>
          <a:lstStyle/>
          <a:p>
            <a:pPr algn="ctr" indent="0" marL="0">
              <a:buNone/>
            </a:pPr>
            <a:r>
              <a:rPr lang="en-US" sz="1150" dirty="0">
                <a:solidFill>
                  <a:schemeClr val="tx1"/>
                </a:solidFill>
              </a:rPr>
              <a:t>Quality agent: fix, fill or flag each issue, with the reason logged</a:t>
            </a:r>
            <a:endParaRPr lang="en-US" sz="1150" dirty="0"/>
          </a:p>
        </p:txBody>
      </p:sp>
      <p:sp>
        <p:nvSpPr>
          <p:cNvPr id="14" name="arrow 2"/>
          <p:cNvSpPr/>
          <p:nvPr/>
        </p:nvSpPr>
        <p:spPr>
          <a:xfrm>
            <a:off x="3666744" y="2231136"/>
            <a:ext cx="118872" cy="201168"/>
          </a:xfrm>
          <a:prstGeom prst="chevron">
            <a:avLst/>
          </a:prstGeom>
          <a:solidFill>
            <a:schemeClr val="accent2"/>
          </a:solidFill>
          <a:ln w="12700">
            <a:solidFill>
              <a:schemeClr val="accent2"/>
            </a:solidFill>
            <a:prstDash val="solid"/>
          </a:ln>
        </p:spPr>
      </p:sp>
      <p:sp>
        <p:nvSpPr>
          <p:cNvPr id="15" name="step 3"/>
          <p:cNvSpPr/>
          <p:nvPr/>
        </p:nvSpPr>
        <p:spPr>
          <a:xfrm>
            <a:off x="3840480" y="1097280"/>
            <a:ext cx="1463040" cy="2468880"/>
          </a:xfrm>
          <a:prstGeom prst="roundRect">
            <a:avLst>
              <a:gd name="adj" fmla="val 5000"/>
            </a:avLst>
          </a:prstGeom>
          <a:solidFill>
            <a:schemeClr val="bg2"/>
          </a:solidFill>
          <a:ln w="12700">
            <a:solidFill>
              <a:schemeClr val="bg2"/>
            </a:solidFill>
            <a:prstDash val="solid"/>
          </a:ln>
        </p:spPr>
      </p:sp>
      <p:sp>
        <p:nvSpPr>
          <p:cNvPr id="16" name="dot 3"/>
          <p:cNvSpPr/>
          <p:nvPr/>
        </p:nvSpPr>
        <p:spPr>
          <a:xfrm>
            <a:off x="4407408" y="1261872"/>
            <a:ext cx="329184" cy="329184"/>
          </a:xfrm>
          <a:prstGeom prst="ellipse">
            <a:avLst/>
          </a:prstGeom>
          <a:solidFill>
            <a:schemeClr val="accent1"/>
          </a:solidFill>
          <a:ln w="12700">
            <a:solidFill>
              <a:schemeClr val="accent1"/>
            </a:solidFill>
            <a:prstDash val="solid"/>
          </a:ln>
        </p:spPr>
      </p:sp>
      <p:sp>
        <p:nvSpPr>
          <p:cNvPr id="17" name="Text 15"/>
          <p:cNvSpPr txBox="1"/>
          <p:nvPr/>
        </p:nvSpPr>
        <p:spPr>
          <a:xfrm>
            <a:off x="4407408" y="1261872"/>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8" name="Text 16"/>
          <p:cNvSpPr txBox="1"/>
          <p:nvPr/>
        </p:nvSpPr>
        <p:spPr>
          <a:xfrm>
            <a:off x="3931920" y="1691640"/>
            <a:ext cx="1280160" cy="502920"/>
          </a:xfrm>
          <a:prstGeom prst="rect">
            <a:avLst/>
          </a:prstGeom>
          <a:noFill/>
          <a:ln/>
        </p:spPr>
        <p:txBody>
          <a:bodyPr wrap="square" lIns="0" tIns="0" rIns="0" bIns="0" rtlCol="0" anchor="ctr"/>
          <a:lstStyle/>
          <a:p>
            <a:pPr algn="ctr" indent="0" marL="0">
              <a:buNone/>
            </a:pPr>
            <a:r>
              <a:rPr lang="en-US" sz="1400" b="1" dirty="0">
                <a:solidFill>
                  <a:schemeClr val="tx2"/>
                </a:solidFill>
              </a:rPr>
              <a:t>Analysis / EDA</a:t>
            </a:r>
            <a:endParaRPr lang="en-US" sz="1400" dirty="0"/>
          </a:p>
        </p:txBody>
      </p:sp>
      <p:sp>
        <p:nvSpPr>
          <p:cNvPr id="19" name="Text 17"/>
          <p:cNvSpPr txBox="1"/>
          <p:nvPr/>
        </p:nvSpPr>
        <p:spPr>
          <a:xfrm>
            <a:off x="3950208" y="2240280"/>
            <a:ext cx="1243584" cy="1234440"/>
          </a:xfrm>
          <a:prstGeom prst="rect">
            <a:avLst/>
          </a:prstGeom>
          <a:noFill/>
          <a:ln/>
        </p:spPr>
        <p:txBody>
          <a:bodyPr wrap="square" lIns="0" tIns="0" rIns="0" bIns="0" rtlCol="0" anchor="t"/>
          <a:lstStyle/>
          <a:p>
            <a:pPr algn="ctr" indent="0" marL="0">
              <a:buNone/>
            </a:pPr>
            <a:r>
              <a:rPr lang="en-US" sz="1150" dirty="0">
                <a:solidFill>
                  <a:schemeClr val="tx1"/>
                </a:solidFill>
              </a:rPr>
              <a:t>District thresholds, monsoon replay, error by province and terrain</a:t>
            </a:r>
            <a:endParaRPr lang="en-US" sz="1150" dirty="0"/>
          </a:p>
        </p:txBody>
      </p:sp>
      <p:sp>
        <p:nvSpPr>
          <p:cNvPr id="20" name="arrow 3"/>
          <p:cNvSpPr/>
          <p:nvPr/>
        </p:nvSpPr>
        <p:spPr>
          <a:xfrm>
            <a:off x="5358384" y="2231136"/>
            <a:ext cx="118872" cy="201168"/>
          </a:xfrm>
          <a:prstGeom prst="chevron">
            <a:avLst/>
          </a:prstGeom>
          <a:solidFill>
            <a:schemeClr val="accent2"/>
          </a:solidFill>
          <a:ln w="12700">
            <a:solidFill>
              <a:schemeClr val="accent2"/>
            </a:solidFill>
            <a:prstDash val="solid"/>
          </a:ln>
        </p:spPr>
      </p:sp>
      <p:sp>
        <p:nvSpPr>
          <p:cNvPr id="21" name="step 4"/>
          <p:cNvSpPr/>
          <p:nvPr/>
        </p:nvSpPr>
        <p:spPr>
          <a:xfrm>
            <a:off x="5532120" y="1097280"/>
            <a:ext cx="1463040" cy="2468880"/>
          </a:xfrm>
          <a:prstGeom prst="roundRect">
            <a:avLst>
              <a:gd name="adj" fmla="val 5000"/>
            </a:avLst>
          </a:prstGeom>
          <a:solidFill>
            <a:schemeClr val="bg2"/>
          </a:solidFill>
          <a:ln w="12700">
            <a:solidFill>
              <a:schemeClr val="bg2"/>
            </a:solidFill>
            <a:prstDash val="solid"/>
          </a:ln>
        </p:spPr>
      </p:sp>
      <p:sp>
        <p:nvSpPr>
          <p:cNvPr id="22" name="dot 4"/>
          <p:cNvSpPr/>
          <p:nvPr/>
        </p:nvSpPr>
        <p:spPr>
          <a:xfrm>
            <a:off x="6099048" y="1261872"/>
            <a:ext cx="329184" cy="329184"/>
          </a:xfrm>
          <a:prstGeom prst="ellipse">
            <a:avLst/>
          </a:prstGeom>
          <a:solidFill>
            <a:schemeClr val="accent1"/>
          </a:solidFill>
          <a:ln w="12700">
            <a:solidFill>
              <a:schemeClr val="accent1"/>
            </a:solidFill>
            <a:prstDash val="solid"/>
          </a:ln>
        </p:spPr>
      </p:sp>
      <p:sp>
        <p:nvSpPr>
          <p:cNvPr id="23" name="Text 21"/>
          <p:cNvSpPr txBox="1"/>
          <p:nvPr/>
        </p:nvSpPr>
        <p:spPr>
          <a:xfrm>
            <a:off x="6099048" y="1261872"/>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4" name="Text 22"/>
          <p:cNvSpPr txBox="1"/>
          <p:nvPr/>
        </p:nvSpPr>
        <p:spPr>
          <a:xfrm>
            <a:off x="5623560" y="1691640"/>
            <a:ext cx="1280160" cy="502920"/>
          </a:xfrm>
          <a:prstGeom prst="rect">
            <a:avLst/>
          </a:prstGeom>
          <a:noFill/>
          <a:ln/>
        </p:spPr>
        <p:txBody>
          <a:bodyPr wrap="square" lIns="0" tIns="0" rIns="0" bIns="0" rtlCol="0" anchor="ctr"/>
          <a:lstStyle/>
          <a:p>
            <a:pPr algn="ctr" indent="0" marL="0">
              <a:buNone/>
            </a:pPr>
            <a:r>
              <a:rPr lang="en-US" sz="1400" b="1" dirty="0">
                <a:solidFill>
                  <a:schemeClr val="tx2"/>
                </a:solidFill>
              </a:rPr>
              <a:t>Modeling</a:t>
            </a:r>
            <a:endParaRPr lang="en-US" sz="1400" dirty="0"/>
          </a:p>
        </p:txBody>
      </p:sp>
      <p:sp>
        <p:nvSpPr>
          <p:cNvPr id="25" name="Text 23"/>
          <p:cNvSpPr txBox="1"/>
          <p:nvPr/>
        </p:nvSpPr>
        <p:spPr>
          <a:xfrm>
            <a:off x="5641848" y="2240280"/>
            <a:ext cx="1243584" cy="1234440"/>
          </a:xfrm>
          <a:prstGeom prst="rect">
            <a:avLst/>
          </a:prstGeom>
          <a:noFill/>
          <a:ln/>
        </p:spPr>
        <p:txBody>
          <a:bodyPr wrap="square" lIns="0" tIns="0" rIns="0" bIns="0" rtlCol="0" anchor="t"/>
          <a:lstStyle/>
          <a:p>
            <a:pPr algn="ctr" indent="0" marL="0">
              <a:buNone/>
            </a:pPr>
            <a:r>
              <a:rPr lang="en-US" sz="1150" dirty="0">
                <a:solidFill>
                  <a:schemeClr val="tx1"/>
                </a:solidFill>
              </a:rPr>
              <a:t>Gradient boosting, calibrated; beats climatology on the locked test set</a:t>
            </a:r>
            <a:endParaRPr lang="en-US" sz="1150" dirty="0"/>
          </a:p>
        </p:txBody>
      </p:sp>
      <p:sp>
        <p:nvSpPr>
          <p:cNvPr id="26" name="arrow 4"/>
          <p:cNvSpPr/>
          <p:nvPr/>
        </p:nvSpPr>
        <p:spPr>
          <a:xfrm>
            <a:off x="7050024" y="2231136"/>
            <a:ext cx="118872" cy="201168"/>
          </a:xfrm>
          <a:prstGeom prst="chevron">
            <a:avLst/>
          </a:prstGeom>
          <a:solidFill>
            <a:schemeClr val="accent2"/>
          </a:solidFill>
          <a:ln w="12700">
            <a:solidFill>
              <a:schemeClr val="accent2"/>
            </a:solidFill>
            <a:prstDash val="solid"/>
          </a:ln>
        </p:spPr>
      </p:sp>
      <p:sp>
        <p:nvSpPr>
          <p:cNvPr id="27" name="step 5"/>
          <p:cNvSpPr/>
          <p:nvPr/>
        </p:nvSpPr>
        <p:spPr>
          <a:xfrm>
            <a:off x="7223760" y="1097280"/>
            <a:ext cx="1463040" cy="2468880"/>
          </a:xfrm>
          <a:prstGeom prst="roundRect">
            <a:avLst>
              <a:gd name="adj" fmla="val 5000"/>
            </a:avLst>
          </a:prstGeom>
          <a:solidFill>
            <a:schemeClr val="bg2"/>
          </a:solidFill>
          <a:ln w="12700">
            <a:solidFill>
              <a:schemeClr val="bg2"/>
            </a:solidFill>
            <a:prstDash val="solid"/>
          </a:ln>
        </p:spPr>
      </p:sp>
      <p:sp>
        <p:nvSpPr>
          <p:cNvPr id="28" name="dot 5"/>
          <p:cNvSpPr/>
          <p:nvPr/>
        </p:nvSpPr>
        <p:spPr>
          <a:xfrm>
            <a:off x="7790688" y="1261872"/>
            <a:ext cx="329184" cy="329184"/>
          </a:xfrm>
          <a:prstGeom prst="ellipse">
            <a:avLst/>
          </a:prstGeom>
          <a:solidFill>
            <a:schemeClr val="accent1"/>
          </a:solidFill>
          <a:ln w="12700">
            <a:solidFill>
              <a:schemeClr val="accent1"/>
            </a:solidFill>
            <a:prstDash val="solid"/>
          </a:ln>
        </p:spPr>
      </p:sp>
      <p:sp>
        <p:nvSpPr>
          <p:cNvPr id="29" name="Text 27"/>
          <p:cNvSpPr txBox="1"/>
          <p:nvPr/>
        </p:nvSpPr>
        <p:spPr>
          <a:xfrm>
            <a:off x="7790688" y="1261872"/>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30" name="Text 28"/>
          <p:cNvSpPr txBox="1"/>
          <p:nvPr/>
        </p:nvSpPr>
        <p:spPr>
          <a:xfrm>
            <a:off x="7315200" y="1691640"/>
            <a:ext cx="1280160" cy="502920"/>
          </a:xfrm>
          <a:prstGeom prst="rect">
            <a:avLst/>
          </a:prstGeom>
          <a:noFill/>
          <a:ln/>
        </p:spPr>
        <p:txBody>
          <a:bodyPr wrap="square" lIns="0" tIns="0" rIns="0" bIns="0" rtlCol="0" anchor="ctr"/>
          <a:lstStyle/>
          <a:p>
            <a:pPr algn="ctr" indent="0" marL="0">
              <a:buNone/>
            </a:pPr>
            <a:r>
              <a:rPr lang="en-US" sz="1400" b="1" dirty="0">
                <a:solidFill>
                  <a:schemeClr val="tx2"/>
                </a:solidFill>
              </a:rPr>
              <a:t>Dashboard / App</a:t>
            </a:r>
            <a:endParaRPr lang="en-US" sz="1400" dirty="0"/>
          </a:p>
        </p:txBody>
      </p:sp>
      <p:sp>
        <p:nvSpPr>
          <p:cNvPr id="31" name="Text 29"/>
          <p:cNvSpPr txBox="1"/>
          <p:nvPr/>
        </p:nvSpPr>
        <p:spPr>
          <a:xfrm>
            <a:off x="7333488" y="2240280"/>
            <a:ext cx="1243584" cy="1234440"/>
          </a:xfrm>
          <a:prstGeom prst="rect">
            <a:avLst/>
          </a:prstGeom>
          <a:noFill/>
          <a:ln/>
        </p:spPr>
        <p:txBody>
          <a:bodyPr wrap="square" lIns="0" tIns="0" rIns="0" bIns="0" rtlCol="0" anchor="t"/>
          <a:lstStyle/>
          <a:p>
            <a:pPr algn="ctr" indent="0" marL="0">
              <a:buNone/>
            </a:pPr>
            <a:r>
              <a:rPr lang="en-US" sz="1150" dirty="0">
                <a:solidFill>
                  <a:schemeClr val="tx1"/>
                </a:solidFill>
              </a:rPr>
              <a:t>Hourly Prefect flow publishes to a live Hugging Face Space</a:t>
            </a:r>
            <a:endParaRPr lang="en-US" sz="1150" dirty="0"/>
          </a:p>
        </p:txBody>
      </p:sp>
      <p:sp>
        <p:nvSpPr>
          <p:cNvPr id="32" name="summary banner"/>
          <p:cNvSpPr/>
          <p:nvPr/>
        </p:nvSpPr>
        <p:spPr>
          <a:xfrm>
            <a:off x="457200" y="3794760"/>
            <a:ext cx="8229600" cy="685800"/>
          </a:xfrm>
          <a:prstGeom prst="roundRect">
            <a:avLst>
              <a:gd name="adj" fmla="val 10667"/>
            </a:avLst>
          </a:prstGeom>
          <a:solidFill>
            <a:schemeClr val="tx2"/>
          </a:solidFill>
          <a:ln w="12700">
            <a:solidFill>
              <a:schemeClr val="tx2"/>
            </a:solidFill>
            <a:prstDash val="solid"/>
          </a:ln>
        </p:spPr>
      </p:sp>
      <p:sp>
        <p:nvSpPr>
          <p:cNvPr id="33" name="Text 31"/>
          <p:cNvSpPr txBox="1"/>
          <p:nvPr/>
        </p:nvSpPr>
        <p:spPr>
          <a:xfrm>
            <a:off x="685800" y="3794760"/>
            <a:ext cx="7772400" cy="685800"/>
          </a:xfrm>
          <a:prstGeom prst="rect">
            <a:avLst/>
          </a:prstGeom>
          <a:noFill/>
          <a:ln/>
        </p:spPr>
        <p:txBody>
          <a:bodyPr wrap="square" lIns="0" tIns="0" rIns="0" bIns="0" rtlCol="0" anchor="ctr"/>
          <a:lstStyle/>
          <a:p>
            <a:pPr indent="0" marL="0">
              <a:buNone/>
            </a:pPr>
            <a:r>
              <a:rPr lang="en-US" sz="1400" b="1" dirty="0">
                <a:solidFill>
                  <a:schemeClr val="bg1"/>
                </a:solidFill>
              </a:rPr>
              <a:t>Raw forecasts and satellite rain in  →  each district's chance of unusually heavy rain 1–3 days ahead, refreshed every hour</a:t>
            </a:r>
            <a:endParaRPr lang="en-US" sz="14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548640"/>
          </a:xfrm>
          <a:prstGeom prst="rect">
            <a:avLst/>
          </a:prstGeom>
          <a:noFill/>
          <a:ln/>
        </p:spPr>
        <p:txBody>
          <a:bodyPr wrap="square" lIns="0" tIns="0" rIns="0" bIns="0" rtlCol="0" anchor="ctr"/>
          <a:lstStyle/>
          <a:p>
            <a:pPr algn="l" indent="0" marL="0">
              <a:buNone/>
            </a:pPr>
            <a:r>
              <a:rPr lang="en-US" sz="2800" b="1" dirty="0">
                <a:solidFill>
                  <a:schemeClr val="tx2"/>
                </a:solidFill>
              </a:rPr>
              <a:t>Pipeline Details &amp; Tools</a:t>
            </a:r>
            <a:endParaRPr lang="en-US" sz="2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1371600"/>
                <a:gridCol w="2743200"/>
                <a:gridCol w="4114800"/>
              </a:tblGrid>
              <a:tr h="365760">
                <a:tc>
                  <a:txBody>
                    <a:bodyPr/>
                    <a:lstStyle/>
                    <a:p>
                      <a:pPr indent="0" marL="0">
                        <a:buNone/>
                      </a:pPr>
                      <a:r>
                        <a:rPr lang="en-US" sz="1150" b="1" dirty="0">
                          <a:solidFill>
                            <a:srgbClr val="FFFFFF"/>
                          </a:solidFill>
                        </a:rPr>
                        <a:t>Stage</a:t>
                      </a:r>
                      <a:endParaRPr lang="en-US" sz="1150" dirty="0"/>
                    </a:p>
                  </a:txBody>
                  <a:tcPr marL="91440" marR="91440"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0B5D2A"/>
                    </a:solidFill>
                  </a:tcPr>
                </a:tc>
                <a:tc>
                  <a:txBody>
                    <a:bodyPr/>
                    <a:lstStyle/>
                    <a:p>
                      <a:pPr indent="0" marL="0">
                        <a:buNone/>
                      </a:pPr>
                      <a:r>
                        <a:rPr lang="en-US" sz="1150" b="1" dirty="0">
                          <a:solidFill>
                            <a:srgbClr val="FFFFFF"/>
                          </a:solidFill>
                        </a:rPr>
                        <a:t>Tools / Libraries</a:t>
                      </a:r>
                      <a:endParaRPr lang="en-US" sz="1150" dirty="0"/>
                    </a:p>
                  </a:txBody>
                  <a:tcPr marL="91440" marR="91440"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0B5D2A"/>
                    </a:solidFill>
                  </a:tcPr>
                </a:tc>
                <a:tc>
                  <a:txBody>
                    <a:bodyPr/>
                    <a:lstStyle/>
                    <a:p>
                      <a:pPr indent="0" marL="0">
                        <a:buNone/>
                      </a:pPr>
                      <a:r>
                        <a:rPr lang="en-US" sz="1150" b="1" dirty="0">
                          <a:solidFill>
                            <a:srgbClr val="FFFFFF"/>
                          </a:solidFill>
                        </a:rPr>
                        <a:t>What we did</a:t>
                      </a:r>
                      <a:endParaRPr lang="en-US" sz="1150" dirty="0"/>
                    </a:p>
                  </a:txBody>
                  <a:tcPr marL="91440" marR="91440"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0B5D2A"/>
                    </a:solidFill>
                  </a:tcPr>
                </a:tc>
              </a:tr>
              <a:tr h="621792">
                <a:tc>
                  <a:txBody>
                    <a:bodyPr/>
                    <a:lstStyle/>
                    <a:p>
                      <a:pPr indent="0" marL="0">
                        <a:buNone/>
                      </a:pPr>
                      <a:r>
                        <a:rPr lang="en-US" sz="1150" b="1" dirty="0">
                          <a:solidFill>
                            <a:srgbClr val="0B5D2A"/>
                          </a:solidFill>
                        </a:rPr>
                        <a:t>Collection</a:t>
                      </a:r>
                      <a:endParaRPr lang="en-US" sz="1150" dirty="0"/>
                    </a:p>
                  </a:txBody>
                  <a:tcPr marL="91440" marR="91440"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c>
                  <a:txBody>
                    <a:bodyPr/>
                    <a:lstStyle/>
                    <a:p>
                      <a:pPr indent="0" marL="0">
                        <a:buNone/>
                      </a:pPr>
                      <a:r>
                        <a:rPr lang="en-US" sz="1150" dirty="0">
                          <a:solidFill>
                            <a:srgbClr val="1F2933"/>
                          </a:solidFill>
                        </a:rPr>
                        <a:t>Python, requests, earthaccess (OPeNDAP), pdfplumber</a:t>
                      </a:r>
                      <a:endParaRPr lang="en-US" sz="1150" dirty="0"/>
                    </a:p>
                  </a:txBody>
                  <a:tcPr marL="91440" marR="91440"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c>
                  <a:txBody>
                    <a:bodyPr/>
                    <a:lstStyle/>
                    <a:p>
                      <a:pPr indent="0" marL="0">
                        <a:buNone/>
                      </a:pPr>
                      <a:r>
                        <a:rPr lang="en-US" sz="1150" dirty="0">
                          <a:solidFill>
                            <a:srgbClr val="1F2933"/>
                          </a:solidFill>
                        </a:rPr>
                        <a:t>Fetch only what is new; respect API budgets; never overwrite a raw file</a:t>
                      </a:r>
                      <a:endParaRPr lang="en-US" sz="1150" dirty="0"/>
                    </a:p>
                  </a:txBody>
                  <a:tcPr marL="91440" marR="91440"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r>
              <a:tr h="621792">
                <a:tc>
                  <a:txBody>
                    <a:bodyPr/>
                    <a:lstStyle/>
                    <a:p>
                      <a:pPr indent="0" marL="0">
                        <a:buNone/>
                      </a:pPr>
                      <a:r>
                        <a:rPr lang="en-US" sz="1150" b="1" dirty="0">
                          <a:solidFill>
                            <a:srgbClr val="0B5D2A"/>
                          </a:solidFill>
                        </a:rPr>
                        <a:t>Preprocessing</a:t>
                      </a:r>
                      <a:endParaRPr lang="en-US" sz="1150" dirty="0"/>
                    </a:p>
                  </a:txBody>
                  <a:tcPr marL="91440" marR="91440"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c>
                  <a:txBody>
                    <a:bodyPr/>
                    <a:lstStyle/>
                    <a:p>
                      <a:pPr indent="0" marL="0">
                        <a:buNone/>
                      </a:pPr>
                      <a:r>
                        <a:rPr lang="en-US" sz="1150" dirty="0">
                          <a:solidFill>
                            <a:srgbClr val="1F2933"/>
                          </a:solidFill>
                        </a:rPr>
                        <a:t>DuckDB, pandas, Shapely, pandera</a:t>
                      </a:r>
                      <a:endParaRPr lang="en-US" sz="1150" dirty="0"/>
                    </a:p>
                  </a:txBody>
                  <a:tcPr marL="91440" marR="91440"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c>
                  <a:txBody>
                    <a:bodyPr/>
                    <a:lstStyle/>
                    <a:p>
                      <a:pPr indent="0" marL="0">
                        <a:buNone/>
                      </a:pPr>
                      <a:r>
                        <a:rPr lang="en-US" sz="1150" dirty="0">
                          <a:solidFill>
                            <a:srgbClr val="1F2933"/>
                          </a:solidFill>
                        </a:rPr>
                        <a:t>Grid rain → district values; quality rules fix / fill / flag and log every decision</a:t>
                      </a:r>
                      <a:endParaRPr lang="en-US" sz="1150" dirty="0"/>
                    </a:p>
                  </a:txBody>
                  <a:tcPr marL="91440" marR="91440"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r>
              <a:tr h="621792">
                <a:tc>
                  <a:txBody>
                    <a:bodyPr/>
                    <a:lstStyle/>
                    <a:p>
                      <a:pPr indent="0" marL="0">
                        <a:buNone/>
                      </a:pPr>
                      <a:r>
                        <a:rPr lang="en-US" sz="1150" b="1" dirty="0">
                          <a:solidFill>
                            <a:srgbClr val="0B5D2A"/>
                          </a:solidFill>
                        </a:rPr>
                        <a:t>Analysis / EDA</a:t>
                      </a:r>
                      <a:endParaRPr lang="en-US" sz="1150" dirty="0"/>
                    </a:p>
                  </a:txBody>
                  <a:tcPr marL="91440" marR="91440"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c>
                  <a:txBody>
                    <a:bodyPr/>
                    <a:lstStyle/>
                    <a:p>
                      <a:pPr indent="0" marL="0">
                        <a:buNone/>
                      </a:pPr>
                      <a:r>
                        <a:rPr lang="en-US" sz="1150" dirty="0">
                          <a:solidFill>
                            <a:srgbClr val="1F2933"/>
                          </a:solidFill>
                        </a:rPr>
                        <a:t>pandas, bootstrap CIs</a:t>
                      </a:r>
                      <a:endParaRPr lang="en-US" sz="1150" dirty="0"/>
                    </a:p>
                  </a:txBody>
                  <a:tcPr marL="91440" marR="91440"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c>
                  <a:txBody>
                    <a:bodyPr/>
                    <a:lstStyle/>
                    <a:p>
                      <a:pPr indent="0" marL="0">
                        <a:buNone/>
                      </a:pPr>
                      <a:r>
                        <a:rPr lang="en-US" sz="1150" dirty="0">
                          <a:solidFill>
                            <a:srgbClr val="1F2933"/>
                          </a:solidFill>
                        </a:rPr>
                        <a:t>95th-percentile thresholds per district; Aug 2025 replay; skill by province and terrain</a:t>
                      </a:r>
                      <a:endParaRPr lang="en-US" sz="1150" dirty="0"/>
                    </a:p>
                  </a:txBody>
                  <a:tcPr marL="91440" marR="91440"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r>
              <a:tr h="621792">
                <a:tc>
                  <a:txBody>
                    <a:bodyPr/>
                    <a:lstStyle/>
                    <a:p>
                      <a:pPr indent="0" marL="0">
                        <a:buNone/>
                      </a:pPr>
                      <a:r>
                        <a:rPr lang="en-US" sz="1150" b="1" dirty="0">
                          <a:solidFill>
                            <a:srgbClr val="0B5D2A"/>
                          </a:solidFill>
                        </a:rPr>
                        <a:t>Modeling</a:t>
                      </a:r>
                      <a:endParaRPr lang="en-US" sz="1150" dirty="0"/>
                    </a:p>
                  </a:txBody>
                  <a:tcPr marL="91440" marR="91440"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c>
                  <a:txBody>
                    <a:bodyPr/>
                    <a:lstStyle/>
                    <a:p>
                      <a:pPr indent="0" marL="0">
                        <a:buNone/>
                      </a:pPr>
                      <a:r>
                        <a:rPr lang="en-US" sz="1150" dirty="0">
                          <a:solidFill>
                            <a:srgbClr val="1F2933"/>
                          </a:solidFill>
                        </a:rPr>
                        <a:t>scikit-learn GBM + Platt calibration, FAISS + e5</a:t>
                      </a:r>
                      <a:endParaRPr lang="en-US" sz="1150" dirty="0"/>
                    </a:p>
                  </a:txBody>
                  <a:tcPr marL="91440" marR="91440"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c>
                  <a:txBody>
                    <a:bodyPr/>
                    <a:lstStyle/>
                    <a:p>
                      <a:pPr indent="0" marL="0">
                        <a:buNone/>
                      </a:pPr>
                      <a:r>
                        <a:rPr lang="en-US" sz="1150" dirty="0">
                          <a:solidFill>
                            <a:srgbClr val="1F2933"/>
                          </a:solidFill>
                        </a:rPr>
                        <a:t>Leakage-tested features; fixed splits; test set run once. Insight Agent cites NDMA text</a:t>
                      </a:r>
                      <a:endParaRPr lang="en-US" sz="1150" dirty="0"/>
                    </a:p>
                  </a:txBody>
                  <a:tcPr marL="91440" marR="91440"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r>
              <a:tr h="621792">
                <a:tc>
                  <a:txBody>
                    <a:bodyPr/>
                    <a:lstStyle/>
                    <a:p>
                      <a:pPr indent="0" marL="0">
                        <a:buNone/>
                      </a:pPr>
                      <a:r>
                        <a:rPr lang="en-US" sz="1150" b="1" dirty="0">
                          <a:solidFill>
                            <a:srgbClr val="0B5D2A"/>
                          </a:solidFill>
                        </a:rPr>
                        <a:t>Dashboard / App</a:t>
                      </a:r>
                      <a:endParaRPr lang="en-US" sz="1150" dirty="0"/>
                    </a:p>
                  </a:txBody>
                  <a:tcPr marL="91440" marR="91440"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c>
                  <a:txBody>
                    <a:bodyPr/>
                    <a:lstStyle/>
                    <a:p>
                      <a:pPr indent="0" marL="0">
                        <a:buNone/>
                      </a:pPr>
                      <a:r>
                        <a:rPr lang="en-US" sz="1150" dirty="0">
                          <a:solidFill>
                            <a:srgbClr val="1F2933"/>
                          </a:solidFill>
                        </a:rPr>
                        <a:t>Prefect 3, React + Leaflet, FastAPI, HF Spaces</a:t>
                      </a:r>
                      <a:endParaRPr lang="en-US" sz="1150" dirty="0"/>
                    </a:p>
                  </a:txBody>
                  <a:tcPr marL="91440" marR="91440"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c>
                  <a:txBody>
                    <a:bodyPr/>
                    <a:lstStyle/>
                    <a:p>
                      <a:pPr indent="0" marL="0">
                        <a:buNone/>
                      </a:pPr>
                      <a:r>
                        <a:rPr lang="en-US" sz="1150" dirty="0">
                          <a:solidFill>
                            <a:srgbClr val="1F2933"/>
                          </a:solidFill>
                        </a:rPr>
                        <a:t>Hourly flow rebuilds and publishes; map, food prices, live data and Ask (English / Urdu)</a:t>
                      </a:r>
                      <a:endParaRPr lang="en-US" sz="1150" dirty="0"/>
                    </a:p>
                  </a:txBody>
                  <a:tcPr marL="91440" marR="91440"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548640"/>
          </a:xfrm>
          <a:prstGeom prst="rect">
            <a:avLst/>
          </a:prstGeom>
          <a:noFill/>
          <a:ln/>
        </p:spPr>
        <p:txBody>
          <a:bodyPr wrap="square" lIns="0" tIns="0" rIns="0" bIns="0" rtlCol="0" anchor="ctr"/>
          <a:lstStyle/>
          <a:p>
            <a:pPr algn="l" indent="0" marL="0">
              <a:buNone/>
            </a:pPr>
            <a:r>
              <a:rPr lang="en-US" sz="2800" b="1" dirty="0">
                <a:solidFill>
                  <a:schemeClr val="tx2"/>
                </a:solidFill>
              </a:rPr>
              <a:t>Agents &amp; Automation</a:t>
            </a:r>
            <a:endParaRPr lang="en-US" sz="2800" dirty="0"/>
          </a:p>
        </p:txBody>
      </p:sp>
      <p:sp>
        <p:nvSpPr>
          <p:cNvPr id="3" name="Text 1"/>
          <p:cNvSpPr txBox="1"/>
          <p:nvPr/>
        </p:nvSpPr>
        <p:spPr>
          <a:xfrm>
            <a:off x="457200" y="914400"/>
            <a:ext cx="5120640" cy="274320"/>
          </a:xfrm>
          <a:prstGeom prst="rect">
            <a:avLst/>
          </a:prstGeom>
          <a:noFill/>
          <a:ln/>
        </p:spPr>
        <p:txBody>
          <a:bodyPr wrap="square" lIns="0" tIns="0" rIns="0" bIns="0" rtlCol="0" anchor="t"/>
          <a:lstStyle/>
          <a:p>
            <a:pPr indent="0" marL="0">
              <a:buNone/>
            </a:pPr>
            <a:r>
              <a:rPr lang="en-US" sz="1200" b="1" dirty="0">
                <a:solidFill>
                  <a:schemeClr val="accent2"/>
                </a:solidFill>
              </a:rPr>
              <a:t>DATA QUALITY AGENT · runs pandera checks, decides fix / fill / flag, logs why</a:t>
            </a:r>
            <a:endParaRPr lang="en-US" sz="1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5120640" cy="914400"/>
        </p:xfrm>
        <a:graphic>
          <a:graphicData uri="http://schemas.openxmlformats.org/drawingml/2006/table">
            <a:tbl>
              <a:tblPr/>
              <a:tblGrid>
                <a:gridCol w="1600200"/>
                <a:gridCol w="640080"/>
                <a:gridCol w="548640"/>
                <a:gridCol w="2331720"/>
              </a:tblGrid>
              <a:tr h="329184">
                <a:tc>
                  <a:txBody>
                    <a:bodyPr/>
                    <a:lstStyle/>
                    <a:p>
                      <a:pPr indent="0" marL="0">
                        <a:buNone/>
                      </a:pPr>
                      <a:r>
                        <a:rPr lang="en-US" sz="1100" b="1" dirty="0">
                          <a:solidFill>
                            <a:srgbClr val="FFFFFF"/>
                          </a:solidFill>
                        </a:rPr>
                        <a:t>Rule</a:t>
                      </a:r>
                      <a:endParaRPr lang="en-US" sz="1100" dirty="0"/>
                    </a:p>
                  </a:txBody>
                  <a:tcPr marL="73152" marR="73152" marT="36576" marB="36576"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0B5D2A"/>
                    </a:solidFill>
                  </a:tcPr>
                </a:tc>
                <a:tc>
                  <a:txBody>
                    <a:bodyPr/>
                    <a:lstStyle/>
                    <a:p>
                      <a:pPr indent="0" marL="0">
                        <a:buNone/>
                      </a:pPr>
                      <a:r>
                        <a:rPr lang="en-US" sz="1100" b="1" dirty="0">
                          <a:solidFill>
                            <a:srgbClr val="FFFFFF"/>
                          </a:solidFill>
                        </a:rPr>
                        <a:t>Action</a:t>
                      </a:r>
                      <a:endParaRPr lang="en-US" sz="1100" dirty="0"/>
                    </a:p>
                  </a:txBody>
                  <a:tcPr marL="73152" marR="73152" marT="36576" marB="36576"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0B5D2A"/>
                    </a:solidFill>
                  </a:tcPr>
                </a:tc>
                <a:tc>
                  <a:txBody>
                    <a:bodyPr/>
                    <a:lstStyle/>
                    <a:p>
                      <a:pPr indent="0" marL="0">
                        <a:buNone/>
                      </a:pPr>
                      <a:r>
                        <a:rPr lang="en-US" sz="1100" b="1" dirty="0">
                          <a:solidFill>
                            <a:srgbClr val="FFFFFF"/>
                          </a:solidFill>
                        </a:rPr>
                        <a:t>Rows</a:t>
                      </a:r>
                      <a:endParaRPr lang="en-US" sz="1100" dirty="0"/>
                    </a:p>
                  </a:txBody>
                  <a:tcPr marL="73152" marR="73152" marT="36576" marB="36576"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0B5D2A"/>
                    </a:solidFill>
                  </a:tcPr>
                </a:tc>
                <a:tc>
                  <a:txBody>
                    <a:bodyPr/>
                    <a:lstStyle/>
                    <a:p>
                      <a:pPr indent="0" marL="0">
                        <a:buNone/>
                      </a:pPr>
                      <a:r>
                        <a:rPr lang="en-US" sz="1100" b="1" dirty="0">
                          <a:solidFill>
                            <a:srgbClr val="FFFFFF"/>
                          </a:solidFill>
                        </a:rPr>
                        <a:t>Reason (from quality_log)</a:t>
                      </a:r>
                      <a:endParaRPr lang="en-US" sz="1100" dirty="0"/>
                    </a:p>
                  </a:txBody>
                  <a:tcPr marL="73152" marR="73152" marT="36576" marB="36576"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0B5D2A"/>
                    </a:solidFill>
                  </a:tcPr>
                </a:tc>
              </a:tr>
              <a:tr h="502920">
                <a:tc>
                  <a:txBody>
                    <a:bodyPr/>
                    <a:lstStyle/>
                    <a:p>
                      <a:pPr indent="0" marL="0">
                        <a:buNone/>
                      </a:pPr>
                      <a:r>
                        <a:rPr lang="en-US" sz="1100" b="1" dirty="0">
                          <a:solidFill>
                            <a:srgbClr val="0B5D2A"/>
                          </a:solidFill>
                        </a:rPr>
                        <a:t>spi_price_collected</a:t>
                      </a:r>
                      <a:endParaRPr lang="en-US" sz="1100" dirty="0"/>
                    </a:p>
                  </a:txBody>
                  <a:tcPr marL="73152" marR="73152" marT="36576" marB="36576"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c>
                  <a:txBody>
                    <a:bodyPr/>
                    <a:lstStyle/>
                    <a:p>
                      <a:pPr indent="0" marL="0">
                        <a:buNone/>
                      </a:pPr>
                      <a:r>
                        <a:rPr lang="en-US" sz="1100" dirty="0">
                          <a:solidFill>
                            <a:srgbClr val="1F2933"/>
                          </a:solidFill>
                        </a:rPr>
                        <a:t>FLAG</a:t>
                      </a:r>
                      <a:endParaRPr lang="en-US" sz="1100" dirty="0"/>
                    </a:p>
                  </a:txBody>
                  <a:tcPr marL="73152" marR="73152" marT="36576" marB="36576"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c>
                  <a:txBody>
                    <a:bodyPr/>
                    <a:lstStyle/>
                    <a:p>
                      <a:pPr indent="0" marL="0">
                        <a:buNone/>
                      </a:pPr>
                      <a:r>
                        <a:rPr lang="en-US" sz="1100" dirty="0">
                          <a:solidFill>
                            <a:srgbClr val="1F2933"/>
                          </a:solidFill>
                        </a:rPr>
                        <a:t>1,279</a:t>
                      </a:r>
                      <a:endParaRPr lang="en-US" sz="1100" dirty="0"/>
                    </a:p>
                  </a:txBody>
                  <a:tcPr marL="73152" marR="73152" marT="36576" marB="36576"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c>
                  <a:txBody>
                    <a:bodyPr/>
                    <a:lstStyle/>
                    <a:p>
                      <a:pPr indent="0" marL="0">
                        <a:buNone/>
                      </a:pPr>
                      <a:r>
                        <a:rPr lang="en-US" sz="1100" dirty="0">
                          <a:solidFill>
                            <a:srgbClr val="1F2933"/>
                          </a:solidFill>
                        </a:rPr>
                        <a:t>PBS published 0 or nothing: kept NULL, never filled</a:t>
                      </a:r>
                      <a:endParaRPr lang="en-US" sz="1100" dirty="0"/>
                    </a:p>
                  </a:txBody>
                  <a:tcPr marL="73152" marR="73152" marT="36576" marB="36576"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r>
              <a:tr h="502920">
                <a:tc>
                  <a:txBody>
                    <a:bodyPr/>
                    <a:lstStyle/>
                    <a:p>
                      <a:pPr indent="0" marL="0">
                        <a:buNone/>
                      </a:pPr>
                      <a:r>
                        <a:rPr lang="en-US" sz="1100" b="1" dirty="0">
                          <a:solidFill>
                            <a:srgbClr val="0B5D2A"/>
                          </a:solidFill>
                        </a:rPr>
                        <a:t>spi_min_le_avg_le_max</a:t>
                      </a:r>
                      <a:endParaRPr lang="en-US" sz="1100" dirty="0"/>
                    </a:p>
                  </a:txBody>
                  <a:tcPr marL="73152" marR="73152" marT="36576" marB="36576"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c>
                  <a:txBody>
                    <a:bodyPr/>
                    <a:lstStyle/>
                    <a:p>
                      <a:pPr indent="0" marL="0">
                        <a:buNone/>
                      </a:pPr>
                      <a:r>
                        <a:rPr lang="en-US" sz="1100" dirty="0">
                          <a:solidFill>
                            <a:srgbClr val="1F2933"/>
                          </a:solidFill>
                        </a:rPr>
                        <a:t>FLAG</a:t>
                      </a:r>
                      <a:endParaRPr lang="en-US" sz="1100" dirty="0"/>
                    </a:p>
                  </a:txBody>
                  <a:tcPr marL="73152" marR="73152" marT="36576" marB="36576"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c>
                  <a:txBody>
                    <a:bodyPr/>
                    <a:lstStyle/>
                    <a:p>
                      <a:pPr indent="0" marL="0">
                        <a:buNone/>
                      </a:pPr>
                      <a:r>
                        <a:rPr lang="en-US" sz="1100" dirty="0">
                          <a:solidFill>
                            <a:srgbClr val="1F2933"/>
                          </a:solidFill>
                        </a:rPr>
                        <a:t>822</a:t>
                      </a:r>
                      <a:endParaRPr lang="en-US" sz="1100" dirty="0"/>
                    </a:p>
                  </a:txBody>
                  <a:tcPr marL="73152" marR="73152" marT="36576" marB="36576"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c>
                  <a:txBody>
                    <a:bodyPr/>
                    <a:lstStyle/>
                    <a:p>
                      <a:pPr indent="0" marL="0">
                        <a:buNone/>
                      </a:pPr>
                      <a:r>
                        <a:rPr lang="en-US" sz="1100" dirty="0">
                          <a:solidFill>
                            <a:srgbClr val="1F2933"/>
                          </a:solidFill>
                        </a:rPr>
                        <a:t>min / avg / max out of order as published: kept as printed</a:t>
                      </a:r>
                      <a:endParaRPr lang="en-US" sz="1100" dirty="0"/>
                    </a:p>
                  </a:txBody>
                  <a:tcPr marL="73152" marR="73152" marT="36576" marB="36576"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r>
              <a:tr h="502920">
                <a:tc>
                  <a:txBody>
                    <a:bodyPr/>
                    <a:lstStyle/>
                    <a:p>
                      <a:pPr indent="0" marL="0">
                        <a:buNone/>
                      </a:pPr>
                      <a:r>
                        <a:rPr lang="en-US" sz="1100" b="1" dirty="0">
                          <a:solidFill>
                            <a:srgbClr val="0B5D2A"/>
                          </a:solidFill>
                        </a:rPr>
                        <a:t>spi_weekly_jump</a:t>
                      </a:r>
                      <a:endParaRPr lang="en-US" sz="1100" dirty="0"/>
                    </a:p>
                  </a:txBody>
                  <a:tcPr marL="73152" marR="73152" marT="36576" marB="36576"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c>
                  <a:txBody>
                    <a:bodyPr/>
                    <a:lstStyle/>
                    <a:p>
                      <a:pPr indent="0" marL="0">
                        <a:buNone/>
                      </a:pPr>
                      <a:r>
                        <a:rPr lang="en-US" sz="1100" dirty="0">
                          <a:solidFill>
                            <a:srgbClr val="1F2933"/>
                          </a:solidFill>
                        </a:rPr>
                        <a:t>FLAG</a:t>
                      </a:r>
                      <a:endParaRPr lang="en-US" sz="1100" dirty="0"/>
                    </a:p>
                  </a:txBody>
                  <a:tcPr marL="73152" marR="73152" marT="36576" marB="36576"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c>
                  <a:txBody>
                    <a:bodyPr/>
                    <a:lstStyle/>
                    <a:p>
                      <a:pPr indent="0" marL="0">
                        <a:buNone/>
                      </a:pPr>
                      <a:r>
                        <a:rPr lang="en-US" sz="1100" dirty="0">
                          <a:solidFill>
                            <a:srgbClr val="1F2933"/>
                          </a:solidFill>
                        </a:rPr>
                        <a:t>399</a:t>
                      </a:r>
                      <a:endParaRPr lang="en-US" sz="1100" dirty="0"/>
                    </a:p>
                  </a:txBody>
                  <a:tcPr marL="73152" marR="73152" marT="36576" marB="36576"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c>
                  <a:txBody>
                    <a:bodyPr/>
                    <a:lstStyle/>
                    <a:p>
                      <a:pPr indent="0" marL="0">
                        <a:buNone/>
                      </a:pPr>
                      <a:r>
                        <a:rPr lang="en-US" sz="1100" dirty="0">
                          <a:solidFill>
                            <a:srgbClr val="1F2933"/>
                          </a:solidFill>
                        </a:rPr>
                        <a:t>moved &gt;50% in a week: possible typo, not corrected</a:t>
                      </a:r>
                      <a:endParaRPr lang="en-US" sz="1100" dirty="0"/>
                    </a:p>
                  </a:txBody>
                  <a:tcPr marL="73152" marR="73152" marT="36576" marB="36576"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r>
            </a:tbl>
          </a:graphicData>
        </a:graphic>
      </p:graphicFrame>
      <p:sp>
        <p:nvSpPr>
          <p:cNvPr id="5" name="Text 2"/>
          <p:cNvSpPr txBox="1"/>
          <p:nvPr/>
        </p:nvSpPr>
        <p:spPr>
          <a:xfrm>
            <a:off x="457200" y="3200400"/>
            <a:ext cx="5120640" cy="457200"/>
          </a:xfrm>
          <a:prstGeom prst="rect">
            <a:avLst/>
          </a:prstGeom>
          <a:noFill/>
          <a:ln/>
        </p:spPr>
        <p:txBody>
          <a:bodyPr wrap="square" lIns="0" tIns="0" rIns="0" bIns="0" rtlCol="0" anchor="t"/>
          <a:lstStyle/>
          <a:p>
            <a:pPr indent="0" marL="0">
              <a:buNone/>
            </a:pPr>
            <a:r>
              <a:rPr lang="en-US" sz="1200" dirty="0">
                <a:solidFill>
                  <a:schemeClr val="tx1"/>
                </a:solidFill>
              </a:rPr>
              <a:t>Every decision is stored with a timestamp and replayed on each rebuild; we flag rather than invent prices.</a:t>
            </a:r>
            <a:endParaRPr lang="en-US" sz="1200" dirty="0"/>
          </a:p>
        </p:txBody>
      </p:sp>
      <p:sp>
        <p:nvSpPr>
          <p:cNvPr id="6" name="Text 3"/>
          <p:cNvSpPr txBox="1"/>
          <p:nvPr/>
        </p:nvSpPr>
        <p:spPr>
          <a:xfrm>
            <a:off x="457200" y="3749040"/>
            <a:ext cx="5120640" cy="685800"/>
          </a:xfrm>
          <a:prstGeom prst="rect">
            <a:avLst/>
          </a:prstGeom>
          <a:noFill/>
          <a:ln/>
        </p:spPr>
        <p:txBody>
          <a:bodyPr wrap="square" lIns="0" tIns="0" rIns="0" bIns="0" rtlCol="0" anchor="t"/>
          <a:lstStyle/>
          <a:p>
            <a:pPr indent="0" marL="0">
              <a:buNone/>
            </a:pPr>
            <a:r>
              <a:rPr lang="en-US" sz="1200" b="1" dirty="0">
                <a:solidFill>
                  <a:schemeClr val="tx2"/>
                </a:solidFill>
              </a:rPr>
              <a:t>Insight Agent · retrieves NDMA sections (FAISS, multilingual) and gold-table rows; says “I don't know” below threshold.</a:t>
            </a:r>
            <a:endParaRPr lang="en-US" sz="1200" dirty="0"/>
          </a:p>
        </p:txBody>
      </p:sp>
      <p:sp>
        <p:nvSpPr>
          <p:cNvPr id="7" name="prefect"/>
          <p:cNvSpPr/>
          <p:nvPr/>
        </p:nvSpPr>
        <p:spPr>
          <a:xfrm>
            <a:off x="5852160" y="914400"/>
            <a:ext cx="2834640" cy="3566160"/>
          </a:xfrm>
          <a:prstGeom prst="roundRect">
            <a:avLst>
              <a:gd name="adj" fmla="val 2581"/>
            </a:avLst>
          </a:prstGeom>
          <a:solidFill>
            <a:schemeClr val="bg2"/>
          </a:solidFill>
          <a:ln w="12700">
            <a:solidFill>
              <a:schemeClr val="bg2"/>
            </a:solidFill>
            <a:prstDash val="solid"/>
          </a:ln>
        </p:spPr>
      </p:sp>
      <p:sp>
        <p:nvSpPr>
          <p:cNvPr id="8" name="Text 5"/>
          <p:cNvSpPr txBox="1"/>
          <p:nvPr/>
        </p:nvSpPr>
        <p:spPr>
          <a:xfrm>
            <a:off x="6035040" y="1051560"/>
            <a:ext cx="2560320" cy="274320"/>
          </a:xfrm>
          <a:prstGeom prst="rect">
            <a:avLst/>
          </a:prstGeom>
          <a:noFill/>
          <a:ln/>
        </p:spPr>
        <p:txBody>
          <a:bodyPr wrap="square" lIns="0" tIns="0" rIns="0" bIns="0" rtlCol="0" anchor="t"/>
          <a:lstStyle/>
          <a:p>
            <a:pPr indent="0" marL="0">
              <a:buNone/>
            </a:pPr>
            <a:r>
              <a:rPr lang="en-US" sz="1200" b="1" dirty="0">
                <a:solidFill>
                  <a:schemeClr val="accent2"/>
                </a:solidFill>
              </a:rPr>
              <a:t>HOURLY PREFECT FLOW</a:t>
            </a:r>
            <a:endParaRPr lang="en-US" sz="1200" dirty="0"/>
          </a:p>
        </p:txBody>
      </p:sp>
      <p:sp>
        <p:nvSpPr>
          <p:cNvPr id="9" name="Text 6"/>
          <p:cNvSpPr txBox="1"/>
          <p:nvPr/>
        </p:nvSpPr>
        <p:spPr>
          <a:xfrm>
            <a:off x="6035040" y="1325880"/>
            <a:ext cx="2560320" cy="274320"/>
          </a:xfrm>
          <a:prstGeom prst="rect">
            <a:avLst/>
          </a:prstGeom>
          <a:noFill/>
          <a:ln/>
        </p:spPr>
        <p:txBody>
          <a:bodyPr wrap="square" lIns="0" tIns="0" rIns="0" bIns="0" rtlCol="0" anchor="t"/>
          <a:lstStyle/>
          <a:p>
            <a:pPr indent="0" marL="0">
              <a:buNone/>
            </a:pPr>
            <a:r>
              <a:rPr lang="en-US" sz="1200" dirty="0">
                <a:solidFill>
                  <a:schemeClr val="accent6"/>
                </a:solidFill>
              </a:rPr>
              <a:t>cron  5 * * * *</a:t>
            </a:r>
            <a:endParaRPr lang="en-US" sz="1200" dirty="0"/>
          </a:p>
        </p:txBody>
      </p:sp>
      <p:sp>
        <p:nvSpPr>
          <p:cNvPr id="10" name="Text 7"/>
          <p:cNvSpPr txBox="1"/>
          <p:nvPr/>
        </p:nvSpPr>
        <p:spPr>
          <a:xfrm>
            <a:off x="6035040" y="1691640"/>
            <a:ext cx="731520" cy="548640"/>
          </a:xfrm>
          <a:prstGeom prst="rect">
            <a:avLst/>
          </a:prstGeom>
          <a:noFill/>
          <a:ln/>
        </p:spPr>
        <p:txBody>
          <a:bodyPr wrap="square" lIns="0" tIns="0" rIns="0" bIns="0" rtlCol="0" anchor="t"/>
          <a:lstStyle/>
          <a:p>
            <a:pPr indent="0" marL="0">
              <a:buNone/>
            </a:pPr>
            <a:r>
              <a:rPr lang="en-US" sz="3000" b="1" dirty="0">
                <a:solidFill>
                  <a:schemeClr val="tx2"/>
                </a:solidFill>
              </a:rPr>
              <a:t>15</a:t>
            </a:r>
            <a:endParaRPr lang="en-US" sz="3000" dirty="0"/>
          </a:p>
        </p:txBody>
      </p:sp>
      <p:sp>
        <p:nvSpPr>
          <p:cNvPr id="11" name="Text 8"/>
          <p:cNvSpPr txBox="1"/>
          <p:nvPr/>
        </p:nvSpPr>
        <p:spPr>
          <a:xfrm>
            <a:off x="6720840" y="1737360"/>
            <a:ext cx="1874520" cy="777240"/>
          </a:xfrm>
          <a:prstGeom prst="rect">
            <a:avLst/>
          </a:prstGeom>
          <a:noFill/>
          <a:ln/>
        </p:spPr>
        <p:txBody>
          <a:bodyPr wrap="square" lIns="0" tIns="0" rIns="0" bIns="0" rtlCol="0" anchor="t"/>
          <a:lstStyle/>
          <a:p>
            <a:pPr indent="0" marL="0">
              <a:buNone/>
            </a:pPr>
            <a:r>
              <a:rPr lang="en-US" sz="1100" dirty="0">
                <a:solidFill>
                  <a:schemeClr val="tx1"/>
                </a:solidFill>
              </a:rPr>
              <a:t>runs in the Tue 4 PM – Wed 4 PM window</a:t>
            </a:r>
            <a:endParaRPr lang="en-US" sz="1100" dirty="0"/>
          </a:p>
        </p:txBody>
      </p:sp>
      <p:sp>
        <p:nvSpPr>
          <p:cNvPr id="12" name="Text 9"/>
          <p:cNvSpPr txBox="1"/>
          <p:nvPr/>
        </p:nvSpPr>
        <p:spPr>
          <a:xfrm>
            <a:off x="6035040" y="2560320"/>
            <a:ext cx="731520" cy="548640"/>
          </a:xfrm>
          <a:prstGeom prst="rect">
            <a:avLst/>
          </a:prstGeom>
          <a:noFill/>
          <a:ln/>
        </p:spPr>
        <p:txBody>
          <a:bodyPr wrap="square" lIns="0" tIns="0" rIns="0" bIns="0" rtlCol="0" anchor="t"/>
          <a:lstStyle/>
          <a:p>
            <a:pPr indent="0" marL="0">
              <a:buNone/>
            </a:pPr>
            <a:r>
              <a:rPr lang="en-US" sz="3000" b="1" dirty="0">
                <a:solidFill>
                  <a:schemeClr val="tx2"/>
                </a:solidFill>
              </a:rPr>
              <a:t>14</a:t>
            </a:r>
            <a:endParaRPr lang="en-US" sz="3000" dirty="0"/>
          </a:p>
        </p:txBody>
      </p:sp>
      <p:sp>
        <p:nvSpPr>
          <p:cNvPr id="13" name="Text 10"/>
          <p:cNvSpPr txBox="1"/>
          <p:nvPr/>
        </p:nvSpPr>
        <p:spPr>
          <a:xfrm>
            <a:off x="6720840" y="2606040"/>
            <a:ext cx="1874520" cy="777240"/>
          </a:xfrm>
          <a:prstGeom prst="rect">
            <a:avLst/>
          </a:prstGeom>
          <a:noFill/>
          <a:ln/>
        </p:spPr>
        <p:txBody>
          <a:bodyPr wrap="square" lIns="0" tIns="0" rIns="0" bIns="0" rtlCol="0" anchor="t"/>
          <a:lstStyle/>
          <a:p>
            <a:pPr indent="0" marL="0">
              <a:buNone/>
            </a:pPr>
            <a:r>
              <a:rPr lang="en-US" sz="1100" dirty="0">
                <a:solidFill>
                  <a:schemeClr val="tx1"/>
                </a:solidFill>
              </a:rPr>
              <a:t>completed</a:t>
            </a:r>
            <a:endParaRPr lang="en-US" sz="1100" dirty="0"/>
          </a:p>
        </p:txBody>
      </p:sp>
      <p:sp>
        <p:nvSpPr>
          <p:cNvPr id="14" name="Text 11"/>
          <p:cNvSpPr txBox="1"/>
          <p:nvPr/>
        </p:nvSpPr>
        <p:spPr>
          <a:xfrm>
            <a:off x="6035040" y="3429000"/>
            <a:ext cx="731520" cy="548640"/>
          </a:xfrm>
          <a:prstGeom prst="rect">
            <a:avLst/>
          </a:prstGeom>
          <a:noFill/>
          <a:ln/>
        </p:spPr>
        <p:txBody>
          <a:bodyPr wrap="square" lIns="0" tIns="0" rIns="0" bIns="0" rtlCol="0" anchor="t"/>
          <a:lstStyle/>
          <a:p>
            <a:pPr indent="0" marL="0">
              <a:buNone/>
            </a:pPr>
            <a:r>
              <a:rPr lang="en-US" sz="3000" b="1" dirty="0">
                <a:solidFill>
                  <a:schemeClr val="accent3"/>
                </a:solidFill>
              </a:rPr>
              <a:t>1</a:t>
            </a:r>
            <a:endParaRPr lang="en-US" sz="3000" dirty="0"/>
          </a:p>
        </p:txBody>
      </p:sp>
      <p:sp>
        <p:nvSpPr>
          <p:cNvPr id="15" name="Text 12"/>
          <p:cNvSpPr txBox="1"/>
          <p:nvPr/>
        </p:nvSpPr>
        <p:spPr>
          <a:xfrm>
            <a:off x="6720840" y="3474720"/>
            <a:ext cx="1874520" cy="777240"/>
          </a:xfrm>
          <a:prstGeom prst="rect">
            <a:avLst/>
          </a:prstGeom>
          <a:noFill/>
          <a:ln/>
        </p:spPr>
        <p:txBody>
          <a:bodyPr wrap="square" lIns="0" tIns="0" rIns="0" bIns="0" rtlCol="0" anchor="t"/>
          <a:lstStyle/>
          <a:p>
            <a:pPr indent="0" marL="0">
              <a:buNone/>
            </a:pPr>
            <a:r>
              <a:rPr lang="en-US" sz="1100" dirty="0">
                <a:solidFill>
                  <a:schemeClr val="tx1"/>
                </a:solidFill>
              </a:rPr>
              <a:t>failed: NASA server refused us; IMERG step now isolated, switched to NASA cloud</a:t>
            </a:r>
            <a:endParaRPr lang="en-US" sz="11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548640"/>
          </a:xfrm>
          <a:prstGeom prst="rect">
            <a:avLst/>
          </a:prstGeom>
          <a:noFill/>
          <a:ln/>
        </p:spPr>
        <p:txBody>
          <a:bodyPr wrap="square" lIns="0" tIns="0" rIns="0" bIns="0" rtlCol="0" anchor="ctr"/>
          <a:lstStyle/>
          <a:p>
            <a:pPr algn="l" indent="0" marL="0">
              <a:buNone/>
            </a:pPr>
            <a:r>
              <a:rPr lang="en-US" sz="2800" b="1" dirty="0">
                <a:solidFill>
                  <a:schemeClr val="tx2"/>
                </a:solidFill>
              </a:rPr>
              <a:t>Optimization: Lean, Fast &amp; Reproducible</a:t>
            </a:r>
            <a:endParaRPr lang="en-US" sz="2800" dirty="0"/>
          </a:p>
        </p:txBody>
      </p:sp>
      <p:sp>
        <p:nvSpPr>
          <p:cNvPr id="3" name="win 1"/>
          <p:cNvSpPr/>
          <p:nvPr/>
        </p:nvSpPr>
        <p:spPr>
          <a:xfrm>
            <a:off x="457200" y="1051560"/>
            <a:ext cx="4023360" cy="1600200"/>
          </a:xfrm>
          <a:prstGeom prst="roundRect">
            <a:avLst>
              <a:gd name="adj" fmla="val 4571"/>
            </a:avLst>
          </a:prstGeom>
          <a:solidFill>
            <a:schemeClr val="bg2"/>
          </a:solidFill>
          <a:ln w="12700">
            <a:solidFill>
              <a:schemeClr val="bg2"/>
            </a:solidFill>
            <a:prstDash val="solid"/>
          </a:ln>
        </p:spPr>
      </p:sp>
      <p:sp>
        <p:nvSpPr>
          <p:cNvPr id="4" name="Text 2"/>
          <p:cNvSpPr txBox="1"/>
          <p:nvPr/>
        </p:nvSpPr>
        <p:spPr>
          <a:xfrm>
            <a:off x="685800" y="1216152"/>
            <a:ext cx="3566160" cy="457200"/>
          </a:xfrm>
          <a:prstGeom prst="rect">
            <a:avLst/>
          </a:prstGeom>
          <a:noFill/>
          <a:ln/>
        </p:spPr>
        <p:txBody>
          <a:bodyPr wrap="square" lIns="0" tIns="0" rIns="0" bIns="0" rtlCol="0" anchor="t"/>
          <a:lstStyle/>
          <a:p>
            <a:pPr indent="0" marL="0">
              <a:buNone/>
            </a:pPr>
            <a:r>
              <a:rPr lang="en-US" sz="2400" b="1" dirty="0">
                <a:solidFill>
                  <a:schemeClr val="tx2"/>
                </a:solidFill>
              </a:rPr>
              <a:t>143 GB → 182 MB</a:t>
            </a:r>
            <a:endParaRPr lang="en-US" sz="2400" dirty="0"/>
          </a:p>
        </p:txBody>
      </p:sp>
      <p:sp>
        <p:nvSpPr>
          <p:cNvPr id="5" name="Text 3"/>
          <p:cNvSpPr txBox="1"/>
          <p:nvPr/>
        </p:nvSpPr>
        <p:spPr>
          <a:xfrm>
            <a:off x="685800" y="1709928"/>
            <a:ext cx="3566160" cy="228600"/>
          </a:xfrm>
          <a:prstGeom prst="rect">
            <a:avLst/>
          </a:prstGeom>
          <a:noFill/>
          <a:ln/>
        </p:spPr>
        <p:txBody>
          <a:bodyPr wrap="square" lIns="0" tIns="0" rIns="0" bIns="0" rtlCol="0" anchor="t"/>
          <a:lstStyle/>
          <a:p>
            <a:pPr indent="0" marL="0">
              <a:buNone/>
            </a:pPr>
            <a:r>
              <a:rPr lang="en-US" sz="1100" b="1" spc="100" kern="0" dirty="0">
                <a:solidFill>
                  <a:schemeClr val="accent2"/>
                </a:solidFill>
              </a:rPr>
              <a:t>SERVER-SIDE CROPPING</a:t>
            </a:r>
            <a:endParaRPr lang="en-US" sz="1100" dirty="0"/>
          </a:p>
        </p:txBody>
      </p:sp>
      <p:sp>
        <p:nvSpPr>
          <p:cNvPr id="6" name="Text 4"/>
          <p:cNvSpPr txBox="1"/>
          <p:nvPr/>
        </p:nvSpPr>
        <p:spPr>
          <a:xfrm>
            <a:off x="685800" y="1965960"/>
            <a:ext cx="3611880" cy="640080"/>
          </a:xfrm>
          <a:prstGeom prst="rect">
            <a:avLst/>
          </a:prstGeom>
          <a:noFill/>
          <a:ln/>
        </p:spPr>
        <p:txBody>
          <a:bodyPr wrap="square" lIns="0" tIns="0" rIns="0" bIns="0" rtlCol="0" anchor="t"/>
          <a:lstStyle/>
          <a:p>
            <a:pPr indent="0" marL="0">
              <a:buNone/>
            </a:pPr>
            <a:r>
              <a:rPr lang="en-US" sz="1200" dirty="0">
                <a:solidFill>
                  <a:schemeClr val="tx1"/>
                </a:solidFill>
              </a:rPr>
              <a:t>NASA OPeNDAP crops each daily satellite file to Pakistan: 33 MB → ~74 KB per day, same values</a:t>
            </a:r>
            <a:endParaRPr lang="en-US" sz="1200" dirty="0"/>
          </a:p>
        </p:txBody>
      </p:sp>
      <p:sp>
        <p:nvSpPr>
          <p:cNvPr id="7" name="win 2"/>
          <p:cNvSpPr/>
          <p:nvPr/>
        </p:nvSpPr>
        <p:spPr>
          <a:xfrm>
            <a:off x="4663440" y="1051560"/>
            <a:ext cx="4023360" cy="1600200"/>
          </a:xfrm>
          <a:prstGeom prst="roundRect">
            <a:avLst>
              <a:gd name="adj" fmla="val 4571"/>
            </a:avLst>
          </a:prstGeom>
          <a:solidFill>
            <a:schemeClr val="bg2"/>
          </a:solidFill>
          <a:ln w="12700">
            <a:solidFill>
              <a:schemeClr val="bg2"/>
            </a:solidFill>
            <a:prstDash val="solid"/>
          </a:ln>
        </p:spPr>
      </p:sp>
      <p:sp>
        <p:nvSpPr>
          <p:cNvPr id="8" name="Text 6"/>
          <p:cNvSpPr txBox="1"/>
          <p:nvPr/>
        </p:nvSpPr>
        <p:spPr>
          <a:xfrm>
            <a:off x="4892040" y="1216152"/>
            <a:ext cx="3566160" cy="457200"/>
          </a:xfrm>
          <a:prstGeom prst="rect">
            <a:avLst/>
          </a:prstGeom>
          <a:noFill/>
          <a:ln/>
        </p:spPr>
        <p:txBody>
          <a:bodyPr wrap="square" lIns="0" tIns="0" rIns="0" bIns="0" rtlCol="0" anchor="t"/>
          <a:lstStyle/>
          <a:p>
            <a:pPr indent="0" marL="0">
              <a:buNone/>
            </a:pPr>
            <a:r>
              <a:rPr lang="en-US" sz="2400" b="1" dirty="0">
                <a:solidFill>
                  <a:schemeClr val="tx2"/>
                </a:solidFill>
              </a:rPr>
              <a:t>286 s → 3.6 s</a:t>
            </a:r>
            <a:endParaRPr lang="en-US" sz="2400" dirty="0"/>
          </a:p>
        </p:txBody>
      </p:sp>
      <p:sp>
        <p:nvSpPr>
          <p:cNvPr id="9" name="Text 7"/>
          <p:cNvSpPr txBox="1"/>
          <p:nvPr/>
        </p:nvSpPr>
        <p:spPr>
          <a:xfrm>
            <a:off x="4892040" y="1709928"/>
            <a:ext cx="3566160" cy="228600"/>
          </a:xfrm>
          <a:prstGeom prst="rect">
            <a:avLst/>
          </a:prstGeom>
          <a:noFill/>
          <a:ln/>
        </p:spPr>
        <p:txBody>
          <a:bodyPr wrap="square" lIns="0" tIns="0" rIns="0" bIns="0" rtlCol="0" anchor="t"/>
          <a:lstStyle/>
          <a:p>
            <a:pPr indent="0" marL="0">
              <a:buNone/>
            </a:pPr>
            <a:r>
              <a:rPr lang="en-US" sz="1100" b="1" spc="100" kern="0" dirty="0">
                <a:solidFill>
                  <a:schemeClr val="accent2"/>
                </a:solidFill>
              </a:rPr>
              <a:t>PARSE CACHE</a:t>
            </a:r>
            <a:endParaRPr lang="en-US" sz="1100" dirty="0"/>
          </a:p>
        </p:txBody>
      </p:sp>
      <p:sp>
        <p:nvSpPr>
          <p:cNvPr id="10" name="Text 8"/>
          <p:cNvSpPr txBox="1"/>
          <p:nvPr/>
        </p:nvSpPr>
        <p:spPr>
          <a:xfrm>
            <a:off x="4892040" y="1965960"/>
            <a:ext cx="3611880" cy="640080"/>
          </a:xfrm>
          <a:prstGeom prst="rect">
            <a:avLst/>
          </a:prstGeom>
          <a:noFill/>
          <a:ln/>
        </p:spPr>
        <p:txBody>
          <a:bodyPr wrap="square" lIns="0" tIns="0" rIns="0" bIns="0" rtlCol="0" anchor="t"/>
          <a:lstStyle/>
          <a:p>
            <a:pPr indent="0" marL="0">
              <a:buNone/>
            </a:pPr>
            <a:r>
              <a:rPr lang="en-US" sz="1200" dirty="0">
                <a:solidFill>
                  <a:schemeClr val="tx1"/>
                </a:solidFill>
              </a:rPr>
              <a:t>PBS price PDFs parsed once and cached by SHA-256; identical tables on every rebuild</a:t>
            </a:r>
            <a:endParaRPr lang="en-US" sz="1200" dirty="0"/>
          </a:p>
        </p:txBody>
      </p:sp>
      <p:sp>
        <p:nvSpPr>
          <p:cNvPr id="11" name="win 3"/>
          <p:cNvSpPr/>
          <p:nvPr/>
        </p:nvSpPr>
        <p:spPr>
          <a:xfrm>
            <a:off x="457200" y="2807208"/>
            <a:ext cx="4023360" cy="1600200"/>
          </a:xfrm>
          <a:prstGeom prst="roundRect">
            <a:avLst>
              <a:gd name="adj" fmla="val 4571"/>
            </a:avLst>
          </a:prstGeom>
          <a:solidFill>
            <a:schemeClr val="bg2"/>
          </a:solidFill>
          <a:ln w="12700">
            <a:solidFill>
              <a:schemeClr val="bg2"/>
            </a:solidFill>
            <a:prstDash val="solid"/>
          </a:ln>
        </p:spPr>
      </p:sp>
      <p:sp>
        <p:nvSpPr>
          <p:cNvPr id="12" name="Text 10"/>
          <p:cNvSpPr txBox="1"/>
          <p:nvPr/>
        </p:nvSpPr>
        <p:spPr>
          <a:xfrm>
            <a:off x="685800" y="2971800"/>
            <a:ext cx="3566160" cy="457200"/>
          </a:xfrm>
          <a:prstGeom prst="rect">
            <a:avLst/>
          </a:prstGeom>
          <a:noFill/>
          <a:ln/>
        </p:spPr>
        <p:txBody>
          <a:bodyPr wrap="square" lIns="0" tIns="0" rIns="0" bIns="0" rtlCol="0" anchor="t"/>
          <a:lstStyle/>
          <a:p>
            <a:pPr indent="0" marL="0">
              <a:buNone/>
            </a:pPr>
            <a:r>
              <a:rPr lang="en-US" sz="2400" b="1" dirty="0">
                <a:solidFill>
                  <a:schemeClr val="tx2"/>
                </a:solidFill>
              </a:rPr>
              <a:t>Fail-safe runs</a:t>
            </a:r>
            <a:endParaRPr lang="en-US" sz="2400" dirty="0"/>
          </a:p>
        </p:txBody>
      </p:sp>
      <p:sp>
        <p:nvSpPr>
          <p:cNvPr id="13" name="Text 11"/>
          <p:cNvSpPr txBox="1"/>
          <p:nvPr/>
        </p:nvSpPr>
        <p:spPr>
          <a:xfrm>
            <a:off x="685800" y="3465576"/>
            <a:ext cx="3566160" cy="228600"/>
          </a:xfrm>
          <a:prstGeom prst="rect">
            <a:avLst/>
          </a:prstGeom>
          <a:noFill/>
          <a:ln/>
        </p:spPr>
        <p:txBody>
          <a:bodyPr wrap="square" lIns="0" tIns="0" rIns="0" bIns="0" rtlCol="0" anchor="t"/>
          <a:lstStyle/>
          <a:p>
            <a:pPr indent="0" marL="0">
              <a:buNone/>
            </a:pPr>
            <a:r>
              <a:rPr lang="en-US" sz="1100" b="1" spc="100" kern="0" dirty="0">
                <a:solidFill>
                  <a:schemeClr val="accent2"/>
                </a:solidFill>
              </a:rPr>
              <a:t>ATOMIC SWAPS</a:t>
            </a:r>
            <a:endParaRPr lang="en-US" sz="1100" dirty="0"/>
          </a:p>
        </p:txBody>
      </p:sp>
      <p:sp>
        <p:nvSpPr>
          <p:cNvPr id="14" name="Text 12"/>
          <p:cNvSpPr txBox="1"/>
          <p:nvPr/>
        </p:nvSpPr>
        <p:spPr>
          <a:xfrm>
            <a:off x="685800" y="3721608"/>
            <a:ext cx="3611880" cy="640080"/>
          </a:xfrm>
          <a:prstGeom prst="rect">
            <a:avLst/>
          </a:prstGeom>
          <a:noFill/>
          <a:ln/>
        </p:spPr>
        <p:txBody>
          <a:bodyPr wrap="square" lIns="0" tIns="0" rIns="0" bIns="0" rtlCol="0" anchor="t"/>
          <a:lstStyle/>
          <a:p>
            <a:pPr indent="0" marL="0">
              <a:buNone/>
            </a:pPr>
            <a:r>
              <a:rPr lang="en-US" sz="1200" dirty="0">
                <a:solidFill>
                  <a:schemeClr val="tx1"/>
                </a:solidFill>
              </a:rPr>
              <a:t>Each hourly run builds a scratch DuckDB and swaps it in only on success; a failed run never touches live data</a:t>
            </a:r>
            <a:endParaRPr lang="en-US" sz="1200" dirty="0"/>
          </a:p>
        </p:txBody>
      </p:sp>
      <p:sp>
        <p:nvSpPr>
          <p:cNvPr id="15" name="win 4"/>
          <p:cNvSpPr/>
          <p:nvPr/>
        </p:nvSpPr>
        <p:spPr>
          <a:xfrm>
            <a:off x="4663440" y="2807208"/>
            <a:ext cx="4023360" cy="1600200"/>
          </a:xfrm>
          <a:prstGeom prst="roundRect">
            <a:avLst>
              <a:gd name="adj" fmla="val 4571"/>
            </a:avLst>
          </a:prstGeom>
          <a:solidFill>
            <a:schemeClr val="bg2"/>
          </a:solidFill>
          <a:ln w="12700">
            <a:solidFill>
              <a:schemeClr val="bg2"/>
            </a:solidFill>
            <a:prstDash val="solid"/>
          </a:ln>
        </p:spPr>
      </p:sp>
      <p:sp>
        <p:nvSpPr>
          <p:cNvPr id="16" name="Text 14"/>
          <p:cNvSpPr txBox="1"/>
          <p:nvPr/>
        </p:nvSpPr>
        <p:spPr>
          <a:xfrm>
            <a:off x="4892040" y="2971800"/>
            <a:ext cx="3566160" cy="457200"/>
          </a:xfrm>
          <a:prstGeom prst="rect">
            <a:avLst/>
          </a:prstGeom>
          <a:noFill/>
          <a:ln/>
        </p:spPr>
        <p:txBody>
          <a:bodyPr wrap="square" lIns="0" tIns="0" rIns="0" bIns="0" rtlCol="0" anchor="t"/>
          <a:lstStyle/>
          <a:p>
            <a:pPr indent="0" marL="0">
              <a:buNone/>
            </a:pPr>
            <a:r>
              <a:rPr lang="en-US" sz="2400" b="1" dirty="0">
                <a:solidFill>
                  <a:schemeClr val="tx2"/>
                </a:solidFill>
              </a:rPr>
              <a:t>1 command</a:t>
            </a:r>
            <a:endParaRPr lang="en-US" sz="2400" dirty="0"/>
          </a:p>
        </p:txBody>
      </p:sp>
      <p:sp>
        <p:nvSpPr>
          <p:cNvPr id="17" name="Text 15"/>
          <p:cNvSpPr txBox="1"/>
          <p:nvPr/>
        </p:nvSpPr>
        <p:spPr>
          <a:xfrm>
            <a:off x="4892040" y="3465576"/>
            <a:ext cx="3566160" cy="228600"/>
          </a:xfrm>
          <a:prstGeom prst="rect">
            <a:avLst/>
          </a:prstGeom>
          <a:noFill/>
          <a:ln/>
        </p:spPr>
        <p:txBody>
          <a:bodyPr wrap="square" lIns="0" tIns="0" rIns="0" bIns="0" rtlCol="0" anchor="t"/>
          <a:lstStyle/>
          <a:p>
            <a:pPr indent="0" marL="0">
              <a:buNone/>
            </a:pPr>
            <a:r>
              <a:rPr lang="en-US" sz="1100" b="1" spc="100" kern="0" dirty="0">
                <a:solidFill>
                  <a:schemeClr val="accent2"/>
                </a:solidFill>
              </a:rPr>
              <a:t>MAKE DATA</a:t>
            </a:r>
            <a:endParaRPr lang="en-US" sz="1100" dirty="0"/>
          </a:p>
        </p:txBody>
      </p:sp>
      <p:sp>
        <p:nvSpPr>
          <p:cNvPr id="18" name="Text 16"/>
          <p:cNvSpPr txBox="1"/>
          <p:nvPr/>
        </p:nvSpPr>
        <p:spPr>
          <a:xfrm>
            <a:off x="4892040" y="3721608"/>
            <a:ext cx="3611880" cy="640080"/>
          </a:xfrm>
          <a:prstGeom prst="rect">
            <a:avLst/>
          </a:prstGeom>
          <a:noFill/>
          <a:ln/>
        </p:spPr>
        <p:txBody>
          <a:bodyPr wrap="square" lIns="0" tIns="0" rIns="0" bIns="0" rtlCol="0" anchor="t"/>
          <a:lstStyle/>
          <a:p>
            <a:pPr indent="0" marL="0">
              <a:buNone/>
            </a:pPr>
            <a:r>
              <a:rPr lang="en-US" sz="1200" dirty="0">
                <a:solidFill>
                  <a:schemeClr val="tx1"/>
                </a:solidFill>
              </a:rPr>
              <a:t>Rebuilds raw → cleaned → gold from the manifest and refuses any file whose hash changed</a:t>
            </a:r>
            <a:endParaRPr lang="en-US" sz="12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548640"/>
          </a:xfrm>
          <a:prstGeom prst="rect">
            <a:avLst/>
          </a:prstGeom>
          <a:noFill/>
          <a:ln/>
        </p:spPr>
        <p:txBody>
          <a:bodyPr wrap="square" lIns="0" tIns="0" rIns="0" bIns="0" rtlCol="0" anchor="ctr"/>
          <a:lstStyle/>
          <a:p>
            <a:pPr algn="l" indent="0" marL="0">
              <a:buNone/>
            </a:pPr>
            <a:r>
              <a:rPr lang="en-US" sz="2800" b="1" dirty="0">
                <a:solidFill>
                  <a:schemeClr val="tx2"/>
                </a:solidFill>
              </a:rPr>
              <a:t>Dashboard / App Views</a:t>
            </a:r>
            <a:endParaRPr lang="en-US" sz="2800" dirty="0"/>
          </a:p>
        </p:txBody>
      </p:sp>
      <p:sp>
        <p:nvSpPr>
          <p:cNvPr id="3" name="Text 1"/>
          <p:cNvSpPr txBox="1"/>
          <p:nvPr/>
        </p:nvSpPr>
        <p:spPr>
          <a:xfrm>
            <a:off x="457200" y="914400"/>
            <a:ext cx="5212080" cy="228600"/>
          </a:xfrm>
          <a:prstGeom prst="rect">
            <a:avLst/>
          </a:prstGeom>
          <a:noFill/>
          <a:ln/>
        </p:spPr>
        <p:txBody>
          <a:bodyPr wrap="square" lIns="0" tIns="0" rIns="0" bIns="0" rtlCol="0" anchor="t"/>
          <a:lstStyle/>
          <a:p>
            <a:pPr indent="0" marL="0">
              <a:buNone/>
            </a:pPr>
            <a:r>
              <a:rPr lang="en-US" sz="1200" b="1" dirty="0">
                <a:solidFill>
                  <a:schemeClr val="tx2"/>
                </a:solidFill>
              </a:rPr>
              <a:t>Page 1 – Situation Room: risk vs each district's normal</a:t>
            </a:r>
            <a:endParaRPr lang="en-US" sz="1200" dirty="0"/>
          </a:p>
        </p:txBody>
      </p:sp>
      <p:pic>
        <p:nvPicPr>
          <p:cNvPr id="4" name="Page 1 – Situation Room: risk vs each district's normal" descr="Page 1 – Situation Room: risk vs each district's normal">    </p:cNvPr>
          <p:cNvPicPr>
            <a:picLocks noChangeAspect="1"/>
          </p:cNvPicPr>
          <p:nvPr/>
        </p:nvPicPr>
        <p:blipFill>
          <a:blip r:embed="rId1"/>
          <a:stretch>
            <a:fillRect/>
          </a:stretch>
        </p:blipFill>
        <p:spPr>
          <a:xfrm>
            <a:off x="457200" y="1188720"/>
            <a:ext cx="5212080" cy="2931795"/>
          </a:xfrm>
          <a:prstGeom prst="rect">
            <a:avLst/>
          </a:prstGeom>
        </p:spPr>
      </p:pic>
      <p:sp>
        <p:nvSpPr>
          <p:cNvPr id="5" name="Page 1 – Situation Room: risk vs each district's normal frame"/>
          <p:cNvSpPr/>
          <p:nvPr/>
        </p:nvSpPr>
        <p:spPr>
          <a:xfrm>
            <a:off x="457200" y="1188720"/>
            <a:ext cx="5212080" cy="2931795"/>
          </a:xfrm>
          <a:prstGeom prst="rect">
            <a:avLst/>
          </a:prstGeom>
          <a:ln w="9525">
            <a:solidFill>
              <a:srgbClr val="D0D5DD"/>
            </a:solidFill>
            <a:prstDash val="solid"/>
          </a:ln>
        </p:spPr>
      </p:sp>
      <p:sp>
        <p:nvSpPr>
          <p:cNvPr id="6" name="Text 3"/>
          <p:cNvSpPr txBox="1"/>
          <p:nvPr/>
        </p:nvSpPr>
        <p:spPr>
          <a:xfrm>
            <a:off x="5943600" y="914400"/>
            <a:ext cx="2743200" cy="228600"/>
          </a:xfrm>
          <a:prstGeom prst="rect">
            <a:avLst/>
          </a:prstGeom>
          <a:noFill/>
          <a:ln/>
        </p:spPr>
        <p:txBody>
          <a:bodyPr wrap="square" lIns="0" tIns="0" rIns="0" bIns="0" rtlCol="0" anchor="t"/>
          <a:lstStyle/>
          <a:p>
            <a:pPr indent="0" marL="0">
              <a:buNone/>
            </a:pPr>
            <a:r>
              <a:rPr lang="en-US" sz="1200" b="1" dirty="0">
                <a:solidFill>
                  <a:schemeClr val="tx2"/>
                </a:solidFill>
              </a:rPr>
              <a:t>Page 2 – Ask (Insight Agent)</a:t>
            </a:r>
            <a:endParaRPr lang="en-US" sz="1200" dirty="0"/>
          </a:p>
        </p:txBody>
      </p:sp>
      <p:pic>
        <p:nvPicPr>
          <p:cNvPr id="7" name="Page 2 – Ask (Insight Agent)" descr="Page 2 – Ask (Insight Agent)">    </p:cNvPr>
          <p:cNvPicPr>
            <a:picLocks noChangeAspect="1"/>
          </p:cNvPicPr>
          <p:nvPr/>
        </p:nvPicPr>
        <p:blipFill>
          <a:blip r:embed="rId2"/>
          <a:stretch>
            <a:fillRect/>
          </a:stretch>
        </p:blipFill>
        <p:spPr>
          <a:xfrm>
            <a:off x="5943600" y="1188720"/>
            <a:ext cx="2743200" cy="719328"/>
          </a:xfrm>
          <a:prstGeom prst="rect">
            <a:avLst/>
          </a:prstGeom>
        </p:spPr>
      </p:pic>
      <p:sp>
        <p:nvSpPr>
          <p:cNvPr id="8" name="Page 2 – Ask (Insight Agent) frame"/>
          <p:cNvSpPr/>
          <p:nvPr/>
        </p:nvSpPr>
        <p:spPr>
          <a:xfrm>
            <a:off x="5943600" y="1188720"/>
            <a:ext cx="2743200" cy="719328"/>
          </a:xfrm>
          <a:prstGeom prst="rect">
            <a:avLst/>
          </a:prstGeom>
          <a:ln w="9525">
            <a:solidFill>
              <a:srgbClr val="D0D5DD"/>
            </a:solidFill>
            <a:prstDash val="solid"/>
          </a:ln>
        </p:spPr>
      </p:sp>
      <p:sp>
        <p:nvSpPr>
          <p:cNvPr id="9" name="Text 5"/>
          <p:cNvSpPr txBox="1"/>
          <p:nvPr/>
        </p:nvSpPr>
        <p:spPr>
          <a:xfrm>
            <a:off x="5943600" y="2103120"/>
            <a:ext cx="2743200" cy="228600"/>
          </a:xfrm>
          <a:prstGeom prst="rect">
            <a:avLst/>
          </a:prstGeom>
          <a:noFill/>
          <a:ln/>
        </p:spPr>
        <p:txBody>
          <a:bodyPr wrap="square" lIns="0" tIns="0" rIns="0" bIns="0" rtlCol="0" anchor="t"/>
          <a:lstStyle/>
          <a:p>
            <a:pPr indent="0" marL="0">
              <a:buNone/>
            </a:pPr>
            <a:r>
              <a:rPr lang="en-US" sz="1200" b="1" dirty="0">
                <a:solidFill>
                  <a:schemeClr val="tx2"/>
                </a:solidFill>
              </a:rPr>
              <a:t>Page 3 – Live data</a:t>
            </a:r>
            <a:endParaRPr lang="en-US" sz="1200" dirty="0"/>
          </a:p>
        </p:txBody>
      </p:sp>
      <p:pic>
        <p:nvPicPr>
          <p:cNvPr id="10" name="Page 3 – Live data" descr="Page 3 – Live data">    </p:cNvPr>
          <p:cNvPicPr>
            <a:picLocks noChangeAspect="1"/>
          </p:cNvPicPr>
          <p:nvPr/>
        </p:nvPicPr>
        <p:blipFill>
          <a:blip r:embed="rId3"/>
          <a:stretch>
            <a:fillRect/>
          </a:stretch>
        </p:blipFill>
        <p:spPr>
          <a:xfrm>
            <a:off x="5943600" y="2377440"/>
            <a:ext cx="2743200" cy="1543050"/>
          </a:xfrm>
          <a:prstGeom prst="rect">
            <a:avLst/>
          </a:prstGeom>
        </p:spPr>
      </p:pic>
      <p:sp>
        <p:nvSpPr>
          <p:cNvPr id="11" name="Page 3 – Live data frame"/>
          <p:cNvSpPr/>
          <p:nvPr/>
        </p:nvSpPr>
        <p:spPr>
          <a:xfrm>
            <a:off x="5943600" y="2377440"/>
            <a:ext cx="2743200" cy="1543050"/>
          </a:xfrm>
          <a:prstGeom prst="rect">
            <a:avLst/>
          </a:prstGeom>
          <a:ln w="9525">
            <a:solidFill>
              <a:srgbClr val="D0D5DD"/>
            </a:solidFill>
            <a:prstDash val="solid"/>
          </a:ln>
        </p:spPr>
      </p:sp>
      <p:sp>
        <p:nvSpPr>
          <p:cNvPr id="12" name="Text 7"/>
          <p:cNvSpPr txBox="1"/>
          <p:nvPr/>
        </p:nvSpPr>
        <p:spPr>
          <a:xfrm>
            <a:off x="457200" y="4370832"/>
            <a:ext cx="8229600" cy="274320"/>
          </a:xfrm>
          <a:prstGeom prst="rect">
            <a:avLst/>
          </a:prstGeom>
          <a:noFill/>
          <a:ln/>
        </p:spPr>
        <p:txBody>
          <a:bodyPr wrap="square" lIns="0" tIns="0" rIns="0" bIns="0" rtlCol="0" anchor="t"/>
          <a:lstStyle/>
          <a:p>
            <a:pPr indent="0" marL="0">
              <a:buNone/>
            </a:pPr>
            <a:r>
              <a:rPr lang="en-US" sz="1200" b="1" dirty="0">
                <a:solidFill>
                  <a:schemeClr val="tx1"/>
                </a:solidFill>
              </a:rPr>
              <a:t>Live demo: </a:t>
            </a:r>
            <a:pPr indent="0" marL="0">
              <a:buNone/>
            </a:pPr>
            <a:r>
              <a:rPr lang="en-US" sz="1200" dirty="0">
                <a:solidFill>
                  <a:schemeClr val="accent5"/>
                </a:solidFill>
              </a:rPr>
              <a:t>huggingface.co/spaces/RoshaanT1/floodlens-pakistan</a:t>
            </a:r>
            <a:pPr indent="0" marL="0">
              <a:buNone/>
            </a:pPr>
            <a:r>
              <a:rPr lang="en-US" sz="1200" b="1" dirty="0">
                <a:solidFill>
                  <a:schemeClr val="tx1"/>
                </a:solidFill>
              </a:rPr>
              <a:t>   ·   Repo: </a:t>
            </a:r>
            <a:pPr indent="0" marL="0">
              <a:buNone/>
            </a:pPr>
            <a:r>
              <a:rPr lang="en-US" sz="1200" dirty="0">
                <a:solidFill>
                  <a:schemeClr val="accent5"/>
                </a:solidFill>
              </a:rPr>
              <a:t>github.com/RoshaanT1/floodlens-pakistan</a:t>
            </a:r>
            <a:endParaRPr lang="en-US" sz="12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548640"/>
          </a:xfrm>
          <a:prstGeom prst="rect">
            <a:avLst/>
          </a:prstGeom>
          <a:noFill/>
          <a:ln/>
        </p:spPr>
        <p:txBody>
          <a:bodyPr wrap="square" lIns="0" tIns="0" rIns="0" bIns="0" rtlCol="0" anchor="ctr"/>
          <a:lstStyle/>
          <a:p>
            <a:pPr algn="l" indent="0" marL="0">
              <a:buNone/>
            </a:pPr>
            <a:r>
              <a:rPr lang="en-US" sz="2800" b="1" dirty="0">
                <a:solidFill>
                  <a:schemeClr val="tx2"/>
                </a:solidFill>
              </a:rPr>
              <a:t>Model A: How It Works</a:t>
            </a:r>
            <a:endParaRPr lang="en-US" sz="2800" dirty="0"/>
          </a:p>
        </p:txBody>
      </p:sp>
      <p:sp>
        <p:nvSpPr>
          <p:cNvPr id="3" name="model 1"/>
          <p:cNvSpPr/>
          <p:nvPr/>
        </p:nvSpPr>
        <p:spPr>
          <a:xfrm>
            <a:off x="457200" y="1051560"/>
            <a:ext cx="2615184" cy="2331720"/>
          </a:xfrm>
          <a:prstGeom prst="roundRect">
            <a:avLst>
              <a:gd name="adj" fmla="val 3137"/>
            </a:avLst>
          </a:prstGeom>
          <a:solidFill>
            <a:schemeClr val="bg2"/>
          </a:solidFill>
          <a:ln w="12700">
            <a:solidFill>
              <a:schemeClr val="bg2"/>
            </a:solidFill>
            <a:prstDash val="solid"/>
          </a:ln>
        </p:spPr>
      </p:sp>
      <p:sp>
        <p:nvSpPr>
          <p:cNvPr id="4" name="Text 2"/>
          <p:cNvSpPr txBox="1"/>
          <p:nvPr/>
        </p:nvSpPr>
        <p:spPr>
          <a:xfrm>
            <a:off x="658368" y="1216152"/>
            <a:ext cx="2286000" cy="228600"/>
          </a:xfrm>
          <a:prstGeom prst="rect">
            <a:avLst/>
          </a:prstGeom>
          <a:noFill/>
          <a:ln/>
        </p:spPr>
        <p:txBody>
          <a:bodyPr wrap="square" lIns="0" tIns="0" rIns="0" bIns="0" rtlCol="0" anchor="t"/>
          <a:lstStyle/>
          <a:p>
            <a:pPr indent="0" marL="0">
              <a:buNone/>
            </a:pPr>
            <a:r>
              <a:rPr lang="en-US" sz="1100" b="1" spc="100" kern="0" dirty="0">
                <a:solidFill>
                  <a:schemeClr val="accent2"/>
                </a:solidFill>
              </a:rPr>
              <a:t>ALGORITHM</a:t>
            </a:r>
            <a:endParaRPr lang="en-US" sz="1100" dirty="0"/>
          </a:p>
        </p:txBody>
      </p:sp>
      <p:sp>
        <p:nvSpPr>
          <p:cNvPr id="5" name="Text 3"/>
          <p:cNvSpPr txBox="1"/>
          <p:nvPr/>
        </p:nvSpPr>
        <p:spPr>
          <a:xfrm>
            <a:off x="658368" y="1481328"/>
            <a:ext cx="2286000" cy="320040"/>
          </a:xfrm>
          <a:prstGeom prst="rect">
            <a:avLst/>
          </a:prstGeom>
          <a:noFill/>
          <a:ln/>
        </p:spPr>
        <p:txBody>
          <a:bodyPr wrap="square" lIns="0" tIns="0" rIns="0" bIns="0" rtlCol="0" anchor="t"/>
          <a:lstStyle/>
          <a:p>
            <a:pPr indent="0" marL="0">
              <a:buNone/>
            </a:pPr>
            <a:r>
              <a:rPr lang="en-US" sz="1500" b="1" dirty="0">
                <a:solidFill>
                  <a:schemeClr val="tx2"/>
                </a:solidFill>
              </a:rPr>
              <a:t>Gradient boosting</a:t>
            </a:r>
            <a:endParaRPr lang="en-US" sz="1500" dirty="0"/>
          </a:p>
        </p:txBody>
      </p:sp>
      <p:sp>
        <p:nvSpPr>
          <p:cNvPr id="6" name="Text 4"/>
          <p:cNvSpPr txBox="1"/>
          <p:nvPr/>
        </p:nvSpPr>
        <p:spPr>
          <a:xfrm>
            <a:off x="658368" y="1847088"/>
            <a:ext cx="2240280" cy="1463040"/>
          </a:xfrm>
          <a:prstGeom prst="rect">
            <a:avLst/>
          </a:prstGeom>
          <a:noFill/>
          <a:ln/>
        </p:spPr>
        <p:txBody>
          <a:bodyPr wrap="square" lIns="0" tIns="0" rIns="0" bIns="0" rtlCol="0" anchor="t"/>
          <a:lstStyle/>
          <a:p>
            <a:pPr indent="0" marL="0">
              <a:buNone/>
            </a:pPr>
            <a:r>
              <a:rPr lang="en-US" sz="1200" dirty="0">
                <a:solidFill>
                  <a:schemeClr val="tx1"/>
                </a:solidFill>
              </a:rPr>
              <a:t>scikit-learn HistGradientBoosting: 300 iterations, 15 leaf nodes, ≥100 samples per leaf, L2 = 1. Chosen over logistic regression on validation (Brier 0.0233 vs 0.0238).</a:t>
            </a:r>
            <a:endParaRPr lang="en-US" sz="1200" dirty="0"/>
          </a:p>
        </p:txBody>
      </p:sp>
      <p:sp>
        <p:nvSpPr>
          <p:cNvPr id="7" name="model 2"/>
          <p:cNvSpPr/>
          <p:nvPr/>
        </p:nvSpPr>
        <p:spPr>
          <a:xfrm>
            <a:off x="3264408" y="1051560"/>
            <a:ext cx="2615184" cy="2331720"/>
          </a:xfrm>
          <a:prstGeom prst="roundRect">
            <a:avLst>
              <a:gd name="adj" fmla="val 3137"/>
            </a:avLst>
          </a:prstGeom>
          <a:solidFill>
            <a:schemeClr val="bg2"/>
          </a:solidFill>
          <a:ln w="12700">
            <a:solidFill>
              <a:schemeClr val="bg2"/>
            </a:solidFill>
            <a:prstDash val="solid"/>
          </a:ln>
        </p:spPr>
      </p:sp>
      <p:sp>
        <p:nvSpPr>
          <p:cNvPr id="8" name="Text 6"/>
          <p:cNvSpPr txBox="1"/>
          <p:nvPr/>
        </p:nvSpPr>
        <p:spPr>
          <a:xfrm>
            <a:off x="3465576" y="1216152"/>
            <a:ext cx="2286000" cy="228600"/>
          </a:xfrm>
          <a:prstGeom prst="rect">
            <a:avLst/>
          </a:prstGeom>
          <a:noFill/>
          <a:ln/>
        </p:spPr>
        <p:txBody>
          <a:bodyPr wrap="square" lIns="0" tIns="0" rIns="0" bIns="0" rtlCol="0" anchor="t"/>
          <a:lstStyle/>
          <a:p>
            <a:pPr indent="0" marL="0">
              <a:buNone/>
            </a:pPr>
            <a:r>
              <a:rPr lang="en-US" sz="1100" b="1" spc="100" kern="0" dirty="0">
                <a:solidFill>
                  <a:schemeClr val="accent2"/>
                </a:solidFill>
              </a:rPr>
              <a:t>CALIBRATION</a:t>
            </a:r>
            <a:endParaRPr lang="en-US" sz="1100" dirty="0"/>
          </a:p>
        </p:txBody>
      </p:sp>
      <p:sp>
        <p:nvSpPr>
          <p:cNvPr id="9" name="Text 7"/>
          <p:cNvSpPr txBox="1"/>
          <p:nvPr/>
        </p:nvSpPr>
        <p:spPr>
          <a:xfrm>
            <a:off x="3465576" y="1481328"/>
            <a:ext cx="2286000" cy="320040"/>
          </a:xfrm>
          <a:prstGeom prst="rect">
            <a:avLst/>
          </a:prstGeom>
          <a:noFill/>
          <a:ln/>
        </p:spPr>
        <p:txBody>
          <a:bodyPr wrap="square" lIns="0" tIns="0" rIns="0" bIns="0" rtlCol="0" anchor="t"/>
          <a:lstStyle/>
          <a:p>
            <a:pPr indent="0" marL="0">
              <a:buNone/>
            </a:pPr>
            <a:r>
              <a:rPr lang="en-US" sz="1500" b="1" dirty="0">
                <a:solidFill>
                  <a:schemeClr val="tx2"/>
                </a:solidFill>
              </a:rPr>
              <a:t>Probabilities you can trust</a:t>
            </a:r>
            <a:endParaRPr lang="en-US" sz="1500" dirty="0"/>
          </a:p>
        </p:txBody>
      </p:sp>
      <p:sp>
        <p:nvSpPr>
          <p:cNvPr id="10" name="Text 8"/>
          <p:cNvSpPr txBox="1"/>
          <p:nvPr/>
        </p:nvSpPr>
        <p:spPr>
          <a:xfrm>
            <a:off x="3465576" y="1847088"/>
            <a:ext cx="2240280" cy="1463040"/>
          </a:xfrm>
          <a:prstGeom prst="rect">
            <a:avLst/>
          </a:prstGeom>
          <a:noFill/>
          <a:ln/>
        </p:spPr>
        <p:txBody>
          <a:bodyPr wrap="square" lIns="0" tIns="0" rIns="0" bIns="0" rtlCol="0" anchor="t"/>
          <a:lstStyle/>
          <a:p>
            <a:pPr indent="0" marL="0">
              <a:buNone/>
            </a:pPr>
            <a:r>
              <a:rPr lang="en-US" sz="1200" dirty="0">
                <a:solidFill>
                  <a:schemeClr val="tx1"/>
                </a:solidFill>
              </a:rPr>
              <a:t>Platt scaling fitted on the validation period, never on test, so a 20% warning should mean heavy rain about 1 time in 5.</a:t>
            </a:r>
            <a:endParaRPr lang="en-US" sz="1200" dirty="0"/>
          </a:p>
        </p:txBody>
      </p:sp>
      <p:sp>
        <p:nvSpPr>
          <p:cNvPr id="11" name="model 3"/>
          <p:cNvSpPr/>
          <p:nvPr/>
        </p:nvSpPr>
        <p:spPr>
          <a:xfrm>
            <a:off x="6071616" y="1051560"/>
            <a:ext cx="2615184" cy="2331720"/>
          </a:xfrm>
          <a:prstGeom prst="roundRect">
            <a:avLst>
              <a:gd name="adj" fmla="val 3137"/>
            </a:avLst>
          </a:prstGeom>
          <a:solidFill>
            <a:schemeClr val="bg2"/>
          </a:solidFill>
          <a:ln w="12700">
            <a:solidFill>
              <a:schemeClr val="bg2"/>
            </a:solidFill>
            <a:prstDash val="solid"/>
          </a:ln>
        </p:spPr>
      </p:sp>
      <p:sp>
        <p:nvSpPr>
          <p:cNvPr id="12" name="Text 10"/>
          <p:cNvSpPr txBox="1"/>
          <p:nvPr/>
        </p:nvSpPr>
        <p:spPr>
          <a:xfrm>
            <a:off x="6272784" y="1216152"/>
            <a:ext cx="2286000" cy="228600"/>
          </a:xfrm>
          <a:prstGeom prst="rect">
            <a:avLst/>
          </a:prstGeom>
          <a:noFill/>
          <a:ln/>
        </p:spPr>
        <p:txBody>
          <a:bodyPr wrap="square" lIns="0" tIns="0" rIns="0" bIns="0" rtlCol="0" anchor="t"/>
          <a:lstStyle/>
          <a:p>
            <a:pPr indent="0" marL="0">
              <a:buNone/>
            </a:pPr>
            <a:r>
              <a:rPr lang="en-US" sz="1100" b="1" spc="100" kern="0" dirty="0">
                <a:solidFill>
                  <a:schemeClr val="accent2"/>
                </a:solidFill>
              </a:rPr>
              <a:t>NO LEAKAGE</a:t>
            </a:r>
            <a:endParaRPr lang="en-US" sz="1100" dirty="0"/>
          </a:p>
        </p:txBody>
      </p:sp>
      <p:sp>
        <p:nvSpPr>
          <p:cNvPr id="13" name="Text 11"/>
          <p:cNvSpPr txBox="1"/>
          <p:nvPr/>
        </p:nvSpPr>
        <p:spPr>
          <a:xfrm>
            <a:off x="6272784" y="1481328"/>
            <a:ext cx="2286000" cy="320040"/>
          </a:xfrm>
          <a:prstGeom prst="rect">
            <a:avLst/>
          </a:prstGeom>
          <a:noFill/>
          <a:ln/>
        </p:spPr>
        <p:txBody>
          <a:bodyPr wrap="square" lIns="0" tIns="0" rIns="0" bIns="0" rtlCol="0" anchor="t"/>
          <a:lstStyle/>
          <a:p>
            <a:pPr indent="0" marL="0">
              <a:buNone/>
            </a:pPr>
            <a:r>
              <a:rPr lang="en-US" sz="1500" b="1" dirty="0">
                <a:solidFill>
                  <a:schemeClr val="tx2"/>
                </a:solidFill>
              </a:rPr>
              <a:t>Only what was known</a:t>
            </a:r>
            <a:endParaRPr lang="en-US" sz="1500" dirty="0"/>
          </a:p>
        </p:txBody>
      </p:sp>
      <p:sp>
        <p:nvSpPr>
          <p:cNvPr id="14" name="Text 12"/>
          <p:cNvSpPr txBox="1"/>
          <p:nvPr/>
        </p:nvSpPr>
        <p:spPr>
          <a:xfrm>
            <a:off x="6272784" y="1847088"/>
            <a:ext cx="2240280" cy="1463040"/>
          </a:xfrm>
          <a:prstGeom prst="rect">
            <a:avLst/>
          </a:prstGeom>
          <a:noFill/>
          <a:ln/>
        </p:spPr>
        <p:txBody>
          <a:bodyPr wrap="square" lIns="0" tIns="0" rIns="0" bIns="0" rtlCol="0" anchor="t"/>
          <a:lstStyle/>
          <a:p>
            <a:pPr indent="0" marL="0">
              <a:buNone/>
            </a:pPr>
            <a:r>
              <a:rPr lang="en-US" sz="1200" dirty="0">
                <a:solidFill>
                  <a:schemeClr val="tx1"/>
                </a:solidFill>
              </a:rPr>
              <a:t>Forecasts issued 1–3 days before the target day; satellite rain only from days that ended ≥14 h before issue. Automated tests enforce both.</a:t>
            </a:r>
            <a:endParaRPr lang="en-US" sz="1200" dirty="0"/>
          </a:p>
        </p:txBody>
      </p:sp>
      <p:sp>
        <p:nvSpPr>
          <p:cNvPr id="15" name="splits"/>
          <p:cNvSpPr/>
          <p:nvPr/>
        </p:nvSpPr>
        <p:spPr>
          <a:xfrm>
            <a:off x="457200" y="3566160"/>
            <a:ext cx="8229600" cy="914400"/>
          </a:xfrm>
          <a:prstGeom prst="roundRect">
            <a:avLst>
              <a:gd name="adj" fmla="val 8000"/>
            </a:avLst>
          </a:prstGeom>
          <a:solidFill>
            <a:schemeClr val="tx2"/>
          </a:solidFill>
          <a:ln w="12700">
            <a:solidFill>
              <a:schemeClr val="tx2"/>
            </a:solidFill>
            <a:prstDash val="solid"/>
          </a:ln>
        </p:spPr>
      </p:sp>
      <p:sp>
        <p:nvSpPr>
          <p:cNvPr id="16" name="Text 14"/>
          <p:cNvSpPr txBox="1"/>
          <p:nvPr/>
        </p:nvSpPr>
        <p:spPr>
          <a:xfrm>
            <a:off x="685800" y="3566160"/>
            <a:ext cx="7772400" cy="914400"/>
          </a:xfrm>
          <a:prstGeom prst="rect">
            <a:avLst/>
          </a:prstGeom>
          <a:noFill/>
          <a:ln/>
        </p:spPr>
        <p:txBody>
          <a:bodyPr wrap="square" lIns="0" tIns="0" rIns="0" bIns="0" rtlCol="0" anchor="ctr"/>
          <a:lstStyle/>
          <a:p>
            <a:pPr indent="0" marL="0">
              <a:buNone/>
            </a:pPr>
            <a:r>
              <a:rPr lang="en-US" sz="1300" b="1" dirty="0">
                <a:solidFill>
                  <a:schemeClr val="bg1"/>
                </a:solidFill>
              </a:rPr>
              <a:t>Fixed time splits:  </a:t>
            </a:r>
            <a:pPr indent="0" marL="0">
              <a:buNone/>
            </a:pPr>
            <a:r>
              <a:rPr lang="en-US" sz="1300" dirty="0">
                <a:solidFill>
                  <a:schemeClr val="bg1"/>
                </a:solidFill>
              </a:rPr>
              <a:t>train to 30 Jun 2025 · validate Jul–Dec 2025 · test 1 Jan–16 Oct 2026, run once with the frozen model. Baseline declared in advance: district-by-month climatology.</a:t>
            </a:r>
            <a:endParaRPr lang="en-US" sz="13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548640"/>
          </a:xfrm>
          <a:prstGeom prst="rect">
            <a:avLst/>
          </a:prstGeom>
          <a:noFill/>
          <a:ln/>
        </p:spPr>
        <p:txBody>
          <a:bodyPr wrap="square" lIns="0" tIns="0" rIns="0" bIns="0" rtlCol="0" anchor="ctr"/>
          <a:lstStyle/>
          <a:p>
            <a:pPr algn="l" indent="0" marL="0">
              <a:buNone/>
            </a:pPr>
            <a:r>
              <a:rPr lang="en-US" sz="2800" b="1" dirty="0">
                <a:solidFill>
                  <a:schemeClr val="tx2"/>
                </a:solidFill>
              </a:rPr>
              <a:t>Results vs Baseline</a:t>
            </a:r>
            <a:endParaRPr lang="en-US" sz="2800" dirty="0"/>
          </a:p>
        </p:txBody>
      </p:sp>
      <p:sp>
        <p:nvSpPr>
          <p:cNvPr id="3" name="Text 1"/>
          <p:cNvSpPr txBox="1"/>
          <p:nvPr/>
        </p:nvSpPr>
        <p:spPr>
          <a:xfrm>
            <a:off x="457200" y="914400"/>
            <a:ext cx="4937760" cy="274320"/>
          </a:xfrm>
          <a:prstGeom prst="rect">
            <a:avLst/>
          </a:prstGeom>
          <a:noFill/>
          <a:ln/>
        </p:spPr>
        <p:txBody>
          <a:bodyPr wrap="square" lIns="0" tIns="0" rIns="0" bIns="0" rtlCol="0" anchor="t"/>
          <a:lstStyle/>
          <a:p>
            <a:pPr indent="0" marL="0">
              <a:buNone/>
            </a:pPr>
            <a:r>
              <a:rPr lang="en-US" sz="1200" b="1" dirty="0">
                <a:solidFill>
                  <a:schemeClr val="accent2"/>
                </a:solidFill>
              </a:rPr>
              <a:t>TEST SET 1 Jan–16 Oct 2026, run once · Brier [95% CI], lower is better</a:t>
            </a:r>
            <a:endParaRPr lang="en-US" sz="1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4937760" cy="914400"/>
        </p:xfrm>
        <a:graphic>
          <a:graphicData uri="http://schemas.openxmlformats.org/drawingml/2006/table">
            <a:tbl>
              <a:tblPr/>
              <a:tblGrid>
                <a:gridCol w="1371600"/>
                <a:gridCol w="1188720"/>
                <a:gridCol w="1188720"/>
                <a:gridCol w="1188720"/>
              </a:tblGrid>
              <a:tr h="292608">
                <a:tc>
                  <a:txBody>
                    <a:bodyPr/>
                    <a:lstStyle/>
                    <a:p>
                      <a:pPr algn="ctr" indent="0" marL="0">
                        <a:buNone/>
                      </a:pPr>
                      <a:endParaRPr lang="en-US" sz="1100" dirty="0"/>
                    </a:p>
                  </a:txBody>
                  <a:tcPr marL="54864" marR="54864" marT="27432" marB="27432"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0B5D2A"/>
                    </a:solidFill>
                  </a:tcPr>
                </a:tc>
                <a:tc>
                  <a:txBody>
                    <a:bodyPr/>
                    <a:lstStyle/>
                    <a:p>
                      <a:pPr algn="ctr" indent="0" marL="0">
                        <a:buNone/>
                      </a:pPr>
                      <a:r>
                        <a:rPr lang="en-US" sz="1100" b="1" dirty="0">
                          <a:solidFill>
                            <a:srgbClr val="FFFFFF"/>
                          </a:solidFill>
                        </a:rPr>
                        <a:t>24 h</a:t>
                      </a:r>
                      <a:endParaRPr lang="en-US" sz="1100" dirty="0"/>
                    </a:p>
                  </a:txBody>
                  <a:tcPr marL="54864" marR="54864" marT="27432" marB="27432"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0B5D2A"/>
                    </a:solidFill>
                  </a:tcPr>
                </a:tc>
                <a:tc>
                  <a:txBody>
                    <a:bodyPr/>
                    <a:lstStyle/>
                    <a:p>
                      <a:pPr algn="ctr" indent="0" marL="0">
                        <a:buNone/>
                      </a:pPr>
                      <a:r>
                        <a:rPr lang="en-US" sz="1100" b="1" dirty="0">
                          <a:solidFill>
                            <a:srgbClr val="FFFFFF"/>
                          </a:solidFill>
                        </a:rPr>
                        <a:t>48 h</a:t>
                      </a:r>
                      <a:endParaRPr lang="en-US" sz="1100" dirty="0"/>
                    </a:p>
                  </a:txBody>
                  <a:tcPr marL="54864" marR="54864" marT="27432" marB="27432"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0B5D2A"/>
                    </a:solidFill>
                  </a:tcPr>
                </a:tc>
                <a:tc>
                  <a:txBody>
                    <a:bodyPr/>
                    <a:lstStyle/>
                    <a:p>
                      <a:pPr algn="ctr" indent="0" marL="0">
                        <a:buNone/>
                      </a:pPr>
                      <a:r>
                        <a:rPr lang="en-US" sz="1100" b="1" dirty="0">
                          <a:solidFill>
                            <a:srgbClr val="FFFFFF"/>
                          </a:solidFill>
                        </a:rPr>
                        <a:t>72 h</a:t>
                      </a:r>
                      <a:endParaRPr lang="en-US" sz="1100" dirty="0"/>
                    </a:p>
                  </a:txBody>
                  <a:tcPr marL="54864" marR="54864" marT="27432" marB="27432"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0B5D2A"/>
                    </a:solidFill>
                  </a:tcPr>
                </a:tc>
              </a:tr>
              <a:tr h="502920">
                <a:tc>
                  <a:txBody>
                    <a:bodyPr/>
                    <a:lstStyle/>
                    <a:p>
                      <a:pPr algn="ctr" indent="0" marL="0">
                        <a:buNone/>
                      </a:pPr>
                      <a:r>
                        <a:rPr lang="en-US" sz="1100" b="1" dirty="0">
                          <a:solidFill>
                            <a:srgbClr val="0B5D2A"/>
                          </a:solidFill>
                        </a:rPr>
                        <a:t>Model (GBM)</a:t>
                      </a:r>
                      <a:endParaRPr lang="en-US" sz="1100" dirty="0"/>
                    </a:p>
                  </a:txBody>
                  <a:tcPr marL="54864" marR="54864" marT="27432" marB="27432"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c>
                  <a:txBody>
                    <a:bodyPr/>
                    <a:lstStyle/>
                    <a:p>
                      <a:pPr algn="ctr" indent="0" marL="0">
                        <a:buNone/>
                      </a:pPr>
                      <a:r>
                        <a:rPr lang="en-US" sz="1100" b="1" dirty="0">
                          <a:solidFill>
                            <a:srgbClr val="0B5D2A"/>
                          </a:solidFill>
                        </a:rPr>
                        <a:t>0.0177</a:t>
                      </a:r>
                      <a:endParaRPr lang="en-US" sz="1100" dirty="0"/>
                    </a:p>
                    <a:p>
                      <a:pPr algn="ctr" indent="0" marL="0">
                        <a:buNone/>
                      </a:pPr>
                      <a:r>
                        <a:rPr lang="en-US" sz="1100" b="1" dirty="0">
                          <a:solidFill>
                            <a:srgbClr val="0B5D2A"/>
                          </a:solidFill>
                        </a:rPr>
                        <a:t>[0.0146, 0.0213]</a:t>
                      </a:r>
                      <a:endParaRPr lang="en-US" sz="1100" dirty="0"/>
                    </a:p>
                  </a:txBody>
                  <a:tcPr marL="54864" marR="54864" marT="27432" marB="27432"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c>
                  <a:txBody>
                    <a:bodyPr/>
                    <a:lstStyle/>
                    <a:p>
                      <a:pPr algn="ctr" indent="0" marL="0">
                        <a:buNone/>
                      </a:pPr>
                      <a:r>
                        <a:rPr lang="en-US" sz="1100" b="1" dirty="0">
                          <a:solidFill>
                            <a:srgbClr val="0B5D2A"/>
                          </a:solidFill>
                        </a:rPr>
                        <a:t>0.0178</a:t>
                      </a:r>
                      <a:endParaRPr lang="en-US" sz="1100" dirty="0"/>
                    </a:p>
                    <a:p>
                      <a:pPr algn="ctr" indent="0" marL="0">
                        <a:buNone/>
                      </a:pPr>
                      <a:r>
                        <a:rPr lang="en-US" sz="1100" b="1" dirty="0">
                          <a:solidFill>
                            <a:srgbClr val="0B5D2A"/>
                          </a:solidFill>
                        </a:rPr>
                        <a:t>[0.0147, 0.0214]</a:t>
                      </a:r>
                      <a:endParaRPr lang="en-US" sz="1100" dirty="0"/>
                    </a:p>
                  </a:txBody>
                  <a:tcPr marL="54864" marR="54864" marT="27432" marB="27432"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c>
                  <a:txBody>
                    <a:bodyPr/>
                    <a:lstStyle/>
                    <a:p>
                      <a:pPr algn="ctr" indent="0" marL="0">
                        <a:buNone/>
                      </a:pPr>
                      <a:r>
                        <a:rPr lang="en-US" sz="1100" b="1" dirty="0">
                          <a:solidFill>
                            <a:srgbClr val="0B5D2A"/>
                          </a:solidFill>
                        </a:rPr>
                        <a:t>0.0179</a:t>
                      </a:r>
                      <a:endParaRPr lang="en-US" sz="1100" dirty="0"/>
                    </a:p>
                    <a:p>
                      <a:pPr algn="ctr" indent="0" marL="0">
                        <a:buNone/>
                      </a:pPr>
                      <a:r>
                        <a:rPr lang="en-US" sz="1100" b="1" dirty="0">
                          <a:solidFill>
                            <a:srgbClr val="0B5D2A"/>
                          </a:solidFill>
                        </a:rPr>
                        <a:t>[0.0148, 0.0215]</a:t>
                      </a:r>
                      <a:endParaRPr lang="en-US" sz="1100" dirty="0"/>
                    </a:p>
                  </a:txBody>
                  <a:tcPr marL="54864" marR="54864" marT="27432" marB="27432"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r>
              <a:tr h="502920">
                <a:tc>
                  <a:txBody>
                    <a:bodyPr/>
                    <a:lstStyle/>
                    <a:p>
                      <a:pPr algn="ctr" indent="0" marL="0">
                        <a:buNone/>
                      </a:pPr>
                      <a:r>
                        <a:rPr lang="en-US" sz="1100" dirty="0">
                          <a:solidFill>
                            <a:srgbClr val="1F2933"/>
                          </a:solidFill>
                        </a:rPr>
                        <a:t>Climatology (declared)</a:t>
                      </a:r>
                      <a:endParaRPr lang="en-US" sz="1100" dirty="0"/>
                    </a:p>
                  </a:txBody>
                  <a:tcPr marL="54864" marR="54864" marT="27432" marB="27432"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c>
                  <a:txBody>
                    <a:bodyPr/>
                    <a:lstStyle/>
                    <a:p>
                      <a:pPr algn="ctr" indent="0" marL="0">
                        <a:buNone/>
                      </a:pPr>
                      <a:r>
                        <a:rPr lang="en-US" sz="1100" dirty="0">
                          <a:solidFill>
                            <a:srgbClr val="1F2933"/>
                          </a:solidFill>
                        </a:rPr>
                        <a:t>0.0192</a:t>
                      </a:r>
                      <a:endParaRPr lang="en-US" sz="1100" dirty="0"/>
                    </a:p>
                    <a:p>
                      <a:pPr algn="ctr" indent="0" marL="0">
                        <a:buNone/>
                      </a:pPr>
                      <a:r>
                        <a:rPr lang="en-US" sz="1100" dirty="0">
                          <a:solidFill>
                            <a:srgbClr val="1F2933"/>
                          </a:solidFill>
                        </a:rPr>
                        <a:t>[0.0156, 0.0231]</a:t>
                      </a:r>
                      <a:endParaRPr lang="en-US" sz="1100" dirty="0"/>
                    </a:p>
                  </a:txBody>
                  <a:tcPr marL="54864" marR="54864" marT="27432" marB="27432"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c>
                  <a:txBody>
                    <a:bodyPr/>
                    <a:lstStyle/>
                    <a:p>
                      <a:pPr algn="ctr" indent="0" marL="0">
                        <a:buNone/>
                      </a:pPr>
                      <a:r>
                        <a:rPr lang="en-US" sz="1100" dirty="0">
                          <a:solidFill>
                            <a:srgbClr val="1F2933"/>
                          </a:solidFill>
                        </a:rPr>
                        <a:t>0.0192</a:t>
                      </a:r>
                      <a:endParaRPr lang="en-US" sz="1100" dirty="0"/>
                    </a:p>
                  </a:txBody>
                  <a:tcPr marL="54864" marR="54864" marT="27432" marB="27432"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c>
                  <a:txBody>
                    <a:bodyPr/>
                    <a:lstStyle/>
                    <a:p>
                      <a:pPr algn="ctr" indent="0" marL="0">
                        <a:buNone/>
                      </a:pPr>
                      <a:r>
                        <a:rPr lang="en-US" sz="1100" dirty="0">
                          <a:solidFill>
                            <a:srgbClr val="1F2933"/>
                          </a:solidFill>
                        </a:rPr>
                        <a:t>0.0192</a:t>
                      </a:r>
                      <a:endParaRPr lang="en-US" sz="1100" dirty="0"/>
                    </a:p>
                  </a:txBody>
                  <a:tcPr marL="54864" marR="54864" marT="27432" marB="27432"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r>
              <a:tr h="502920">
                <a:tc>
                  <a:txBody>
                    <a:bodyPr/>
                    <a:lstStyle/>
                    <a:p>
                      <a:pPr algn="ctr" indent="0" marL="0">
                        <a:buNone/>
                      </a:pPr>
                      <a:r>
                        <a:rPr lang="en-US" sz="1100" dirty="0">
                          <a:solidFill>
                            <a:srgbClr val="1F2933"/>
                          </a:solidFill>
                        </a:rPr>
                        <a:t>Paired difference</a:t>
                      </a:r>
                      <a:endParaRPr lang="en-US" sz="1100" dirty="0"/>
                    </a:p>
                  </a:txBody>
                  <a:tcPr marL="54864" marR="54864" marT="27432" marB="27432"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c>
                  <a:txBody>
                    <a:bodyPr/>
                    <a:lstStyle/>
                    <a:p>
                      <a:pPr algn="ctr" indent="0" marL="0">
                        <a:buNone/>
                      </a:pPr>
                      <a:r>
                        <a:rPr lang="en-US" sz="1100" dirty="0">
                          <a:solidFill>
                            <a:srgbClr val="1F2933"/>
                          </a:solidFill>
                        </a:rPr>
                        <a:t>−0.0014</a:t>
                      </a:r>
                      <a:endParaRPr lang="en-US" sz="1100" dirty="0"/>
                    </a:p>
                    <a:p>
                      <a:pPr algn="ctr" indent="0" marL="0">
                        <a:buNone/>
                      </a:pPr>
                      <a:r>
                        <a:rPr lang="en-US" sz="1100" dirty="0">
                          <a:solidFill>
                            <a:srgbClr val="1F2933"/>
                          </a:solidFill>
                        </a:rPr>
                        <a:t>[−0.0022, −0.0008]</a:t>
                      </a:r>
                      <a:endParaRPr lang="en-US" sz="1100" dirty="0"/>
                    </a:p>
                  </a:txBody>
                  <a:tcPr marL="54864" marR="54864" marT="27432" marB="27432"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c>
                  <a:txBody>
                    <a:bodyPr/>
                    <a:lstStyle/>
                    <a:p>
                      <a:pPr algn="ctr" indent="0" marL="0">
                        <a:buNone/>
                      </a:pPr>
                      <a:r>
                        <a:rPr lang="en-US" sz="1100" dirty="0">
                          <a:solidFill>
                            <a:srgbClr val="1F2933"/>
                          </a:solidFill>
                        </a:rPr>
                        <a:t>−0.0013</a:t>
                      </a:r>
                      <a:endParaRPr lang="en-US" sz="1100" dirty="0"/>
                    </a:p>
                    <a:p>
                      <a:pPr algn="ctr" indent="0" marL="0">
                        <a:buNone/>
                      </a:pPr>
                      <a:r>
                        <a:rPr lang="en-US" sz="1100" dirty="0">
                          <a:solidFill>
                            <a:srgbClr val="1F2933"/>
                          </a:solidFill>
                        </a:rPr>
                        <a:t>[−0.0021, −0.0007]</a:t>
                      </a:r>
                      <a:endParaRPr lang="en-US" sz="1100" dirty="0"/>
                    </a:p>
                  </a:txBody>
                  <a:tcPr marL="54864" marR="54864" marT="27432" marB="27432"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c>
                  <a:txBody>
                    <a:bodyPr/>
                    <a:lstStyle/>
                    <a:p>
                      <a:pPr algn="ctr" indent="0" marL="0">
                        <a:buNone/>
                      </a:pPr>
                      <a:r>
                        <a:rPr lang="en-US" sz="1100" dirty="0">
                          <a:solidFill>
                            <a:srgbClr val="1F2933"/>
                          </a:solidFill>
                        </a:rPr>
                        <a:t>−0.0013</a:t>
                      </a:r>
                      <a:endParaRPr lang="en-US" sz="1100" dirty="0"/>
                    </a:p>
                    <a:p>
                      <a:pPr algn="ctr" indent="0" marL="0">
                        <a:buNone/>
                      </a:pPr>
                      <a:r>
                        <a:rPr lang="en-US" sz="1100" dirty="0">
                          <a:solidFill>
                            <a:srgbClr val="1F2933"/>
                          </a:solidFill>
                        </a:rPr>
                        <a:t>[−0.0019, −0.0007]</a:t>
                      </a:r>
                      <a:endParaRPr lang="en-US" sz="1100" dirty="0"/>
                    </a:p>
                  </a:txBody>
                  <a:tcPr marL="54864" marR="54864" marT="27432" marB="27432"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r>
            </a:tbl>
          </a:graphicData>
        </a:graphic>
      </p:graphicFrame>
      <p:sp>
        <p:nvSpPr>
          <p:cNvPr id="5" name="Text 2"/>
          <p:cNvSpPr txBox="1"/>
          <p:nvPr/>
        </p:nvSpPr>
        <p:spPr>
          <a:xfrm>
            <a:off x="457200" y="3200400"/>
            <a:ext cx="4937760" cy="914400"/>
          </a:xfrm>
          <a:prstGeom prst="rect">
            <a:avLst/>
          </a:prstGeom>
          <a:noFill/>
          <a:ln/>
        </p:spPr>
        <p:txBody>
          <a:bodyPr wrap="square" lIns="0" tIns="0" rIns="0" bIns="0" rtlCol="0" anchor="t"/>
          <a:lstStyle/>
          <a:p>
            <a:pPr indent="0" marL="0">
              <a:spcAft>
                <a:spcPts val="400"/>
              </a:spcAft>
              <a:buNone/>
            </a:pPr>
            <a:r>
              <a:rPr lang="en-US" sz="1150" dirty="0">
                <a:solidFill>
                  <a:schemeClr val="tx1"/>
                </a:solidFill>
              </a:rPr>
              <a:t>Monsoon months: 0.0237 vs 0.0251 · Validation (model choice): GBM 0.0233, logistic 0.0238, climatology 0.0249</a:t>
            </a:r>
            <a:endParaRPr lang="en-US" sz="1150" dirty="0"/>
          </a:p>
          <a:p>
            <a:pPr indent="0" marL="0">
              <a:spcAft>
                <a:spcPts val="400"/>
              </a:spcAft>
              <a:buNone/>
            </a:pPr>
            <a:r>
              <a:rPr lang="en-US" sz="1150" dirty="0">
                <a:solidFill>
                  <a:schemeClr val="tx1"/>
                </a:solidFill>
              </a:rPr>
              <a:t>Time-based splits (train ≤ Jun 2025, validate Jul–Dec 2025), leakage tests on every feature, test locked in code</a:t>
            </a:r>
            <a:endParaRPr lang="en-US" sz="1150" dirty="0"/>
          </a:p>
        </p:txBody>
      </p:sp>
      <p:graphicFrame>
        <p:nvGraphicFramePr>
          <p:cNvPr id="6" name="Chart 0" descr=""/>
          <p:cNvGraphicFramePr/>
          <p:nvPr/>
        </p:nvGraphicFramePr>
        <p:xfrm>
          <a:off x="5577840" y="914400"/>
          <a:ext cx="3108960" cy="3246120"/>
        </p:xfrm>
        <a:graphic xmlns:a="http://schemas.openxmlformats.org/drawingml/2006/main">
          <a:graphicData uri="http://schemas.openxmlformats.org/drawingml/2006/chart">
            <c:chart xmlns:c="http://schemas.openxmlformats.org/drawingml/2006/chart" r:id="rId1"/>
          </a:graphicData>
        </a:graphic>
      </p:graphicFrame>
      <p:sp>
        <p:nvSpPr>
          <p:cNvPr id="7" name="Text 3"/>
          <p:cNvSpPr txBox="1"/>
          <p:nvPr/>
        </p:nvSpPr>
        <p:spPr>
          <a:xfrm>
            <a:off x="5577840" y="4160520"/>
            <a:ext cx="3108960" cy="502920"/>
          </a:xfrm>
          <a:prstGeom prst="rect">
            <a:avLst/>
          </a:prstGeom>
          <a:noFill/>
          <a:ln/>
        </p:spPr>
        <p:txBody>
          <a:bodyPr wrap="square" lIns="0" tIns="0" rIns="0" bIns="0" rtlCol="0" anchor="t"/>
          <a:lstStyle/>
          <a:p>
            <a:pPr indent="0" marL="0">
              <a:buNone/>
            </a:pPr>
            <a:r>
              <a:rPr lang="en-US" sz="1100" dirty="0">
                <a:solidFill>
                  <a:schemeClr val="accent6"/>
                </a:solidFill>
              </a:rPr>
              <a:t>Weakest: Azad Kashmir (+1.5%). Model B (prices) did not beat “no change” (MAE 1.667 vs 1.665): rejected and shown as baseline.</a:t>
            </a:r>
            <a:endParaRPr lang="en-US" sz="11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548640"/>
          </a:xfrm>
          <a:prstGeom prst="rect">
            <a:avLst/>
          </a:prstGeom>
          <a:noFill/>
          <a:ln/>
        </p:spPr>
        <p:txBody>
          <a:bodyPr wrap="square" lIns="0" tIns="0" rIns="0" bIns="0" rtlCol="0" anchor="ctr"/>
          <a:lstStyle/>
          <a:p>
            <a:pPr algn="l" indent="0" marL="0">
              <a:buNone/>
            </a:pPr>
            <a:r>
              <a:rPr lang="en-US" sz="2800" b="1" dirty="0">
                <a:solidFill>
                  <a:schemeClr val="tx2"/>
                </a:solidFill>
              </a:rPr>
              <a:t>Responsible AI &amp; Pakistan Impact</a:t>
            </a:r>
            <a:endParaRPr lang="en-US" sz="2800" dirty="0"/>
          </a:p>
        </p:txBody>
      </p:sp>
      <p:sp>
        <p:nvSpPr>
          <p:cNvPr id="3" name="resp 1"/>
          <p:cNvSpPr/>
          <p:nvPr/>
        </p:nvSpPr>
        <p:spPr>
          <a:xfrm>
            <a:off x="457200" y="914400"/>
            <a:ext cx="4389120" cy="777240"/>
          </a:xfrm>
          <a:prstGeom prst="roundRect">
            <a:avLst>
              <a:gd name="adj" fmla="val 9412"/>
            </a:avLst>
          </a:prstGeom>
          <a:solidFill>
            <a:schemeClr val="bg2"/>
          </a:solidFill>
          <a:ln w="12700">
            <a:solidFill>
              <a:schemeClr val="bg2"/>
            </a:solidFill>
            <a:prstDash val="solid"/>
          </a:ln>
        </p:spPr>
      </p:sp>
      <p:sp>
        <p:nvSpPr>
          <p:cNvPr id="4" name="Text 2"/>
          <p:cNvSpPr txBox="1"/>
          <p:nvPr/>
        </p:nvSpPr>
        <p:spPr>
          <a:xfrm>
            <a:off x="640080" y="1005840"/>
            <a:ext cx="4023360" cy="274320"/>
          </a:xfrm>
          <a:prstGeom prst="rect">
            <a:avLst/>
          </a:prstGeom>
          <a:noFill/>
          <a:ln/>
        </p:spPr>
        <p:txBody>
          <a:bodyPr wrap="square" lIns="0" tIns="0" rIns="0" bIns="0" rtlCol="0" anchor="t"/>
          <a:lstStyle/>
          <a:p>
            <a:pPr indent="0" marL="0">
              <a:buNone/>
            </a:pPr>
            <a:r>
              <a:rPr lang="en-US" sz="1400" b="1" dirty="0">
                <a:solidFill>
                  <a:schemeClr val="tx2"/>
                </a:solidFill>
              </a:rPr>
              <a:t>No invented numbers</a:t>
            </a:r>
            <a:endParaRPr lang="en-US" sz="1400" dirty="0"/>
          </a:p>
        </p:txBody>
      </p:sp>
      <p:sp>
        <p:nvSpPr>
          <p:cNvPr id="5" name="Text 3"/>
          <p:cNvSpPr txBox="1"/>
          <p:nvPr/>
        </p:nvSpPr>
        <p:spPr>
          <a:xfrm>
            <a:off x="640080" y="1298448"/>
            <a:ext cx="4023360" cy="365760"/>
          </a:xfrm>
          <a:prstGeom prst="rect">
            <a:avLst/>
          </a:prstGeom>
          <a:noFill/>
          <a:ln/>
        </p:spPr>
        <p:txBody>
          <a:bodyPr wrap="square" lIns="0" tIns="0" rIns="0" bIns="0" rtlCol="0" anchor="t"/>
          <a:lstStyle/>
          <a:p>
            <a:pPr indent="0" marL="0">
              <a:buNone/>
            </a:pPr>
            <a:r>
              <a:rPr lang="en-US" sz="1100" dirty="0">
                <a:solidFill>
                  <a:schemeClr val="tx1"/>
                </a:solidFill>
              </a:rPr>
              <a:t>Every number is inserted by code from a gold table and carries its row id</a:t>
            </a:r>
            <a:endParaRPr lang="en-US" sz="1100" dirty="0"/>
          </a:p>
        </p:txBody>
      </p:sp>
      <p:sp>
        <p:nvSpPr>
          <p:cNvPr id="6" name="resp 2"/>
          <p:cNvSpPr/>
          <p:nvPr/>
        </p:nvSpPr>
        <p:spPr>
          <a:xfrm>
            <a:off x="457200" y="1810512"/>
            <a:ext cx="4389120" cy="777240"/>
          </a:xfrm>
          <a:prstGeom prst="roundRect">
            <a:avLst>
              <a:gd name="adj" fmla="val 9412"/>
            </a:avLst>
          </a:prstGeom>
          <a:solidFill>
            <a:schemeClr val="bg2"/>
          </a:solidFill>
          <a:ln w="12700">
            <a:solidFill>
              <a:schemeClr val="bg2"/>
            </a:solidFill>
            <a:prstDash val="solid"/>
          </a:ln>
        </p:spPr>
      </p:sp>
      <p:sp>
        <p:nvSpPr>
          <p:cNvPr id="7" name="Text 5"/>
          <p:cNvSpPr txBox="1"/>
          <p:nvPr/>
        </p:nvSpPr>
        <p:spPr>
          <a:xfrm>
            <a:off x="640080" y="1901952"/>
            <a:ext cx="4023360" cy="274320"/>
          </a:xfrm>
          <a:prstGeom prst="rect">
            <a:avLst/>
          </a:prstGeom>
          <a:noFill/>
          <a:ln/>
        </p:spPr>
        <p:txBody>
          <a:bodyPr wrap="square" lIns="0" tIns="0" rIns="0" bIns="0" rtlCol="0" anchor="t"/>
          <a:lstStyle/>
          <a:p>
            <a:pPr indent="0" marL="0">
              <a:buNone/>
            </a:pPr>
            <a:r>
              <a:rPr lang="en-US" sz="1400" b="1" dirty="0">
                <a:solidFill>
                  <a:schemeClr val="tx2"/>
                </a:solidFill>
              </a:rPr>
              <a:t>Every claim cited</a:t>
            </a:r>
            <a:endParaRPr lang="en-US" sz="1400" dirty="0"/>
          </a:p>
        </p:txBody>
      </p:sp>
      <p:sp>
        <p:nvSpPr>
          <p:cNvPr id="8" name="Text 6"/>
          <p:cNvSpPr txBox="1"/>
          <p:nvPr/>
        </p:nvSpPr>
        <p:spPr>
          <a:xfrm>
            <a:off x="640080" y="2194560"/>
            <a:ext cx="4023360" cy="365760"/>
          </a:xfrm>
          <a:prstGeom prst="rect">
            <a:avLst/>
          </a:prstGeom>
          <a:noFill/>
          <a:ln/>
        </p:spPr>
        <p:txBody>
          <a:bodyPr wrap="square" lIns="0" tIns="0" rIns="0" bIns="0" rtlCol="0" anchor="t"/>
          <a:lstStyle/>
          <a:p>
            <a:pPr indent="0" marL="0">
              <a:buNone/>
            </a:pPr>
            <a:r>
              <a:rPr lang="en-US" sz="1100" dirty="0">
                <a:solidFill>
                  <a:schemeClr val="tx1"/>
                </a:solidFill>
              </a:rPr>
              <a:t>NDMA quotes carry document, page and section id; no support → “I don't know”</a:t>
            </a:r>
            <a:endParaRPr lang="en-US" sz="1100" dirty="0"/>
          </a:p>
        </p:txBody>
      </p:sp>
      <p:sp>
        <p:nvSpPr>
          <p:cNvPr id="9" name="resp 3"/>
          <p:cNvSpPr/>
          <p:nvPr/>
        </p:nvSpPr>
        <p:spPr>
          <a:xfrm>
            <a:off x="457200" y="2706624"/>
            <a:ext cx="4389120" cy="777240"/>
          </a:xfrm>
          <a:prstGeom prst="roundRect">
            <a:avLst>
              <a:gd name="adj" fmla="val 9412"/>
            </a:avLst>
          </a:prstGeom>
          <a:solidFill>
            <a:schemeClr val="bg2"/>
          </a:solidFill>
          <a:ln w="12700">
            <a:solidFill>
              <a:schemeClr val="bg2"/>
            </a:solidFill>
            <a:prstDash val="solid"/>
          </a:ln>
        </p:spPr>
      </p:sp>
      <p:sp>
        <p:nvSpPr>
          <p:cNvPr id="10" name="Text 8"/>
          <p:cNvSpPr txBox="1"/>
          <p:nvPr/>
        </p:nvSpPr>
        <p:spPr>
          <a:xfrm>
            <a:off x="640080" y="2798064"/>
            <a:ext cx="4023360" cy="274320"/>
          </a:xfrm>
          <a:prstGeom prst="rect">
            <a:avLst/>
          </a:prstGeom>
          <a:noFill/>
          <a:ln/>
        </p:spPr>
        <p:txBody>
          <a:bodyPr wrap="square" lIns="0" tIns="0" rIns="0" bIns="0" rtlCol="0" anchor="t"/>
          <a:lstStyle/>
          <a:p>
            <a:pPr indent="0" marL="0">
              <a:buNone/>
            </a:pPr>
            <a:r>
              <a:rPr lang="en-US" sz="1400" b="1" dirty="0">
                <a:solidFill>
                  <a:schemeClr val="tx2"/>
                </a:solidFill>
              </a:rPr>
              <a:t>Safe by default</a:t>
            </a:r>
            <a:endParaRPr lang="en-US" sz="1400" dirty="0"/>
          </a:p>
        </p:txBody>
      </p:sp>
      <p:sp>
        <p:nvSpPr>
          <p:cNvPr id="11" name="Text 9"/>
          <p:cNvSpPr txBox="1"/>
          <p:nvPr/>
        </p:nvSpPr>
        <p:spPr>
          <a:xfrm>
            <a:off x="640080" y="3090672"/>
            <a:ext cx="4023360" cy="365760"/>
          </a:xfrm>
          <a:prstGeom prst="rect">
            <a:avLst/>
          </a:prstGeom>
          <a:noFill/>
          <a:ln/>
        </p:spPr>
        <p:txBody>
          <a:bodyPr wrap="square" lIns="0" tIns="0" rIns="0" bIns="0" rtlCol="0" anchor="t"/>
          <a:lstStyle/>
          <a:p>
            <a:pPr indent="0" marL="0">
              <a:buNone/>
            </a:pPr>
            <a:r>
              <a:rPr lang="en-US" sz="1100" dirty="0">
                <a:solidFill>
                  <a:schemeClr val="tx1"/>
                </a:solidFill>
              </a:rPr>
              <a:t>Emergency questions go to Rescue 1122 and NDMA/PDMA first; never an official warning</a:t>
            </a:r>
            <a:endParaRPr lang="en-US" sz="1100" dirty="0"/>
          </a:p>
        </p:txBody>
      </p:sp>
      <p:sp>
        <p:nvSpPr>
          <p:cNvPr id="12" name="resp 4"/>
          <p:cNvSpPr/>
          <p:nvPr/>
        </p:nvSpPr>
        <p:spPr>
          <a:xfrm>
            <a:off x="457200" y="3602736"/>
            <a:ext cx="4389120" cy="777240"/>
          </a:xfrm>
          <a:prstGeom prst="roundRect">
            <a:avLst>
              <a:gd name="adj" fmla="val 9412"/>
            </a:avLst>
          </a:prstGeom>
          <a:solidFill>
            <a:schemeClr val="bg2"/>
          </a:solidFill>
          <a:ln w="12700">
            <a:solidFill>
              <a:schemeClr val="bg2"/>
            </a:solidFill>
            <a:prstDash val="solid"/>
          </a:ln>
        </p:spPr>
      </p:sp>
      <p:sp>
        <p:nvSpPr>
          <p:cNvPr id="13" name="Text 11"/>
          <p:cNvSpPr txBox="1"/>
          <p:nvPr/>
        </p:nvSpPr>
        <p:spPr>
          <a:xfrm>
            <a:off x="640080" y="3694176"/>
            <a:ext cx="4023360" cy="274320"/>
          </a:xfrm>
          <a:prstGeom prst="rect">
            <a:avLst/>
          </a:prstGeom>
          <a:noFill/>
          <a:ln/>
        </p:spPr>
        <p:txBody>
          <a:bodyPr wrap="square" lIns="0" tIns="0" rIns="0" bIns="0" rtlCol="0" anchor="t"/>
          <a:lstStyle/>
          <a:p>
            <a:pPr indent="0" marL="0">
              <a:buNone/>
            </a:pPr>
            <a:r>
              <a:rPr lang="en-US" sz="1400" b="1" dirty="0">
                <a:solidFill>
                  <a:schemeClr val="tx2"/>
                </a:solidFill>
              </a:rPr>
              <a:t>Usable in Pakistan</a:t>
            </a:r>
            <a:endParaRPr lang="en-US" sz="1400" dirty="0"/>
          </a:p>
        </p:txBody>
      </p:sp>
      <p:sp>
        <p:nvSpPr>
          <p:cNvPr id="14" name="Text 12"/>
          <p:cNvSpPr txBox="1"/>
          <p:nvPr/>
        </p:nvSpPr>
        <p:spPr>
          <a:xfrm>
            <a:off x="640080" y="3986784"/>
            <a:ext cx="4023360" cy="365760"/>
          </a:xfrm>
          <a:prstGeom prst="rect">
            <a:avLst/>
          </a:prstGeom>
          <a:noFill/>
          <a:ln/>
        </p:spPr>
        <p:txBody>
          <a:bodyPr wrap="square" lIns="0" tIns="0" rIns="0" bIns="0" rtlCol="0" anchor="t"/>
          <a:lstStyle/>
          <a:p>
            <a:pPr indent="0" marL="0">
              <a:buNone/>
            </a:pPr>
            <a:r>
              <a:rPr lang="en-US" sz="1100" dirty="0">
                <a:solidFill>
                  <a:schemeClr val="tx1"/>
                </a:solidFill>
              </a:rPr>
              <a:t>Urdu answers, 160 OCHA districts, PBS prices for 17 cities, NDMA advisories on the map</a:t>
            </a:r>
            <a:endParaRPr lang="en-US" sz="1100" dirty="0"/>
          </a:p>
        </p:txBody>
      </p:sp>
      <p:sp>
        <p:nvSpPr>
          <p:cNvPr id="15" name="local validation"/>
          <p:cNvSpPr/>
          <p:nvPr/>
        </p:nvSpPr>
        <p:spPr>
          <a:xfrm>
            <a:off x="5120640" y="914400"/>
            <a:ext cx="3566160" cy="1874520"/>
          </a:xfrm>
          <a:prstGeom prst="roundRect">
            <a:avLst>
              <a:gd name="adj" fmla="val 3902"/>
            </a:avLst>
          </a:prstGeom>
          <a:solidFill>
            <a:schemeClr val="bg2"/>
          </a:solidFill>
          <a:ln w="12700">
            <a:solidFill>
              <a:schemeClr val="bg2"/>
            </a:solidFill>
            <a:prstDash val="solid"/>
          </a:ln>
        </p:spPr>
      </p:sp>
      <p:sp>
        <p:nvSpPr>
          <p:cNvPr id="16" name="Text 14"/>
          <p:cNvSpPr txBox="1"/>
          <p:nvPr/>
        </p:nvSpPr>
        <p:spPr>
          <a:xfrm>
            <a:off x="5303520" y="1024128"/>
            <a:ext cx="3200400" cy="274320"/>
          </a:xfrm>
          <a:prstGeom prst="rect">
            <a:avLst/>
          </a:prstGeom>
          <a:noFill/>
          <a:ln/>
        </p:spPr>
        <p:txBody>
          <a:bodyPr wrap="square" lIns="0" tIns="0" rIns="0" bIns="0" rtlCol="0" anchor="t"/>
          <a:lstStyle/>
          <a:p>
            <a:pPr indent="0" marL="0">
              <a:buNone/>
            </a:pPr>
            <a:r>
              <a:rPr lang="en-US" sz="1200" b="1" dirty="0">
                <a:solidFill>
                  <a:schemeClr val="accent2"/>
                </a:solidFill>
              </a:rPr>
              <a:t>LOCAL VALIDATION (NDMA)</a:t>
            </a:r>
            <a:endParaRPr lang="en-US" sz="1200" dirty="0"/>
          </a:p>
        </p:txBody>
      </p:sp>
      <p:sp>
        <p:nvSpPr>
          <p:cNvPr id="17" name="Text 15"/>
          <p:cNvSpPr txBox="1"/>
          <p:nvPr/>
        </p:nvSpPr>
        <p:spPr>
          <a:xfrm>
            <a:off x="5303520" y="1325880"/>
            <a:ext cx="3246120" cy="1417320"/>
          </a:xfrm>
          <a:prstGeom prst="rect">
            <a:avLst/>
          </a:prstGeom>
          <a:noFill/>
          <a:ln/>
        </p:spPr>
        <p:txBody>
          <a:bodyPr wrap="square" lIns="0" tIns="0" rIns="0" bIns="0" rtlCol="0" anchor="t"/>
          <a:lstStyle/>
          <a:p>
            <a:pPr marL="342900" indent="-342900">
              <a:spcAft>
                <a:spcPts val="300"/>
              </a:spcAft>
              <a:buSzPct val="100000"/>
              <a:buChar char="•"/>
            </a:pPr>
            <a:r>
              <a:rPr lang="en-US" sz="1100" dirty="0">
                <a:solidFill>
                  <a:schemeClr val="tx1"/>
                </a:solidFill>
              </a:rPr>
              <a:t>Replay of Aug 2025: on 14 Aug, 8 of our top-10 districts had heavy rain (34 districts did)</a:t>
            </a:r>
            <a:endParaRPr lang="en-US" sz="1100" dirty="0"/>
          </a:p>
          <a:p>
            <a:pPr marL="342900" indent="-342900">
              <a:spcAft>
                <a:spcPts val="300"/>
              </a:spcAft>
              <a:buSzPct val="100000"/>
              <a:buChar char="•"/>
            </a:pPr>
            <a:r>
              <a:rPr lang="en-US" sz="1100" dirty="0">
                <a:solidFill>
                  <a:schemeClr val="tx1"/>
                </a:solidFill>
              </a:rPr>
              <a:t>NDMA's 87 sitreps name 125 districts; our fixed 0.5 alert rule flagged only 1, so we rank risk instead</a:t>
            </a:r>
            <a:endParaRPr lang="en-US" sz="1100" dirty="0"/>
          </a:p>
        </p:txBody>
      </p:sp>
      <p:sp>
        <p:nvSpPr>
          <p:cNvPr id="18" name="limits"/>
          <p:cNvSpPr/>
          <p:nvPr/>
        </p:nvSpPr>
        <p:spPr>
          <a:xfrm>
            <a:off x="5120640" y="2926080"/>
            <a:ext cx="3566160" cy="1554480"/>
          </a:xfrm>
          <a:prstGeom prst="roundRect">
            <a:avLst>
              <a:gd name="adj" fmla="val 4706"/>
            </a:avLst>
          </a:prstGeom>
          <a:solidFill>
            <a:schemeClr val="tx2"/>
          </a:solidFill>
          <a:ln w="12700">
            <a:solidFill>
              <a:schemeClr val="tx2"/>
            </a:solidFill>
            <a:prstDash val="solid"/>
          </a:ln>
        </p:spPr>
      </p:sp>
      <p:sp>
        <p:nvSpPr>
          <p:cNvPr id="19" name="Text 17"/>
          <p:cNvSpPr txBox="1"/>
          <p:nvPr/>
        </p:nvSpPr>
        <p:spPr>
          <a:xfrm>
            <a:off x="5303520" y="3035808"/>
            <a:ext cx="3200400" cy="274320"/>
          </a:xfrm>
          <a:prstGeom prst="rect">
            <a:avLst/>
          </a:prstGeom>
          <a:noFill/>
          <a:ln/>
        </p:spPr>
        <p:txBody>
          <a:bodyPr wrap="square" lIns="0" tIns="0" rIns="0" bIns="0" rtlCol="0" anchor="t"/>
          <a:lstStyle/>
          <a:p>
            <a:pPr indent="0" marL="0">
              <a:buNone/>
            </a:pPr>
            <a:r>
              <a:rPr lang="en-US" sz="1200" b="1" dirty="0">
                <a:solidFill>
                  <a:schemeClr val="bg1"/>
                </a:solidFill>
              </a:rPr>
              <a:t>HONEST LIMITS</a:t>
            </a:r>
            <a:endParaRPr lang="en-US" sz="1200" dirty="0"/>
          </a:p>
        </p:txBody>
      </p:sp>
      <p:sp>
        <p:nvSpPr>
          <p:cNvPr id="20" name="Text 18"/>
          <p:cNvSpPr txBox="1"/>
          <p:nvPr/>
        </p:nvSpPr>
        <p:spPr>
          <a:xfrm>
            <a:off x="5303520" y="3337560"/>
            <a:ext cx="3246120" cy="1097280"/>
          </a:xfrm>
          <a:prstGeom prst="rect">
            <a:avLst/>
          </a:prstGeom>
          <a:noFill/>
          <a:ln/>
        </p:spPr>
        <p:txBody>
          <a:bodyPr wrap="square" lIns="0" tIns="0" rIns="0" bIns="0" rtlCol="0" anchor="t"/>
          <a:lstStyle/>
          <a:p>
            <a:pPr indent="0" marL="0">
              <a:buNone/>
            </a:pPr>
            <a:r>
              <a:rPr lang="en-US" sz="1100" dirty="0">
                <a:solidFill>
                  <a:schemeClr val="bg1"/>
                </a:solidFill>
              </a:rPr>
              <a:t>Buner, 15 Aug 2025: a flash flood killed 100+, but the satellite's wettest pixel (43 mm) stayed under Buner's 57.5 mm threshold, so the label says “no heavy rain”. Daily satellite rain misses cloudbursts.</a:t>
            </a:r>
            <a:endParaRPr lang="en-US" sz="11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548640"/>
          </a:xfrm>
          <a:prstGeom prst="rect">
            <a:avLst/>
          </a:prstGeom>
          <a:noFill/>
          <a:ln/>
        </p:spPr>
        <p:txBody>
          <a:bodyPr wrap="square" lIns="0" tIns="0" rIns="0" bIns="0" rtlCol="0" anchor="ctr"/>
          <a:lstStyle/>
          <a:p>
            <a:pPr algn="l" indent="0" marL="0">
              <a:buNone/>
            </a:pPr>
            <a:r>
              <a:rPr lang="en-US" sz="2800" b="1" dirty="0">
                <a:solidFill>
                  <a:schemeClr val="tx2"/>
                </a:solidFill>
              </a:rPr>
              <a:t>Why FloodLens: Compared with Today's Alerts</a:t>
            </a:r>
            <a:endParaRPr lang="en-US" sz="28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1463040"/>
                <a:gridCol w="3200400"/>
                <a:gridCol w="3566160"/>
              </a:tblGrid>
              <a:tr h="411480">
                <a:tc>
                  <a:txBody>
                    <a:bodyPr/>
                    <a:lstStyle/>
                    <a:p>
                      <a:pPr indent="0" marL="0">
                        <a:buNone/>
                      </a:pPr>
                      <a:endParaRPr lang="en-US" sz="1300" dirty="0"/>
                    </a:p>
                  </a:txBody>
                  <a:tcPr marL="109728" marR="109728"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0B5D2A"/>
                    </a:solidFill>
                  </a:tcPr>
                </a:tc>
                <a:tc>
                  <a:txBody>
                    <a:bodyPr/>
                    <a:lstStyle/>
                    <a:p>
                      <a:pPr indent="0" marL="0">
                        <a:buNone/>
                      </a:pPr>
                      <a:r>
                        <a:rPr lang="en-US" sz="1300" b="1" dirty="0">
                          <a:solidFill>
                            <a:srgbClr val="FFFFFF"/>
                          </a:solidFill>
                        </a:rPr>
                        <a:t>Today: advisories &amp; weather apps</a:t>
                      </a:r>
                      <a:endParaRPr lang="en-US" sz="1300" dirty="0"/>
                    </a:p>
                  </a:txBody>
                  <a:tcPr marL="109728" marR="109728"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0B5D2A"/>
                    </a:solidFill>
                  </a:tcPr>
                </a:tc>
                <a:tc>
                  <a:txBody>
                    <a:bodyPr/>
                    <a:lstStyle/>
                    <a:p>
                      <a:pPr indent="0" marL="0">
                        <a:buNone/>
                      </a:pPr>
                      <a:r>
                        <a:rPr lang="en-US" sz="1300" b="1" dirty="0">
                          <a:solidFill>
                            <a:srgbClr val="FFFFFF"/>
                          </a:solidFill>
                        </a:rPr>
                        <a:t>FloodLens Pakistan</a:t>
                      </a:r>
                      <a:endParaRPr lang="en-US" sz="1300" dirty="0"/>
                    </a:p>
                  </a:txBody>
                  <a:tcPr marL="109728" marR="109728"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0B5D2A"/>
                    </a:solidFill>
                  </a:tcPr>
                </a:tc>
              </a:tr>
              <a:tr h="566928">
                <a:tc>
                  <a:txBody>
                    <a:bodyPr/>
                    <a:lstStyle/>
                    <a:p>
                      <a:pPr indent="0" marL="0">
                        <a:buNone/>
                      </a:pPr>
                      <a:r>
                        <a:rPr lang="en-US" sz="1300" b="1" dirty="0">
                          <a:solidFill>
                            <a:srgbClr val="0B5D2A"/>
                          </a:solidFill>
                        </a:rPr>
                        <a:t>Timing</a:t>
                      </a:r>
                      <a:endParaRPr lang="en-US" sz="1300" dirty="0"/>
                    </a:p>
                  </a:txBody>
                  <a:tcPr marL="109728" marR="109728"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c>
                  <a:txBody>
                    <a:bodyPr/>
                    <a:lstStyle/>
                    <a:p>
                      <a:pPr indent="0" marL="0">
                        <a:buNone/>
                      </a:pPr>
                      <a:r>
                        <a:rPr lang="en-US" sz="1300" dirty="0">
                          <a:solidFill>
                            <a:srgbClr val="1F2933"/>
                          </a:solidFill>
                        </a:rPr>
                        <a:t>Advisories issued as events approach</a:t>
                      </a:r>
                      <a:endParaRPr lang="en-US" sz="1300" dirty="0"/>
                    </a:p>
                  </a:txBody>
                  <a:tcPr marL="109728" marR="109728"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c>
                  <a:txBody>
                    <a:bodyPr/>
                    <a:lstStyle/>
                    <a:p>
                      <a:pPr indent="0" marL="0">
                        <a:buNone/>
                      </a:pPr>
                      <a:r>
                        <a:rPr lang="en-US" sz="1300" b="1" dirty="0">
                          <a:solidFill>
                            <a:srgbClr val="0B5D2A"/>
                          </a:solidFill>
                        </a:rPr>
                        <a:t>Probabilities 24–72 h ahead, refreshed hourly</a:t>
                      </a:r>
                      <a:endParaRPr lang="en-US" sz="1300" dirty="0"/>
                    </a:p>
                  </a:txBody>
                  <a:tcPr marL="109728" marR="109728"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EEF6F0"/>
                    </a:solidFill>
                  </a:tcPr>
                </a:tc>
              </a:tr>
              <a:tr h="566928">
                <a:tc>
                  <a:txBody>
                    <a:bodyPr/>
                    <a:lstStyle/>
                    <a:p>
                      <a:pPr indent="0" marL="0">
                        <a:buNone/>
                      </a:pPr>
                      <a:r>
                        <a:rPr lang="en-US" sz="1300" b="1" dirty="0">
                          <a:solidFill>
                            <a:srgbClr val="0B5D2A"/>
                          </a:solidFill>
                        </a:rPr>
                        <a:t>Detail</a:t>
                      </a:r>
                      <a:endParaRPr lang="en-US" sz="1300" dirty="0"/>
                    </a:p>
                  </a:txBody>
                  <a:tcPr marL="109728" marR="109728"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c>
                  <a:txBody>
                    <a:bodyPr/>
                    <a:lstStyle/>
                    <a:p>
                      <a:pPr indent="0" marL="0">
                        <a:buNone/>
                      </a:pPr>
                      <a:r>
                        <a:rPr lang="en-US" sz="1300" dirty="0">
                          <a:solidFill>
                            <a:srgbClr val="1F2933"/>
                          </a:solidFill>
                        </a:rPr>
                        <a:t>Areas listed in words</a:t>
                      </a:r>
                      <a:endParaRPr lang="en-US" sz="1300" dirty="0"/>
                    </a:p>
                  </a:txBody>
                  <a:tcPr marL="109728" marR="109728"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c>
                  <a:txBody>
                    <a:bodyPr/>
                    <a:lstStyle/>
                    <a:p>
                      <a:pPr indent="0" marL="0">
                        <a:buNone/>
                      </a:pPr>
                      <a:r>
                        <a:rPr lang="en-US" sz="1300" b="1" dirty="0">
                          <a:solidFill>
                            <a:srgbClr val="0B5D2A"/>
                          </a:solidFill>
                        </a:rPr>
                        <a:t>Each of 160 districts, against its own normal</a:t>
                      </a:r>
                      <a:endParaRPr lang="en-US" sz="1300" dirty="0"/>
                    </a:p>
                  </a:txBody>
                  <a:tcPr marL="109728" marR="109728"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EEF6F0"/>
                    </a:solidFill>
                  </a:tcPr>
                </a:tc>
              </a:tr>
              <a:tr h="566928">
                <a:tc>
                  <a:txBody>
                    <a:bodyPr/>
                    <a:lstStyle/>
                    <a:p>
                      <a:pPr indent="0" marL="0">
                        <a:buNone/>
                      </a:pPr>
                      <a:r>
                        <a:rPr lang="en-US" sz="1300" b="1" dirty="0">
                          <a:solidFill>
                            <a:srgbClr val="0B5D2A"/>
                          </a:solidFill>
                        </a:rPr>
                        <a:t>Rigour</a:t>
                      </a:r>
                      <a:endParaRPr lang="en-US" sz="1300" dirty="0"/>
                    </a:p>
                  </a:txBody>
                  <a:tcPr marL="109728" marR="109728"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c>
                  <a:txBody>
                    <a:bodyPr/>
                    <a:lstStyle/>
                    <a:p>
                      <a:pPr indent="0" marL="0">
                        <a:buNone/>
                      </a:pPr>
                      <a:r>
                        <a:rPr lang="en-US" sz="1300" dirty="0">
                          <a:solidFill>
                            <a:srgbClr val="1F2933"/>
                          </a:solidFill>
                        </a:rPr>
                        <a:t>No published skill score</a:t>
                      </a:r>
                      <a:endParaRPr lang="en-US" sz="1300" dirty="0"/>
                    </a:p>
                  </a:txBody>
                  <a:tcPr marL="109728" marR="109728"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c>
                  <a:txBody>
                    <a:bodyPr/>
                    <a:lstStyle/>
                    <a:p>
                      <a:pPr indent="0" marL="0">
                        <a:buNone/>
                      </a:pPr>
                      <a:r>
                        <a:rPr lang="en-US" sz="1300" b="1" dirty="0">
                          <a:solidFill>
                            <a:srgbClr val="0B5D2A"/>
                          </a:solidFill>
                        </a:rPr>
                        <a:t>Calibrated; beats climatology on a locked test set</a:t>
                      </a:r>
                      <a:endParaRPr lang="en-US" sz="1300" dirty="0"/>
                    </a:p>
                  </a:txBody>
                  <a:tcPr marL="109728" marR="109728"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EEF6F0"/>
                    </a:solidFill>
                  </a:tcPr>
                </a:tc>
              </a:tr>
              <a:tr h="566928">
                <a:tc>
                  <a:txBody>
                    <a:bodyPr/>
                    <a:lstStyle/>
                    <a:p>
                      <a:pPr indent="0" marL="0">
                        <a:buNone/>
                      </a:pPr>
                      <a:r>
                        <a:rPr lang="en-US" sz="1300" b="1" dirty="0">
                          <a:solidFill>
                            <a:srgbClr val="0B5D2A"/>
                          </a:solidFill>
                        </a:rPr>
                        <a:t>Trust</a:t>
                      </a:r>
                      <a:endParaRPr lang="en-US" sz="1300" dirty="0"/>
                    </a:p>
                  </a:txBody>
                  <a:tcPr marL="109728" marR="109728"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c>
                  <a:txBody>
                    <a:bodyPr/>
                    <a:lstStyle/>
                    <a:p>
                      <a:pPr indent="0" marL="0">
                        <a:buNone/>
                      </a:pPr>
                      <a:r>
                        <a:rPr lang="en-US" sz="1300" dirty="0">
                          <a:solidFill>
                            <a:srgbClr val="1F2933"/>
                          </a:solidFill>
                        </a:rPr>
                        <a:t>Separate PDFs to read and compare</a:t>
                      </a:r>
                      <a:endParaRPr lang="en-US" sz="1300" dirty="0"/>
                    </a:p>
                  </a:txBody>
                  <a:tcPr marL="109728" marR="109728"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c>
                  <a:txBody>
                    <a:bodyPr/>
                    <a:lstStyle/>
                    <a:p>
                      <a:pPr indent="0" marL="0">
                        <a:buNone/>
                      </a:pPr>
                      <a:r>
                        <a:rPr lang="en-US" sz="1300" b="1" dirty="0">
                          <a:solidFill>
                            <a:srgbClr val="0B5D2A"/>
                          </a:solidFill>
                        </a:rPr>
                        <a:t>Row ids for numbers, NDMA section ids for text</a:t>
                      </a:r>
                      <a:endParaRPr lang="en-US" sz="1300" dirty="0"/>
                    </a:p>
                  </a:txBody>
                  <a:tcPr marL="109728" marR="109728"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EEF6F0"/>
                    </a:solidFill>
                  </a:tcPr>
                </a:tc>
              </a:tr>
              <a:tr h="566928">
                <a:tc>
                  <a:txBody>
                    <a:bodyPr/>
                    <a:lstStyle/>
                    <a:p>
                      <a:pPr indent="0" marL="0">
                        <a:buNone/>
                      </a:pPr>
                      <a:r>
                        <a:rPr lang="en-US" sz="1300" b="1" dirty="0">
                          <a:solidFill>
                            <a:srgbClr val="0B5D2A"/>
                          </a:solidFill>
                        </a:rPr>
                        <a:t>Food impact</a:t>
                      </a:r>
                      <a:endParaRPr lang="en-US" sz="1300" dirty="0"/>
                    </a:p>
                  </a:txBody>
                  <a:tcPr marL="109728" marR="109728"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c>
                  <a:txBody>
                    <a:bodyPr/>
                    <a:lstStyle/>
                    <a:p>
                      <a:pPr indent="0" marL="0">
                        <a:buNone/>
                      </a:pPr>
                      <a:r>
                        <a:rPr lang="en-US" sz="1300" dirty="0">
                          <a:solidFill>
                            <a:srgbClr val="1F2933"/>
                          </a:solidFill>
                        </a:rPr>
                        <a:t>Not linked to markets</a:t>
                      </a:r>
                      <a:endParaRPr lang="en-US" sz="1300" dirty="0"/>
                    </a:p>
                  </a:txBody>
                  <a:tcPr marL="109728" marR="109728"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c>
                  <a:txBody>
                    <a:bodyPr/>
                    <a:lstStyle/>
                    <a:p>
                      <a:pPr indent="0" marL="0">
                        <a:buNone/>
                      </a:pPr>
                      <a:r>
                        <a:rPr lang="en-US" sz="1300" b="1" dirty="0">
                          <a:solidFill>
                            <a:srgbClr val="0B5D2A"/>
                          </a:solidFill>
                        </a:rPr>
                        <a:t>Weekly PBS prices for 17 cities on the same map</a:t>
                      </a:r>
                      <a:endParaRPr lang="en-US" sz="1300" dirty="0"/>
                    </a:p>
                  </a:txBody>
                  <a:tcPr marL="109728" marR="109728"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EEF6F0"/>
                    </a:solidFill>
                  </a:tcPr>
                </a:tc>
              </a:tr>
            </a:tbl>
          </a:graphicData>
        </a:graphic>
      </p:graphicFrame>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548640"/>
          </a:xfrm>
          <a:prstGeom prst="rect">
            <a:avLst/>
          </a:prstGeom>
          <a:noFill/>
          <a:ln/>
        </p:spPr>
        <p:txBody>
          <a:bodyPr wrap="square" lIns="0" tIns="0" rIns="0" bIns="0" rtlCol="0" anchor="ctr"/>
          <a:lstStyle/>
          <a:p>
            <a:pPr algn="l" indent="0" marL="0">
              <a:buNone/>
            </a:pPr>
            <a:r>
              <a:rPr lang="en-US" sz="2800" b="1" dirty="0">
                <a:solidFill>
                  <a:schemeClr val="tx2"/>
                </a:solidFill>
              </a:rPr>
              <a:t>Business Model &amp; Sustainability</a:t>
            </a:r>
            <a:endParaRPr lang="en-US" sz="2800" dirty="0"/>
          </a:p>
        </p:txBody>
      </p:sp>
      <p:sp>
        <p:nvSpPr>
          <p:cNvPr id="3" name="biz 1"/>
          <p:cNvSpPr/>
          <p:nvPr/>
        </p:nvSpPr>
        <p:spPr>
          <a:xfrm>
            <a:off x="457200" y="1051560"/>
            <a:ext cx="2615184" cy="2514600"/>
          </a:xfrm>
          <a:prstGeom prst="roundRect">
            <a:avLst>
              <a:gd name="adj" fmla="val 2909"/>
            </a:avLst>
          </a:prstGeom>
          <a:solidFill>
            <a:schemeClr val="bg2"/>
          </a:solidFill>
          <a:ln w="12700">
            <a:solidFill>
              <a:schemeClr val="bg2"/>
            </a:solidFill>
            <a:prstDash val="solid"/>
          </a:ln>
        </p:spPr>
      </p:sp>
      <p:sp>
        <p:nvSpPr>
          <p:cNvPr id="4" name="Text 2"/>
          <p:cNvSpPr txBox="1"/>
          <p:nvPr/>
        </p:nvSpPr>
        <p:spPr>
          <a:xfrm>
            <a:off x="658368" y="1216152"/>
            <a:ext cx="2286000" cy="274320"/>
          </a:xfrm>
          <a:prstGeom prst="rect">
            <a:avLst/>
          </a:prstGeom>
          <a:noFill/>
          <a:ln/>
        </p:spPr>
        <p:txBody>
          <a:bodyPr wrap="square" lIns="0" tIns="0" rIns="0" bIns="0" rtlCol="0" anchor="t"/>
          <a:lstStyle/>
          <a:p>
            <a:pPr indent="0" marL="0">
              <a:buNone/>
            </a:pPr>
            <a:r>
              <a:rPr lang="en-US" sz="1200" b="1" spc="100" kern="0" dirty="0">
                <a:solidFill>
                  <a:schemeClr val="accent2"/>
                </a:solidFill>
              </a:rPr>
              <a:t>WHO USES IT</a:t>
            </a:r>
            <a:endParaRPr lang="en-US" sz="1200" dirty="0"/>
          </a:p>
        </p:txBody>
      </p:sp>
      <p:sp>
        <p:nvSpPr>
          <p:cNvPr id="5" name="Text 3"/>
          <p:cNvSpPr txBox="1"/>
          <p:nvPr/>
        </p:nvSpPr>
        <p:spPr>
          <a:xfrm>
            <a:off x="658368" y="1572768"/>
            <a:ext cx="2286000" cy="192024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chemeClr val="tx1"/>
                </a:solidFill>
              </a:rPr>
              <a:t>District disaster-management officers</a:t>
            </a:r>
            <a:endParaRPr lang="en-US" sz="1250" dirty="0"/>
          </a:p>
          <a:p>
            <a:pPr marL="342900" indent="-342900">
              <a:spcAft>
                <a:spcPts val="600"/>
              </a:spcAft>
              <a:buSzPct val="100000"/>
              <a:buChar char="•"/>
            </a:pPr>
            <a:r>
              <a:rPr lang="en-US" sz="1250" dirty="0">
                <a:solidFill>
                  <a:schemeClr val="tx1"/>
                </a:solidFill>
              </a:rPr>
              <a:t>PDMAs (Punjab, KP, Sindh, Balochistan, GB, AJK) and NDMA</a:t>
            </a:r>
            <a:endParaRPr lang="en-US" sz="1250" dirty="0"/>
          </a:p>
          <a:p>
            <a:pPr marL="342900" indent="-342900">
              <a:spcAft>
                <a:spcPts val="600"/>
              </a:spcAft>
              <a:buSzPct val="100000"/>
              <a:buChar char="•"/>
            </a:pPr>
            <a:r>
              <a:rPr lang="en-US" sz="1250" dirty="0">
                <a:solidFill>
                  <a:schemeClr val="tx1"/>
                </a:solidFill>
              </a:rPr>
              <a:t>NGOs that pre-position relief</a:t>
            </a:r>
            <a:endParaRPr lang="en-US" sz="1250" dirty="0"/>
          </a:p>
        </p:txBody>
      </p:sp>
      <p:sp>
        <p:nvSpPr>
          <p:cNvPr id="6" name="biz 2"/>
          <p:cNvSpPr/>
          <p:nvPr/>
        </p:nvSpPr>
        <p:spPr>
          <a:xfrm>
            <a:off x="3264408" y="1051560"/>
            <a:ext cx="2615184" cy="2514600"/>
          </a:xfrm>
          <a:prstGeom prst="roundRect">
            <a:avLst>
              <a:gd name="adj" fmla="val 2909"/>
            </a:avLst>
          </a:prstGeom>
          <a:solidFill>
            <a:schemeClr val="bg2"/>
          </a:solidFill>
          <a:ln w="12700">
            <a:solidFill>
              <a:schemeClr val="bg2"/>
            </a:solidFill>
            <a:prstDash val="solid"/>
          </a:ln>
        </p:spPr>
      </p:sp>
      <p:sp>
        <p:nvSpPr>
          <p:cNvPr id="7" name="Text 5"/>
          <p:cNvSpPr txBox="1"/>
          <p:nvPr/>
        </p:nvSpPr>
        <p:spPr>
          <a:xfrm>
            <a:off x="3465576" y="1216152"/>
            <a:ext cx="2286000" cy="274320"/>
          </a:xfrm>
          <a:prstGeom prst="rect">
            <a:avLst/>
          </a:prstGeom>
          <a:noFill/>
          <a:ln/>
        </p:spPr>
        <p:txBody>
          <a:bodyPr wrap="square" lIns="0" tIns="0" rIns="0" bIns="0" rtlCol="0" anchor="t"/>
          <a:lstStyle/>
          <a:p>
            <a:pPr indent="0" marL="0">
              <a:buNone/>
            </a:pPr>
            <a:r>
              <a:rPr lang="en-US" sz="1200" b="1" spc="100" kern="0" dirty="0">
                <a:solidFill>
                  <a:schemeClr val="accent2"/>
                </a:solidFill>
              </a:rPr>
              <a:t>WHO PAYS</a:t>
            </a:r>
            <a:endParaRPr lang="en-US" sz="1200" dirty="0"/>
          </a:p>
        </p:txBody>
      </p:sp>
      <p:sp>
        <p:nvSpPr>
          <p:cNvPr id="8" name="Text 6"/>
          <p:cNvSpPr txBox="1"/>
          <p:nvPr/>
        </p:nvSpPr>
        <p:spPr>
          <a:xfrm>
            <a:off x="3465576" y="1572768"/>
            <a:ext cx="2286000" cy="192024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chemeClr val="tx1"/>
                </a:solidFill>
              </a:rPr>
              <a:t>PDMA / NDMA preparedness budgets</a:t>
            </a:r>
            <a:endParaRPr lang="en-US" sz="1250" dirty="0"/>
          </a:p>
          <a:p>
            <a:pPr marL="342900" indent="-342900">
              <a:spcAft>
                <a:spcPts val="600"/>
              </a:spcAft>
              <a:buSzPct val="100000"/>
              <a:buChar char="•"/>
            </a:pPr>
            <a:r>
              <a:rPr lang="en-US" sz="1250" dirty="0">
                <a:solidFill>
                  <a:schemeClr val="tx1"/>
                </a:solidFill>
              </a:rPr>
              <a:t>Donors funding anticipatory action: money released when a forecast trigger is hit</a:t>
            </a:r>
            <a:endParaRPr lang="en-US" sz="1250" dirty="0"/>
          </a:p>
          <a:p>
            <a:pPr marL="342900" indent="-342900">
              <a:spcAft>
                <a:spcPts val="600"/>
              </a:spcAft>
              <a:buSzPct val="100000"/>
              <a:buChar char="•"/>
            </a:pPr>
            <a:r>
              <a:rPr lang="en-US" sz="1250" dirty="0">
                <a:solidFill>
                  <a:schemeClr val="tx1"/>
                </a:solidFill>
              </a:rPr>
              <a:t>Public dashboard stays free</a:t>
            </a:r>
            <a:endParaRPr lang="en-US" sz="1250" dirty="0"/>
          </a:p>
        </p:txBody>
      </p:sp>
      <p:sp>
        <p:nvSpPr>
          <p:cNvPr id="9" name="biz 3"/>
          <p:cNvSpPr/>
          <p:nvPr/>
        </p:nvSpPr>
        <p:spPr>
          <a:xfrm>
            <a:off x="6071616" y="1051560"/>
            <a:ext cx="2615184" cy="2514600"/>
          </a:xfrm>
          <a:prstGeom prst="roundRect">
            <a:avLst>
              <a:gd name="adj" fmla="val 2909"/>
            </a:avLst>
          </a:prstGeom>
          <a:solidFill>
            <a:schemeClr val="bg2"/>
          </a:solidFill>
          <a:ln w="12700">
            <a:solidFill>
              <a:schemeClr val="bg2"/>
            </a:solidFill>
            <a:prstDash val="solid"/>
          </a:ln>
        </p:spPr>
      </p:sp>
      <p:sp>
        <p:nvSpPr>
          <p:cNvPr id="10" name="Text 8"/>
          <p:cNvSpPr txBox="1"/>
          <p:nvPr/>
        </p:nvSpPr>
        <p:spPr>
          <a:xfrm>
            <a:off x="6272784" y="1216152"/>
            <a:ext cx="2286000" cy="274320"/>
          </a:xfrm>
          <a:prstGeom prst="rect">
            <a:avLst/>
          </a:prstGeom>
          <a:noFill/>
          <a:ln/>
        </p:spPr>
        <p:txBody>
          <a:bodyPr wrap="square" lIns="0" tIns="0" rIns="0" bIns="0" rtlCol="0" anchor="t"/>
          <a:lstStyle/>
          <a:p>
            <a:pPr indent="0" marL="0">
              <a:buNone/>
            </a:pPr>
            <a:r>
              <a:rPr lang="en-US" sz="1200" b="1" spc="100" kern="0" dirty="0">
                <a:solidFill>
                  <a:schemeClr val="accent2"/>
                </a:solidFill>
              </a:rPr>
              <a:t>WHAT IT COSTS</a:t>
            </a:r>
            <a:endParaRPr lang="en-US" sz="1200" dirty="0"/>
          </a:p>
        </p:txBody>
      </p:sp>
      <p:sp>
        <p:nvSpPr>
          <p:cNvPr id="11" name="Text 9"/>
          <p:cNvSpPr txBox="1"/>
          <p:nvPr/>
        </p:nvSpPr>
        <p:spPr>
          <a:xfrm>
            <a:off x="6272784" y="1572768"/>
            <a:ext cx="2286000" cy="192024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chemeClr val="tx1"/>
                </a:solidFill>
              </a:rPr>
              <a:t>One CPU: a small VM (~€4/month) or a free tier</a:t>
            </a:r>
            <a:endParaRPr lang="en-US" sz="1250" dirty="0"/>
          </a:p>
          <a:p>
            <a:pPr marL="342900" indent="-342900">
              <a:spcAft>
                <a:spcPts val="600"/>
              </a:spcAft>
              <a:buSzPct val="100000"/>
              <a:buChar char="•"/>
            </a:pPr>
            <a:r>
              <a:rPr lang="en-US" sz="1250" dirty="0">
                <a:solidFill>
                  <a:schemeClr val="tx1"/>
                </a:solidFill>
              </a:rPr>
              <a:t>Open data: NASA, OCHA, PBS; Open-Meteo free for non-commercial use</a:t>
            </a:r>
            <a:endParaRPr lang="en-US" sz="1250" dirty="0"/>
          </a:p>
          <a:p>
            <a:pPr marL="342900" indent="-342900">
              <a:spcAft>
                <a:spcPts val="600"/>
              </a:spcAft>
              <a:buSzPct val="100000"/>
              <a:buChar char="•"/>
            </a:pPr>
            <a:r>
              <a:rPr lang="en-US" sz="1250" dirty="0">
                <a:solidFill>
                  <a:schemeClr val="tx1"/>
                </a:solidFill>
              </a:rPr>
              <a:t>~1.3 GB storage, +10 MB a day</a:t>
            </a:r>
            <a:endParaRPr lang="en-US" sz="1250" dirty="0"/>
          </a:p>
        </p:txBody>
      </p:sp>
      <p:sp>
        <p:nvSpPr>
          <p:cNvPr id="12" name="value"/>
          <p:cNvSpPr/>
          <p:nvPr/>
        </p:nvSpPr>
        <p:spPr>
          <a:xfrm>
            <a:off x="457200" y="3730752"/>
            <a:ext cx="8229600" cy="749808"/>
          </a:xfrm>
          <a:prstGeom prst="roundRect">
            <a:avLst>
              <a:gd name="adj" fmla="val 9756"/>
            </a:avLst>
          </a:prstGeom>
          <a:solidFill>
            <a:schemeClr val="tx2"/>
          </a:solidFill>
          <a:ln w="12700">
            <a:solidFill>
              <a:schemeClr val="tx2"/>
            </a:solidFill>
            <a:prstDash val="solid"/>
          </a:ln>
        </p:spPr>
      </p:sp>
      <p:sp>
        <p:nvSpPr>
          <p:cNvPr id="13" name="Text 11"/>
          <p:cNvSpPr txBox="1"/>
          <p:nvPr/>
        </p:nvSpPr>
        <p:spPr>
          <a:xfrm>
            <a:off x="685800" y="3730752"/>
            <a:ext cx="7772400" cy="749808"/>
          </a:xfrm>
          <a:prstGeom prst="rect">
            <a:avLst/>
          </a:prstGeom>
          <a:noFill/>
          <a:ln/>
        </p:spPr>
        <p:txBody>
          <a:bodyPr wrap="square" lIns="0" tIns="0" rIns="0" bIns="0" rtlCol="0" anchor="ctr"/>
          <a:lstStyle/>
          <a:p>
            <a:pPr indent="0" marL="0">
              <a:buNone/>
            </a:pPr>
            <a:r>
              <a:rPr lang="en-US" sz="1350" b="1" dirty="0">
                <a:solidFill>
                  <a:schemeClr val="bg1"/>
                </a:solidFill>
              </a:rPr>
              <a:t>Value: turns reactive relief spending into planned pre-positioning, with evidence that settles where resources go first</a:t>
            </a:r>
            <a:endParaRPr lang="en-US" sz="135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548640"/>
          </a:xfrm>
          <a:prstGeom prst="rect">
            <a:avLst/>
          </a:prstGeom>
          <a:noFill/>
          <a:ln/>
        </p:spPr>
        <p:txBody>
          <a:bodyPr wrap="square" lIns="0" tIns="0" rIns="0" bIns="0" rtlCol="0" anchor="ctr"/>
          <a:lstStyle/>
          <a:p>
            <a:pPr algn="l" indent="0" marL="0">
              <a:buNone/>
            </a:pPr>
            <a:r>
              <a:rPr lang="en-US" sz="2800" b="1" dirty="0">
                <a:solidFill>
                  <a:schemeClr val="tx2"/>
                </a:solidFill>
              </a:rPr>
              <a:t>Conclusion</a:t>
            </a:r>
            <a:endParaRPr lang="en-US" sz="2800" dirty="0"/>
          </a:p>
        </p:txBody>
      </p:sp>
      <p:sp>
        <p:nvSpPr>
          <p:cNvPr id="3" name="finding 1"/>
          <p:cNvSpPr/>
          <p:nvPr/>
        </p:nvSpPr>
        <p:spPr>
          <a:xfrm>
            <a:off x="457200" y="1051560"/>
            <a:ext cx="4937760" cy="1024128"/>
          </a:xfrm>
          <a:prstGeom prst="roundRect">
            <a:avLst>
              <a:gd name="adj" fmla="val 7143"/>
            </a:avLst>
          </a:prstGeom>
          <a:solidFill>
            <a:schemeClr val="bg2"/>
          </a:solidFill>
          <a:ln w="12700">
            <a:solidFill>
              <a:schemeClr val="bg2"/>
            </a:solidFill>
            <a:prstDash val="solid"/>
          </a:ln>
        </p:spPr>
      </p:sp>
      <p:sp>
        <p:nvSpPr>
          <p:cNvPr id="4" name="dot 1"/>
          <p:cNvSpPr/>
          <p:nvPr/>
        </p:nvSpPr>
        <p:spPr>
          <a:xfrm>
            <a:off x="640080" y="1234440"/>
            <a:ext cx="329184" cy="329184"/>
          </a:xfrm>
          <a:prstGeom prst="ellipse">
            <a:avLst/>
          </a:prstGeom>
          <a:solidFill>
            <a:schemeClr val="accent1"/>
          </a:solidFill>
          <a:ln w="12700">
            <a:solidFill>
              <a:schemeClr val="accent1"/>
            </a:solidFill>
            <a:prstDash val="solid"/>
          </a:ln>
        </p:spPr>
      </p:sp>
      <p:sp>
        <p:nvSpPr>
          <p:cNvPr id="5" name="Text 3"/>
          <p:cNvSpPr txBox="1"/>
          <p:nvPr/>
        </p:nvSpPr>
        <p:spPr>
          <a:xfrm>
            <a:off x="640080" y="1234440"/>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6" name="Text 4"/>
          <p:cNvSpPr txBox="1"/>
          <p:nvPr/>
        </p:nvSpPr>
        <p:spPr>
          <a:xfrm>
            <a:off x="1143000" y="1188720"/>
            <a:ext cx="4114800" cy="292608"/>
          </a:xfrm>
          <a:prstGeom prst="rect">
            <a:avLst/>
          </a:prstGeom>
          <a:noFill/>
          <a:ln/>
        </p:spPr>
        <p:txBody>
          <a:bodyPr wrap="square" lIns="0" tIns="0" rIns="0" bIns="0" rtlCol="0" anchor="t"/>
          <a:lstStyle/>
          <a:p>
            <a:pPr indent="0" marL="0">
              <a:buNone/>
            </a:pPr>
            <a:r>
              <a:rPr lang="en-US" sz="1500" b="1" dirty="0">
                <a:solidFill>
                  <a:schemeClr val="tx2"/>
                </a:solidFill>
              </a:rPr>
              <a:t>Beats the baseline on unseen 2026 data</a:t>
            </a:r>
            <a:endParaRPr lang="en-US" sz="1500" dirty="0"/>
          </a:p>
        </p:txBody>
      </p:sp>
      <p:sp>
        <p:nvSpPr>
          <p:cNvPr id="7" name="Text 5"/>
          <p:cNvSpPr txBox="1"/>
          <p:nvPr/>
        </p:nvSpPr>
        <p:spPr>
          <a:xfrm>
            <a:off x="1143000" y="1508760"/>
            <a:ext cx="4114800" cy="530352"/>
          </a:xfrm>
          <a:prstGeom prst="rect">
            <a:avLst/>
          </a:prstGeom>
          <a:noFill/>
          <a:ln/>
        </p:spPr>
        <p:txBody>
          <a:bodyPr wrap="square" lIns="0" tIns="0" rIns="0" bIns="0" rtlCol="0" anchor="t"/>
          <a:lstStyle/>
          <a:p>
            <a:pPr indent="0" marL="0">
              <a:buNone/>
            </a:pPr>
            <a:r>
              <a:rPr lang="en-US" sz="1200" dirty="0">
                <a:solidFill>
                  <a:schemeClr val="tx1"/>
                </a:solidFill>
              </a:rPr>
              <a:t>Brier 0.0177 vs climatology 0.0192 (about 7% better); the 95% interval of the gain excludes zero</a:t>
            </a:r>
            <a:endParaRPr lang="en-US" sz="1200" dirty="0"/>
          </a:p>
        </p:txBody>
      </p:sp>
      <p:sp>
        <p:nvSpPr>
          <p:cNvPr id="8" name="finding 2"/>
          <p:cNvSpPr/>
          <p:nvPr/>
        </p:nvSpPr>
        <p:spPr>
          <a:xfrm>
            <a:off x="457200" y="2212848"/>
            <a:ext cx="4937760" cy="1024128"/>
          </a:xfrm>
          <a:prstGeom prst="roundRect">
            <a:avLst>
              <a:gd name="adj" fmla="val 7143"/>
            </a:avLst>
          </a:prstGeom>
          <a:solidFill>
            <a:schemeClr val="bg2"/>
          </a:solidFill>
          <a:ln w="12700">
            <a:solidFill>
              <a:schemeClr val="bg2"/>
            </a:solidFill>
            <a:prstDash val="solid"/>
          </a:ln>
        </p:spPr>
      </p:sp>
      <p:sp>
        <p:nvSpPr>
          <p:cNvPr id="9" name="dot 2"/>
          <p:cNvSpPr/>
          <p:nvPr/>
        </p:nvSpPr>
        <p:spPr>
          <a:xfrm>
            <a:off x="640080" y="2395728"/>
            <a:ext cx="329184" cy="329184"/>
          </a:xfrm>
          <a:prstGeom prst="ellipse">
            <a:avLst/>
          </a:prstGeom>
          <a:solidFill>
            <a:schemeClr val="accent1"/>
          </a:solidFill>
          <a:ln w="12700">
            <a:solidFill>
              <a:schemeClr val="accent1"/>
            </a:solidFill>
            <a:prstDash val="solid"/>
          </a:ln>
        </p:spPr>
      </p:sp>
      <p:sp>
        <p:nvSpPr>
          <p:cNvPr id="10" name="Text 8"/>
          <p:cNvSpPr txBox="1"/>
          <p:nvPr/>
        </p:nvSpPr>
        <p:spPr>
          <a:xfrm>
            <a:off x="640080" y="2395728"/>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1" name="Text 9"/>
          <p:cNvSpPr txBox="1"/>
          <p:nvPr/>
        </p:nvSpPr>
        <p:spPr>
          <a:xfrm>
            <a:off x="1143000" y="2350008"/>
            <a:ext cx="4114800" cy="292608"/>
          </a:xfrm>
          <a:prstGeom prst="rect">
            <a:avLst/>
          </a:prstGeom>
          <a:noFill/>
          <a:ln/>
        </p:spPr>
        <p:txBody>
          <a:bodyPr wrap="square" lIns="0" tIns="0" rIns="0" bIns="0" rtlCol="0" anchor="t"/>
          <a:lstStyle/>
          <a:p>
            <a:pPr indent="0" marL="0">
              <a:buNone/>
            </a:pPr>
            <a:r>
              <a:rPr lang="en-US" sz="1500" b="1" dirty="0">
                <a:solidFill>
                  <a:schemeClr val="tx2"/>
                </a:solidFill>
              </a:rPr>
              <a:t>Better everywhere we checked</a:t>
            </a:r>
            <a:endParaRPr lang="en-US" sz="1500" dirty="0"/>
          </a:p>
        </p:txBody>
      </p:sp>
      <p:sp>
        <p:nvSpPr>
          <p:cNvPr id="12" name="Text 10"/>
          <p:cNvSpPr txBox="1"/>
          <p:nvPr/>
        </p:nvSpPr>
        <p:spPr>
          <a:xfrm>
            <a:off x="1143000" y="2670048"/>
            <a:ext cx="4114800" cy="530352"/>
          </a:xfrm>
          <a:prstGeom prst="rect">
            <a:avLst/>
          </a:prstGeom>
          <a:noFill/>
          <a:ln/>
        </p:spPr>
        <p:txBody>
          <a:bodyPr wrap="square" lIns="0" tIns="0" rIns="0" bIns="0" rtlCol="0" anchor="t"/>
          <a:lstStyle/>
          <a:p>
            <a:pPr indent="0" marL="0">
              <a:buNone/>
            </a:pPr>
            <a:r>
              <a:rPr lang="en-US" sz="1200" dirty="0">
                <a:solidFill>
                  <a:schemeClr val="tx1"/>
                </a:solidFill>
              </a:rPr>
              <a:t>Ahead of climatology in every province and terrain group and in monsoon months; weakest in Azad Kashmir</a:t>
            </a:r>
            <a:endParaRPr lang="en-US" sz="1200" dirty="0"/>
          </a:p>
        </p:txBody>
      </p:sp>
      <p:sp>
        <p:nvSpPr>
          <p:cNvPr id="13" name="finding 3"/>
          <p:cNvSpPr/>
          <p:nvPr/>
        </p:nvSpPr>
        <p:spPr>
          <a:xfrm>
            <a:off x="457200" y="3374136"/>
            <a:ext cx="4937760" cy="1024128"/>
          </a:xfrm>
          <a:prstGeom prst="roundRect">
            <a:avLst>
              <a:gd name="adj" fmla="val 7143"/>
            </a:avLst>
          </a:prstGeom>
          <a:solidFill>
            <a:schemeClr val="bg2"/>
          </a:solidFill>
          <a:ln w="12700">
            <a:solidFill>
              <a:schemeClr val="bg2"/>
            </a:solidFill>
            <a:prstDash val="solid"/>
          </a:ln>
        </p:spPr>
      </p:sp>
      <p:sp>
        <p:nvSpPr>
          <p:cNvPr id="14" name="dot 3"/>
          <p:cNvSpPr/>
          <p:nvPr/>
        </p:nvSpPr>
        <p:spPr>
          <a:xfrm>
            <a:off x="640080" y="3557016"/>
            <a:ext cx="329184" cy="329184"/>
          </a:xfrm>
          <a:prstGeom prst="ellipse">
            <a:avLst/>
          </a:prstGeom>
          <a:solidFill>
            <a:schemeClr val="accent1"/>
          </a:solidFill>
          <a:ln w="12700">
            <a:solidFill>
              <a:schemeClr val="accent1"/>
            </a:solidFill>
            <a:prstDash val="solid"/>
          </a:ln>
        </p:spPr>
      </p:sp>
      <p:sp>
        <p:nvSpPr>
          <p:cNvPr id="15" name="Text 13"/>
          <p:cNvSpPr txBox="1"/>
          <p:nvPr/>
        </p:nvSpPr>
        <p:spPr>
          <a:xfrm>
            <a:off x="640080" y="3557016"/>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6" name="Text 14"/>
          <p:cNvSpPr txBox="1"/>
          <p:nvPr/>
        </p:nvSpPr>
        <p:spPr>
          <a:xfrm>
            <a:off x="1143000" y="3511296"/>
            <a:ext cx="4114800" cy="292608"/>
          </a:xfrm>
          <a:prstGeom prst="rect">
            <a:avLst/>
          </a:prstGeom>
          <a:noFill/>
          <a:ln/>
        </p:spPr>
        <p:txBody>
          <a:bodyPr wrap="square" lIns="0" tIns="0" rIns="0" bIns="0" rtlCol="0" anchor="t"/>
          <a:lstStyle/>
          <a:p>
            <a:pPr indent="0" marL="0">
              <a:buNone/>
            </a:pPr>
            <a:r>
              <a:rPr lang="en-US" sz="1500" b="1" dirty="0">
                <a:solidFill>
                  <a:schemeClr val="tx2"/>
                </a:solidFill>
              </a:rPr>
              <a:t>Right when it mattered</a:t>
            </a:r>
            <a:endParaRPr lang="en-US" sz="1500" dirty="0"/>
          </a:p>
        </p:txBody>
      </p:sp>
      <p:sp>
        <p:nvSpPr>
          <p:cNvPr id="17" name="Text 15"/>
          <p:cNvSpPr txBox="1"/>
          <p:nvPr/>
        </p:nvSpPr>
        <p:spPr>
          <a:xfrm>
            <a:off x="1143000" y="3831336"/>
            <a:ext cx="4114800" cy="530352"/>
          </a:xfrm>
          <a:prstGeom prst="rect">
            <a:avLst/>
          </a:prstGeom>
          <a:noFill/>
          <a:ln/>
        </p:spPr>
        <p:txBody>
          <a:bodyPr wrap="square" lIns="0" tIns="0" rIns="0" bIns="0" rtlCol="0" anchor="t"/>
          <a:lstStyle/>
          <a:p>
            <a:pPr indent="0" marL="0">
              <a:buNone/>
            </a:pPr>
            <a:r>
              <a:rPr lang="en-US" sz="1200" dirty="0">
                <a:solidFill>
                  <a:schemeClr val="tx1"/>
                </a:solidFill>
              </a:rPr>
              <a:t>Replaying Aug 2025: on 14 Aug, 8 of the 10 districts we ranked highest really had heavy rain</a:t>
            </a:r>
            <a:endParaRPr lang="en-US" sz="1200" dirty="0"/>
          </a:p>
        </p:txBody>
      </p:sp>
      <p:sp>
        <p:nvSpPr>
          <p:cNvPr id="18" name="impact"/>
          <p:cNvSpPr/>
          <p:nvPr/>
        </p:nvSpPr>
        <p:spPr>
          <a:xfrm>
            <a:off x="5669280" y="1051560"/>
            <a:ext cx="3017520" cy="1691640"/>
          </a:xfrm>
          <a:prstGeom prst="roundRect">
            <a:avLst>
              <a:gd name="adj" fmla="val 4324"/>
            </a:avLst>
          </a:prstGeom>
          <a:solidFill>
            <a:schemeClr val="tx2"/>
          </a:solidFill>
          <a:ln w="12700">
            <a:solidFill>
              <a:schemeClr val="tx2"/>
            </a:solidFill>
            <a:prstDash val="solid"/>
          </a:ln>
        </p:spPr>
      </p:sp>
      <p:sp>
        <p:nvSpPr>
          <p:cNvPr id="19" name="Text 17"/>
          <p:cNvSpPr txBox="1"/>
          <p:nvPr/>
        </p:nvSpPr>
        <p:spPr>
          <a:xfrm>
            <a:off x="5870448" y="1216152"/>
            <a:ext cx="2651760" cy="274320"/>
          </a:xfrm>
          <a:prstGeom prst="rect">
            <a:avLst/>
          </a:prstGeom>
          <a:noFill/>
          <a:ln/>
        </p:spPr>
        <p:txBody>
          <a:bodyPr wrap="square" lIns="0" tIns="0" rIns="0" bIns="0" rtlCol="0" anchor="t"/>
          <a:lstStyle/>
          <a:p>
            <a:pPr indent="0" marL="0">
              <a:buNone/>
            </a:pPr>
            <a:r>
              <a:rPr lang="en-US" sz="1200" b="1" spc="200" kern="0" dirty="0">
                <a:solidFill>
                  <a:schemeClr val="bg1"/>
                </a:solidFill>
              </a:rPr>
              <a:t>IMPACT</a:t>
            </a:r>
            <a:endParaRPr lang="en-US" sz="1200" dirty="0"/>
          </a:p>
        </p:txBody>
      </p:sp>
      <p:sp>
        <p:nvSpPr>
          <p:cNvPr id="20" name="Text 18"/>
          <p:cNvSpPr txBox="1"/>
          <p:nvPr/>
        </p:nvSpPr>
        <p:spPr>
          <a:xfrm>
            <a:off x="5870448" y="1490472"/>
            <a:ext cx="2697480" cy="1216152"/>
          </a:xfrm>
          <a:prstGeom prst="rect">
            <a:avLst/>
          </a:prstGeom>
          <a:noFill/>
          <a:ln/>
        </p:spPr>
        <p:txBody>
          <a:bodyPr wrap="square" lIns="0" tIns="0" rIns="0" bIns="0" rtlCol="0" anchor="t"/>
          <a:lstStyle/>
          <a:p>
            <a:pPr indent="0" marL="0">
              <a:spcAft>
                <a:spcPts val="400"/>
              </a:spcAft>
              <a:buNone/>
            </a:pPr>
            <a:r>
              <a:rPr lang="en-US" sz="1100" dirty="0">
                <a:solidFill>
                  <a:schemeClr val="bg1"/>
                </a:solidFill>
              </a:rPr>
              <a:t>160 district offices get a free, hourly, per-district signal with reasons and NDMA sources.</a:t>
            </a:r>
            <a:endParaRPr lang="en-US" sz="1100" dirty="0"/>
          </a:p>
          <a:p>
            <a:pPr indent="0" marL="0">
              <a:spcAft>
                <a:spcPts val="400"/>
              </a:spcAft>
              <a:buNone/>
            </a:pPr>
            <a:r>
              <a:rPr lang="en-US" sz="1100" b="1" dirty="0">
                <a:solidFill>
                  <a:schemeClr val="bg1"/>
                </a:solidFill>
              </a:rPr>
              <a:t>Payer: PDMA preparedness budgets or donors' anticipatory-action funds. Runs on 1 CPU, free-tier data.</a:t>
            </a:r>
            <a:endParaRPr lang="en-US" sz="1100" dirty="0"/>
          </a:p>
        </p:txBody>
      </p:sp>
      <p:sp>
        <p:nvSpPr>
          <p:cNvPr id="21" name="future work"/>
          <p:cNvSpPr/>
          <p:nvPr/>
        </p:nvSpPr>
        <p:spPr>
          <a:xfrm>
            <a:off x="5669280" y="2907792"/>
            <a:ext cx="3017520" cy="1572768"/>
          </a:xfrm>
          <a:prstGeom prst="roundRect">
            <a:avLst>
              <a:gd name="adj" fmla="val 4651"/>
            </a:avLst>
          </a:prstGeom>
          <a:solidFill>
            <a:schemeClr val="bg2"/>
          </a:solidFill>
          <a:ln w="12700">
            <a:solidFill>
              <a:schemeClr val="bg2"/>
            </a:solidFill>
            <a:prstDash val="solid"/>
          </a:ln>
        </p:spPr>
      </p:sp>
      <p:sp>
        <p:nvSpPr>
          <p:cNvPr id="22" name="Text 20"/>
          <p:cNvSpPr txBox="1"/>
          <p:nvPr/>
        </p:nvSpPr>
        <p:spPr>
          <a:xfrm>
            <a:off x="5870448" y="3072384"/>
            <a:ext cx="265176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FUTURE WORK</a:t>
            </a:r>
            <a:endParaRPr lang="en-US" sz="1200" dirty="0"/>
          </a:p>
        </p:txBody>
      </p:sp>
      <p:sp>
        <p:nvSpPr>
          <p:cNvPr id="23" name="Text 21"/>
          <p:cNvSpPr txBox="1"/>
          <p:nvPr/>
        </p:nvSpPr>
        <p:spPr>
          <a:xfrm>
            <a:off x="5870448" y="3383280"/>
            <a:ext cx="2697480" cy="105156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1"/>
                </a:solidFill>
              </a:rPr>
              <a:t>Sub-daily rain to catch cloudbursts like Buner</a:t>
            </a:r>
            <a:endParaRPr lang="en-US" sz="1200" dirty="0"/>
          </a:p>
          <a:p>
            <a:pPr marL="342900" indent="-342900">
              <a:spcAft>
                <a:spcPts val="300"/>
              </a:spcAft>
              <a:buSzPct val="100000"/>
              <a:buChar char="•"/>
            </a:pPr>
            <a:r>
              <a:rPr lang="en-US" sz="1200" dirty="0">
                <a:solidFill>
                  <a:schemeClr val="tx1"/>
                </a:solidFill>
              </a:rPr>
              <a:t>Flood and damage targets, not only rain</a:t>
            </a:r>
            <a:endParaRPr lang="en-US" sz="1200" dirty="0"/>
          </a:p>
          <a:p>
            <a:pPr marL="342900" indent="-342900">
              <a:spcAft>
                <a:spcPts val="300"/>
              </a:spcAft>
              <a:buSzPct val="100000"/>
              <a:buChar char="•"/>
            </a:pPr>
            <a:r>
              <a:rPr lang="en-US" sz="1200" dirty="0">
                <a:solidFill>
                  <a:schemeClr val="tx1"/>
                </a:solidFill>
              </a:rPr>
              <a:t>A price model that beats “no change”</a:t>
            </a:r>
            <a:endParaRPr lang="en-US" sz="12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548640"/>
          </a:xfrm>
          <a:prstGeom prst="rect">
            <a:avLst/>
          </a:prstGeom>
          <a:noFill/>
          <a:ln/>
        </p:spPr>
        <p:txBody>
          <a:bodyPr wrap="square" lIns="0" tIns="0" rIns="0" bIns="0" rtlCol="0" anchor="ctr"/>
          <a:lstStyle/>
          <a:p>
            <a:pPr algn="l" indent="0" marL="0">
              <a:buNone/>
            </a:pPr>
            <a:r>
              <a:rPr lang="en-US" sz="2800" b="1" dirty="0">
                <a:solidFill>
                  <a:schemeClr val="tx2"/>
                </a:solidFill>
              </a:rPr>
              <a:t>Team &amp; Credits</a:t>
            </a:r>
            <a:endParaRPr lang="en-US" sz="2800" dirty="0"/>
          </a:p>
        </p:txBody>
      </p:sp>
      <p:sp>
        <p:nvSpPr>
          <p:cNvPr id="3" name="Text 1"/>
          <p:cNvSpPr txBox="1"/>
          <p:nvPr/>
        </p:nvSpPr>
        <p:spPr>
          <a:xfrm>
            <a:off x="457200" y="914400"/>
            <a:ext cx="5486400" cy="365760"/>
          </a:xfrm>
          <a:prstGeom prst="rect">
            <a:avLst/>
          </a:prstGeom>
          <a:noFill/>
          <a:ln/>
        </p:spPr>
        <p:txBody>
          <a:bodyPr wrap="square" lIns="0" tIns="0" rIns="0" bIns="0" rtlCol="0" anchor="t"/>
          <a:lstStyle/>
          <a:p>
            <a:pPr indent="0" marL="0">
              <a:buNone/>
            </a:pPr>
            <a:r>
              <a:rPr lang="en-US" sz="1800" b="1" spc="200" kern="0" dirty="0">
                <a:solidFill>
                  <a:schemeClr val="accent2"/>
                </a:solidFill>
              </a:rPr>
              <a:t>TEAM SPARK H</a:t>
            </a:r>
            <a:endParaRPr lang="en-US" sz="1800" dirty="0"/>
          </a:p>
        </p:txBody>
      </p:sp>
      <p:sp>
        <p:nvSpPr>
          <p:cNvPr id="4" name="member 1"/>
          <p:cNvSpPr/>
          <p:nvPr/>
        </p:nvSpPr>
        <p:spPr>
          <a:xfrm>
            <a:off x="457200" y="914400"/>
            <a:ext cx="2560320" cy="2880360"/>
          </a:xfrm>
          <a:prstGeom prst="roundRect">
            <a:avLst>
              <a:gd name="adj" fmla="val 2857"/>
            </a:avLst>
          </a:prstGeom>
          <a:solidFill>
            <a:schemeClr val="bg2"/>
          </a:solidFill>
          <a:ln w="12700">
            <a:solidFill>
              <a:schemeClr val="bg2"/>
            </a:solidFill>
            <a:prstDash val="solid"/>
          </a:ln>
        </p:spPr>
      </p:sp>
      <p:sp>
        <p:nvSpPr>
          <p:cNvPr id="5" name="avatar 1"/>
          <p:cNvSpPr/>
          <p:nvPr/>
        </p:nvSpPr>
        <p:spPr>
          <a:xfrm>
            <a:off x="1463040" y="1051560"/>
            <a:ext cx="548640" cy="548640"/>
          </a:xfrm>
          <a:prstGeom prst="ellipse">
            <a:avLst/>
          </a:prstGeom>
          <a:solidFill>
            <a:schemeClr val="accent1"/>
          </a:solidFill>
          <a:ln w="12700">
            <a:solidFill>
              <a:schemeClr val="accent1"/>
            </a:solidFill>
            <a:prstDash val="solid"/>
          </a:ln>
        </p:spPr>
      </p:sp>
      <p:sp>
        <p:nvSpPr>
          <p:cNvPr id="6" name="Text 4"/>
          <p:cNvSpPr txBox="1"/>
          <p:nvPr/>
        </p:nvSpPr>
        <p:spPr>
          <a:xfrm>
            <a:off x="1463040" y="105156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RT</a:t>
            </a:r>
            <a:endParaRPr lang="en-US" sz="1600" dirty="0"/>
          </a:p>
        </p:txBody>
      </p:sp>
      <p:sp>
        <p:nvSpPr>
          <p:cNvPr id="7" name="Text 5"/>
          <p:cNvSpPr txBox="1"/>
          <p:nvPr/>
        </p:nvSpPr>
        <p:spPr>
          <a:xfrm>
            <a:off x="548640" y="1691640"/>
            <a:ext cx="2377440" cy="292608"/>
          </a:xfrm>
          <a:prstGeom prst="rect">
            <a:avLst/>
          </a:prstGeom>
          <a:noFill/>
          <a:ln/>
        </p:spPr>
        <p:txBody>
          <a:bodyPr wrap="square" lIns="0" tIns="0" rIns="0" bIns="0" rtlCol="0" anchor="t"/>
          <a:lstStyle/>
          <a:p>
            <a:pPr algn="ctr" indent="0" marL="0">
              <a:buNone/>
            </a:pPr>
            <a:r>
              <a:rPr lang="en-US" sz="1400" b="1" dirty="0">
                <a:solidFill>
                  <a:schemeClr val="tx2"/>
                </a:solidFill>
              </a:rPr>
              <a:t>Roshaan Tahir · CSDT-13</a:t>
            </a:r>
            <a:endParaRPr lang="en-US" sz="1400" dirty="0"/>
          </a:p>
        </p:txBody>
      </p:sp>
      <p:sp>
        <p:nvSpPr>
          <p:cNvPr id="8" name="Text 6"/>
          <p:cNvSpPr txBox="1"/>
          <p:nvPr/>
        </p:nvSpPr>
        <p:spPr>
          <a:xfrm>
            <a:off x="548640" y="1984248"/>
            <a:ext cx="2377440" cy="256032"/>
          </a:xfrm>
          <a:prstGeom prst="rect">
            <a:avLst/>
          </a:prstGeom>
          <a:noFill/>
          <a:ln/>
        </p:spPr>
        <p:txBody>
          <a:bodyPr wrap="square" lIns="0" tIns="0" rIns="0" bIns="0" rtlCol="0" anchor="t"/>
          <a:lstStyle/>
          <a:p>
            <a:pPr algn="ctr" indent="0" marL="0">
              <a:buNone/>
            </a:pPr>
            <a:r>
              <a:rPr lang="en-US" sz="1200" b="1" dirty="0">
                <a:solidFill>
                  <a:schemeClr val="accent2"/>
                </a:solidFill>
              </a:rPr>
              <a:t>Team Lead · Lead Architect</a:t>
            </a:r>
            <a:endParaRPr lang="en-US" sz="1200" dirty="0"/>
          </a:p>
        </p:txBody>
      </p:sp>
      <p:sp>
        <p:nvSpPr>
          <p:cNvPr id="9" name="Text 7"/>
          <p:cNvSpPr txBox="1"/>
          <p:nvPr/>
        </p:nvSpPr>
        <p:spPr>
          <a:xfrm>
            <a:off x="640080" y="2331720"/>
            <a:ext cx="2240280" cy="137160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1"/>
                </a:solidFill>
              </a:rPr>
              <a:t>Open-Meteo forecast pipeline</a:t>
            </a:r>
            <a:endParaRPr lang="en-US" sz="1200" dirty="0"/>
          </a:p>
          <a:p>
            <a:pPr marL="342900" indent="-342900">
              <a:spcAft>
                <a:spcPts val="400"/>
              </a:spcAft>
              <a:buSzPct val="100000"/>
              <a:buChar char="•"/>
            </a:pPr>
            <a:r>
              <a:rPr lang="en-US" sz="1200" dirty="0">
                <a:solidFill>
                  <a:schemeClr val="tx1"/>
                </a:solidFill>
              </a:rPr>
              <a:t>Model A training and calibration</a:t>
            </a:r>
            <a:endParaRPr lang="en-US" sz="1200" dirty="0"/>
          </a:p>
          <a:p>
            <a:pPr marL="342900" indent="-342900">
              <a:spcAft>
                <a:spcPts val="400"/>
              </a:spcAft>
              <a:buSzPct val="100000"/>
              <a:buChar char="•"/>
            </a:pPr>
            <a:r>
              <a:rPr lang="en-US" sz="1200" dirty="0">
                <a:solidFill>
                  <a:schemeClr val="tx1"/>
                </a:solidFill>
              </a:rPr>
              <a:t>Insight Agent and live dashboard</a:t>
            </a:r>
            <a:endParaRPr lang="en-US" sz="1200" dirty="0"/>
          </a:p>
        </p:txBody>
      </p:sp>
      <p:sp>
        <p:nvSpPr>
          <p:cNvPr id="10" name="member 2"/>
          <p:cNvSpPr/>
          <p:nvPr/>
        </p:nvSpPr>
        <p:spPr>
          <a:xfrm>
            <a:off x="3291840" y="914400"/>
            <a:ext cx="2560320" cy="2880360"/>
          </a:xfrm>
          <a:prstGeom prst="roundRect">
            <a:avLst>
              <a:gd name="adj" fmla="val 2857"/>
            </a:avLst>
          </a:prstGeom>
          <a:solidFill>
            <a:schemeClr val="bg2"/>
          </a:solidFill>
          <a:ln w="12700">
            <a:solidFill>
              <a:schemeClr val="bg2"/>
            </a:solidFill>
            <a:prstDash val="solid"/>
          </a:ln>
        </p:spPr>
      </p:sp>
      <p:sp>
        <p:nvSpPr>
          <p:cNvPr id="11" name="avatar 2"/>
          <p:cNvSpPr/>
          <p:nvPr/>
        </p:nvSpPr>
        <p:spPr>
          <a:xfrm>
            <a:off x="4297680" y="1051560"/>
            <a:ext cx="548640" cy="548640"/>
          </a:xfrm>
          <a:prstGeom prst="ellipse">
            <a:avLst/>
          </a:prstGeom>
          <a:solidFill>
            <a:schemeClr val="accent1"/>
          </a:solidFill>
          <a:ln w="12700">
            <a:solidFill>
              <a:schemeClr val="accent1"/>
            </a:solidFill>
            <a:prstDash val="solid"/>
          </a:ln>
        </p:spPr>
      </p:sp>
      <p:sp>
        <p:nvSpPr>
          <p:cNvPr id="12" name="Text 10"/>
          <p:cNvSpPr txBox="1"/>
          <p:nvPr/>
        </p:nvSpPr>
        <p:spPr>
          <a:xfrm>
            <a:off x="4297680" y="105156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HK</a:t>
            </a:r>
            <a:endParaRPr lang="en-US" sz="1600" dirty="0"/>
          </a:p>
        </p:txBody>
      </p:sp>
      <p:sp>
        <p:nvSpPr>
          <p:cNvPr id="13" name="Text 11"/>
          <p:cNvSpPr txBox="1"/>
          <p:nvPr/>
        </p:nvSpPr>
        <p:spPr>
          <a:xfrm>
            <a:off x="3383280" y="1691640"/>
            <a:ext cx="2377440" cy="292608"/>
          </a:xfrm>
          <a:prstGeom prst="rect">
            <a:avLst/>
          </a:prstGeom>
          <a:noFill/>
          <a:ln/>
        </p:spPr>
        <p:txBody>
          <a:bodyPr wrap="square" lIns="0" tIns="0" rIns="0" bIns="0" rtlCol="0" anchor="t"/>
          <a:lstStyle/>
          <a:p>
            <a:pPr algn="ctr" indent="0" marL="0">
              <a:buNone/>
            </a:pPr>
            <a:r>
              <a:rPr lang="en-US" sz="1400" b="1" dirty="0">
                <a:solidFill>
                  <a:schemeClr val="tx2"/>
                </a:solidFill>
              </a:rPr>
              <a:t>M Hammad Khan · CSDT-33</a:t>
            </a:r>
            <a:endParaRPr lang="en-US" sz="1400" dirty="0"/>
          </a:p>
        </p:txBody>
      </p:sp>
      <p:sp>
        <p:nvSpPr>
          <p:cNvPr id="14" name="Text 12"/>
          <p:cNvSpPr txBox="1"/>
          <p:nvPr/>
        </p:nvSpPr>
        <p:spPr>
          <a:xfrm>
            <a:off x="3383280" y="1984248"/>
            <a:ext cx="2377440" cy="256032"/>
          </a:xfrm>
          <a:prstGeom prst="rect">
            <a:avLst/>
          </a:prstGeom>
          <a:noFill/>
          <a:ln/>
        </p:spPr>
        <p:txBody>
          <a:bodyPr wrap="square" lIns="0" tIns="0" rIns="0" bIns="0" rtlCol="0" anchor="t"/>
          <a:lstStyle/>
          <a:p>
            <a:pPr algn="ctr" indent="0" marL="0">
              <a:buNone/>
            </a:pPr>
            <a:r>
              <a:rPr lang="en-US" sz="1200" b="1" dirty="0">
                <a:solidFill>
                  <a:schemeClr val="accent2"/>
                </a:solidFill>
              </a:rPr>
              <a:t>Lead Backend</a:t>
            </a:r>
            <a:endParaRPr lang="en-US" sz="1200" dirty="0"/>
          </a:p>
        </p:txBody>
      </p:sp>
      <p:sp>
        <p:nvSpPr>
          <p:cNvPr id="15" name="Text 13"/>
          <p:cNvSpPr txBox="1"/>
          <p:nvPr/>
        </p:nvSpPr>
        <p:spPr>
          <a:xfrm>
            <a:off x="3474720" y="2331720"/>
            <a:ext cx="2240280" cy="137160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1"/>
                </a:solidFill>
              </a:rPr>
              <a:t>NASA IMERG satellite rain fetcher</a:t>
            </a:r>
            <a:endParaRPr lang="en-US" sz="1200" dirty="0"/>
          </a:p>
          <a:p>
            <a:pPr marL="342900" indent="-342900">
              <a:spcAft>
                <a:spcPts val="400"/>
              </a:spcAft>
              <a:buSzPct val="100000"/>
              <a:buChar char="•"/>
            </a:pPr>
            <a:r>
              <a:rPr lang="en-US" sz="1200" dirty="0">
                <a:solidFill>
                  <a:schemeClr val="tx1"/>
                </a:solidFill>
              </a:rPr>
              <a:t>District rain, 95th-pct thresholds, labels</a:t>
            </a:r>
            <a:endParaRPr lang="en-US" sz="1200" dirty="0"/>
          </a:p>
          <a:p>
            <a:pPr marL="342900" indent="-342900">
              <a:spcAft>
                <a:spcPts val="400"/>
              </a:spcAft>
              <a:buSzPct val="100000"/>
              <a:buChar char="•"/>
            </a:pPr>
            <a:r>
              <a:rPr lang="en-US" sz="1200" dirty="0">
                <a:solidFill>
                  <a:schemeClr val="tx1"/>
                </a:solidFill>
              </a:rPr>
              <a:t>Data quality checks + 26 tests</a:t>
            </a:r>
            <a:endParaRPr lang="en-US" sz="1200" dirty="0"/>
          </a:p>
        </p:txBody>
      </p:sp>
      <p:sp>
        <p:nvSpPr>
          <p:cNvPr id="16" name="member 3"/>
          <p:cNvSpPr/>
          <p:nvPr/>
        </p:nvSpPr>
        <p:spPr>
          <a:xfrm>
            <a:off x="6126480" y="914400"/>
            <a:ext cx="2560320" cy="2880360"/>
          </a:xfrm>
          <a:prstGeom prst="roundRect">
            <a:avLst>
              <a:gd name="adj" fmla="val 2857"/>
            </a:avLst>
          </a:prstGeom>
          <a:solidFill>
            <a:schemeClr val="bg2"/>
          </a:solidFill>
          <a:ln w="12700">
            <a:solidFill>
              <a:schemeClr val="bg2"/>
            </a:solidFill>
            <a:prstDash val="solid"/>
          </a:ln>
        </p:spPr>
      </p:sp>
      <p:sp>
        <p:nvSpPr>
          <p:cNvPr id="17" name="avatar 3"/>
          <p:cNvSpPr/>
          <p:nvPr/>
        </p:nvSpPr>
        <p:spPr>
          <a:xfrm>
            <a:off x="7132320" y="1051560"/>
            <a:ext cx="548640" cy="548640"/>
          </a:xfrm>
          <a:prstGeom prst="ellipse">
            <a:avLst/>
          </a:prstGeom>
          <a:solidFill>
            <a:schemeClr val="accent1"/>
          </a:solidFill>
          <a:ln w="12700">
            <a:solidFill>
              <a:schemeClr val="accent1"/>
            </a:solidFill>
            <a:prstDash val="solid"/>
          </a:ln>
        </p:spPr>
      </p:sp>
      <p:sp>
        <p:nvSpPr>
          <p:cNvPr id="18" name="Text 16"/>
          <p:cNvSpPr txBox="1"/>
          <p:nvPr/>
        </p:nvSpPr>
        <p:spPr>
          <a:xfrm>
            <a:off x="7132320" y="105156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MH</a:t>
            </a:r>
            <a:endParaRPr lang="en-US" sz="1600" dirty="0"/>
          </a:p>
        </p:txBody>
      </p:sp>
      <p:sp>
        <p:nvSpPr>
          <p:cNvPr id="19" name="Text 17"/>
          <p:cNvSpPr txBox="1"/>
          <p:nvPr/>
        </p:nvSpPr>
        <p:spPr>
          <a:xfrm>
            <a:off x="6217920" y="1691640"/>
            <a:ext cx="2377440" cy="292608"/>
          </a:xfrm>
          <a:prstGeom prst="rect">
            <a:avLst/>
          </a:prstGeom>
          <a:noFill/>
          <a:ln/>
        </p:spPr>
        <p:txBody>
          <a:bodyPr wrap="square" lIns="0" tIns="0" rIns="0" bIns="0" rtlCol="0" anchor="t"/>
          <a:lstStyle/>
          <a:p>
            <a:pPr algn="ctr" indent="0" marL="0">
              <a:buNone/>
            </a:pPr>
            <a:r>
              <a:rPr lang="en-US" sz="1400" b="1" dirty="0">
                <a:solidFill>
                  <a:schemeClr val="tx2"/>
                </a:solidFill>
              </a:rPr>
              <a:t>M Huzaifa · CSDT-21</a:t>
            </a:r>
            <a:endParaRPr lang="en-US" sz="1400" dirty="0"/>
          </a:p>
        </p:txBody>
      </p:sp>
      <p:sp>
        <p:nvSpPr>
          <p:cNvPr id="20" name="Text 18"/>
          <p:cNvSpPr txBox="1"/>
          <p:nvPr/>
        </p:nvSpPr>
        <p:spPr>
          <a:xfrm>
            <a:off x="6217920" y="1984248"/>
            <a:ext cx="2377440" cy="256032"/>
          </a:xfrm>
          <a:prstGeom prst="rect">
            <a:avLst/>
          </a:prstGeom>
          <a:noFill/>
          <a:ln/>
        </p:spPr>
        <p:txBody>
          <a:bodyPr wrap="square" lIns="0" tIns="0" rIns="0" bIns="0" rtlCol="0" anchor="t"/>
          <a:lstStyle/>
          <a:p>
            <a:pPr algn="ctr" indent="0" marL="0">
              <a:buNone/>
            </a:pPr>
            <a:r>
              <a:rPr lang="en-US" sz="1200" b="1" dirty="0">
                <a:solidFill>
                  <a:schemeClr val="accent2"/>
                </a:solidFill>
              </a:rPr>
              <a:t>Lead Data Sources</a:t>
            </a:r>
            <a:endParaRPr lang="en-US" sz="1200" dirty="0"/>
          </a:p>
        </p:txBody>
      </p:sp>
      <p:sp>
        <p:nvSpPr>
          <p:cNvPr id="21" name="Text 19"/>
          <p:cNvSpPr txBox="1"/>
          <p:nvPr/>
        </p:nvSpPr>
        <p:spPr>
          <a:xfrm>
            <a:off x="6309360" y="2331720"/>
            <a:ext cx="2240280" cy="137160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1"/>
                </a:solidFill>
              </a:rPr>
              <a:t>Hugging Face Space (Docker server)</a:t>
            </a:r>
            <a:endParaRPr lang="en-US" sz="1200" dirty="0"/>
          </a:p>
          <a:p>
            <a:pPr marL="342900" indent="-342900">
              <a:spcAft>
                <a:spcPts val="400"/>
              </a:spcAft>
              <a:buSzPct val="100000"/>
              <a:buChar char="•"/>
            </a:pPr>
            <a:r>
              <a:rPr lang="en-US" sz="1200" dirty="0">
                <a:solidFill>
                  <a:schemeClr val="tx1"/>
                </a:solidFill>
              </a:rPr>
              <a:t>Build-and-assemble deploy script</a:t>
            </a:r>
            <a:endParaRPr lang="en-US" sz="1200" dirty="0"/>
          </a:p>
          <a:p>
            <a:pPr marL="342900" indent="-342900">
              <a:spcAft>
                <a:spcPts val="400"/>
              </a:spcAft>
              <a:buSzPct val="100000"/>
              <a:buChar char="•"/>
            </a:pPr>
            <a:r>
              <a:rPr lang="en-US" sz="1200" dirty="0">
                <a:solidFill>
                  <a:schemeClr val="tx1"/>
                </a:solidFill>
              </a:rPr>
              <a:t>Deploy checklist and AI-use records</a:t>
            </a:r>
            <a:endParaRPr lang="en-US" sz="1200" dirty="0"/>
          </a:p>
        </p:txBody>
      </p:sp>
      <p:sp>
        <p:nvSpPr>
          <p:cNvPr id="22" name="Text 20"/>
          <p:cNvSpPr txBox="1"/>
          <p:nvPr/>
        </p:nvSpPr>
        <p:spPr>
          <a:xfrm>
            <a:off x="457200" y="3931920"/>
            <a:ext cx="8229600" cy="274320"/>
          </a:xfrm>
          <a:prstGeom prst="rect">
            <a:avLst/>
          </a:prstGeom>
          <a:noFill/>
          <a:ln/>
        </p:spPr>
        <p:txBody>
          <a:bodyPr wrap="square" lIns="0" tIns="0" rIns="0" bIns="0" rtlCol="0" anchor="t"/>
          <a:lstStyle/>
          <a:p>
            <a:pPr indent="0" marL="0">
              <a:buNone/>
            </a:pPr>
            <a:r>
              <a:rPr lang="en-US" sz="1100" b="1" dirty="0">
                <a:solidFill>
                  <a:schemeClr val="tx1"/>
                </a:solidFill>
              </a:rPr>
              <a:t>Contact: </a:t>
            </a:r>
            <a:pPr indent="0" marL="0">
              <a:buNone/>
            </a:pPr>
            <a:r>
              <a:rPr lang="en-US" sz="1100" dirty="0">
                <a:solidFill>
                  <a:schemeClr val="accent5"/>
                </a:solidFill>
              </a:rPr>
              <a:t>github.com/RoshaanT1/floodlens-pakistan</a:t>
            </a:r>
            <a:pPr indent="0" marL="0">
              <a:buNone/>
            </a:pPr>
            <a:r>
              <a:rPr lang="en-US" sz="1100" dirty="0">
                <a:solidFill>
                  <a:schemeClr val="tx1"/>
                </a:solidFill>
              </a:rPr>
              <a:t>   ·   Data: Open-Meteo, NASA, OCHA, PBS, NDMA</a:t>
            </a:r>
            <a:endParaRPr lang="en-US" sz="1100" dirty="0"/>
          </a:p>
        </p:txBody>
      </p:sp>
      <p:sp>
        <p:nvSpPr>
          <p:cNvPr id="23" name="Text 21"/>
          <p:cNvSpPr txBox="1"/>
          <p:nvPr/>
        </p:nvSpPr>
        <p:spPr>
          <a:xfrm>
            <a:off x="457200" y="4224528"/>
            <a:ext cx="5486400" cy="411480"/>
          </a:xfrm>
          <a:prstGeom prst="rect">
            <a:avLst/>
          </a:prstGeom>
          <a:noFill/>
          <a:ln/>
        </p:spPr>
        <p:txBody>
          <a:bodyPr wrap="square" lIns="0" tIns="0" rIns="0" bIns="0" rtlCol="0" anchor="t"/>
          <a:lstStyle/>
          <a:p>
            <a:pPr indent="0" marL="0">
              <a:buNone/>
            </a:pPr>
            <a:r>
              <a:rPr lang="en-US" sz="2400" b="1" dirty="0">
                <a:solidFill>
                  <a:schemeClr val="tx2"/>
                </a:solidFill>
              </a:rPr>
              <a:t>Thank you!</a:t>
            </a:r>
            <a:endParaRPr lang="en-US" sz="24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FloodLens">
  <a:themeElements>
    <a:clrScheme name="FloodLens">
      <a:dk1>
        <a:srgbClr val="1F2933"/>
      </a:dk1>
      <a:lt1>
        <a:srgbClr val="FFFFFF"/>
      </a:lt1>
      <a:dk2>
        <a:srgbClr val="0B5D2A"/>
      </a:dk2>
      <a:lt2>
        <a:srgbClr val="EEF6F0"/>
      </a:lt2>
      <a:accent1>
        <a:srgbClr val="0B5D2A"/>
      </a:accent1>
      <a:accent2>
        <a:srgbClr val="2E8B57"/>
      </a:accent2>
      <a:accent3>
        <a:srgbClr val="B42318"/>
      </a:accent3>
      <a:accent4>
        <a:srgbClr val="B54708"/>
      </a:accent4>
      <a:accent5>
        <a:srgbClr val="1D4E89"/>
      </a:accent5>
      <a:accent6>
        <a:srgbClr val="667085"/>
      </a:accent6>
      <a:hlink>
        <a:srgbClr val="1D4E89"/>
      </a:hlink>
      <a:folHlink>
        <a:srgbClr val="6941C6"/>
      </a:folHlink>
    </a:clrScheme>
    <a:fontScheme name="FloodLens">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FloodLens Pakistan</dc:title>
  <dc:subject>PptxGenJS Presentation</dc:subject>
  <dc:creator>Team Spark H</dc:creator>
  <cp:lastModifiedBy>Team Spark H</cp:lastModifiedBy>
  <cp:revision>1</cp:revision>
  <dcterms:created xsi:type="dcterms:W3CDTF">2026-10-21T18:40:59Z</dcterms:created>
  <dcterms:modified xsi:type="dcterms:W3CDTF">2026-10-21T18:40:59Z</dcterms:modified>
</cp:coreProperties>
</file>