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a0ae0963-0215-3bd5-8d8a-df19ad1513fc}">
          <p14:sldIdLst>
            <p14:sldId id="256"/>
          </p14:sldIdLst>
        </p14:section>
        <p14:section name="Problem" id="{265034e2-454f-c014-057e-773e77deb3ac}">
          <p14:sldIdLst>
            <p14:sldId id="257"/>
          </p14:sldIdLst>
        </p14:section>
        <p14:section name="Data" id="{b51a4418-a2fd-f6b7-0283-15d006940f45}">
          <p14:sldIdLst>
            <p14:sldId id="258"/>
          </p14:sldIdLst>
        </p14:section>
        <p14:section name="Pipeline" id="{818cae42-45bb-090b-e3cb-d3fe72a09c37}">
          <p14:sldIdLst>
            <p14:sldId id="259"/>
            <p14:sldId id="260"/>
          </p14:sldIdLst>
        </p14:section>
        <p14:section name="Dashboard" id="{f8240ffd-a10d-ad15-ae0c-0b7c31106fa2}">
          <p14:sldIdLst>
            <p14:sldId id="261"/>
          </p14:sldIdLst>
        </p14:section>
        <p14:section name="Conclusion" id="{b662dd25-c0e5-6a7e-92e1-323946e63b83}">
          <p14:sldIdLst>
            <p14:sldId id="262"/>
          </p14:sldIdLst>
        </p14:section>
        <p14:section name="Team" id="{8ba537b5-b718-fc1d-d25a-9b02856e3929}">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ONLY">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54880"/>
            <a:ext cx="6400800" cy="228600"/>
          </a:xfrm>
          <a:prstGeom prst="rect">
            <a:avLst/>
          </a:prstGeom>
          <a:noFill/>
          <a:ln/>
        </p:spPr>
        <p:txBody>
          <a:bodyPr wrap="square" lIns="0" tIns="0" rIns="0" bIns="0" rtlCol="0" anchor="ctr"/>
          <a:lstStyle/>
          <a:p>
            <a:pPr indent="0" marL="0">
              <a:buNone/>
            </a:pPr>
            <a:r>
              <a:rPr lang="en-US" sz="900" dirty="0">
                <a:solidFill>
                  <a:schemeClr val="accent6"/>
                </a:solidFill>
              </a:rPr>
              <a:t>HACKINSIGHT 2026  |  NED University of Engineering &amp; Technology  |  Team Spark H</a:t>
            </a:r>
            <a:endParaRPr lang="en-US" sz="900" dirty="0"/>
          </a:p>
        </p:txBody>
      </p:sp>
      <p:sp>
        <p:nvSpPr>
          <p:cNvPr id="3" name="Text 1"/>
          <p:cNvSpPr/>
          <p:nvPr>
            <p:ph idx="101" type="title" hasCustomPrompt="1"/>
          </p:nvPr>
        </p:nvSpPr>
        <p:spPr>
          <a:xfrm>
            <a:off x="457200" y="274320"/>
            <a:ext cx="8229600" cy="54864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4937760" cy="914400"/>
          </a:xfrm>
          <a:prstGeom prst="rect">
            <a:avLst/>
          </a:prstGeom>
          <a:noFill/>
          <a:ln/>
        </p:spPr>
        <p:txBody>
          <a:bodyPr wrap="square" rtlCol="0"/>
          <a:lstStyle>
            <a:lvl1pPr algn="l" indent="0" marL="0">
              <a:buNone/>
              <a:defRPr lang="en-US" sz="4400" b="1" dirty="0">
                <a:solidFill>
                  <a:schemeClr val="tx2"/>
                </a:solidFill>
              </a:defRPr>
            </a:lvl1pPr>
          </a:lstStyle>
          <a:p>
            <a:pPr algn="l" indent="0" marL="0">
              <a:buNone/>
            </a:pPr>
            <a:endParaRPr lang="en-US" sz="4400" dirty="0"/>
          </a:p>
        </p:txBody>
      </p:sp>
      <p:sp>
        <p:nvSpPr>
          <p:cNvPr id="3" name="Text 0"/>
          <p:cNvSpPr/>
          <p:nvPr>
            <p:ph idx="101" type="body" hasCustomPrompt="1"/>
          </p:nvPr>
        </p:nvSpPr>
        <p:spPr>
          <a:xfrm>
            <a:off x="548640" y="2423160"/>
            <a:ext cx="4754880" cy="82296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4937760" cy="914400"/>
          </a:xfrm>
          <a:prstGeom prst="rect">
            <a:avLst/>
          </a:prstGeom>
          <a:noFill/>
          <a:ln/>
        </p:spPr>
        <p:txBody>
          <a:bodyPr wrap="square" lIns="0" tIns="0" rIns="0" bIns="0" rtlCol="0" anchor="b"/>
          <a:lstStyle/>
          <a:p>
            <a:pPr algn="l" indent="0" marL="0">
              <a:buNone/>
            </a:pPr>
            <a:r>
              <a:rPr lang="en-US" sz="4400" b="1" dirty="0">
                <a:solidFill>
                  <a:schemeClr val="tx2"/>
                </a:solidFill>
              </a:rPr>
              <a:t>FloodLens Pakistan</a:t>
            </a:r>
            <a:endParaRPr lang="en-US" sz="4400" dirty="0"/>
          </a:p>
        </p:txBody>
      </p:sp>
      <p:sp>
        <p:nvSpPr>
          <p:cNvPr id="3" name="Text 0"/>
          <p:cNvSpPr/>
          <p:nvPr>
            <p:ph idx="101" type="body" hasCustomPrompt="1"/>
          </p:nvPr>
        </p:nvSpPr>
        <p:spPr>
          <a:xfrm>
            <a:off x="548640" y="2423160"/>
            <a:ext cx="4754880" cy="822960"/>
          </a:xfrm>
          <a:prstGeom prst="rect">
            <a:avLst/>
          </a:prstGeom>
          <a:noFill/>
          <a:ln/>
        </p:spPr>
        <p:txBody>
          <a:bodyPr wrap="square" lIns="0" tIns="0" rIns="0" bIns="0" rtlCol="0" anchor="t"/>
          <a:lstStyle/>
          <a:p>
            <a:pPr indent="0" marL="0">
              <a:buNone/>
            </a:pPr>
            <a:r>
              <a:rPr lang="en-US" sz="1800" dirty="0">
                <a:solidFill>
                  <a:schemeClr val="tx1"/>
                </a:solidFill>
              </a:rPr>
              <a:t>District heavy-rain warnings 1–3 days ahead, with a weekly food-price watch</a:t>
            </a:r>
            <a:endParaRPr lang="en-US" sz="1800" dirty="0"/>
          </a:p>
        </p:txBody>
      </p:sp>
      <p:sp>
        <p:nvSpPr>
          <p:cNvPr id="4" name="Text 2"/>
          <p:cNvSpPr txBox="1"/>
          <p:nvPr/>
        </p:nvSpPr>
        <p:spPr>
          <a:xfrm>
            <a:off x="548640" y="960120"/>
            <a:ext cx="3657600" cy="320040"/>
          </a:xfrm>
          <a:prstGeom prst="rect">
            <a:avLst/>
          </a:prstGeom>
          <a:noFill/>
          <a:ln/>
        </p:spPr>
        <p:txBody>
          <a:bodyPr wrap="square" lIns="0" tIns="0" rIns="0" bIns="0" rtlCol="0" anchor="t"/>
          <a:lstStyle/>
          <a:p>
            <a:pPr indent="0" marL="0">
              <a:buNone/>
            </a:pPr>
            <a:r>
              <a:rPr lang="en-US" sz="1400" b="1" spc="300" kern="0" dirty="0">
                <a:solidFill>
                  <a:schemeClr val="accent2"/>
                </a:solidFill>
              </a:rPr>
              <a:t>HACKINSIGHT 2026</a:t>
            </a:r>
            <a:endParaRPr lang="en-US" sz="1400" dirty="0"/>
          </a:p>
        </p:txBody>
      </p:sp>
      <p:sp>
        <p:nvSpPr>
          <p:cNvPr id="5" name="Text 3"/>
          <p:cNvSpPr txBox="1"/>
          <p:nvPr/>
        </p:nvSpPr>
        <p:spPr>
          <a:xfrm>
            <a:off x="548640" y="3429000"/>
            <a:ext cx="4937760" cy="320040"/>
          </a:xfrm>
          <a:prstGeom prst="rect">
            <a:avLst/>
          </a:prstGeom>
          <a:noFill/>
          <a:ln/>
        </p:spPr>
        <p:txBody>
          <a:bodyPr wrap="square" lIns="0" tIns="0" rIns="0" bIns="0" rtlCol="0" anchor="t"/>
          <a:lstStyle/>
          <a:p>
            <a:pPr indent="0" marL="0">
              <a:buNone/>
            </a:pPr>
            <a:r>
              <a:rPr lang="en-US" sz="1400" b="1" dirty="0">
                <a:solidFill>
                  <a:schemeClr val="tx2"/>
                </a:solidFill>
              </a:rPr>
              <a:t>Team Spark H</a:t>
            </a:r>
            <a:pPr indent="0" marL="0">
              <a:buNone/>
            </a:pPr>
            <a:r>
              <a:rPr lang="en-US" sz="1400" dirty="0">
                <a:solidFill>
                  <a:schemeClr val="tx1"/>
                </a:solidFill>
              </a:rPr>
              <a:t>   |   Climate &amp; disaster risk  ·  food security</a:t>
            </a:r>
            <a:endParaRPr lang="en-US" sz="1400" dirty="0"/>
          </a:p>
        </p:txBody>
      </p:sp>
      <p:sp>
        <p:nvSpPr>
          <p:cNvPr id="6" name="Text 4"/>
          <p:cNvSpPr txBox="1"/>
          <p:nvPr/>
        </p:nvSpPr>
        <p:spPr>
          <a:xfrm>
            <a:off x="548640" y="3840480"/>
            <a:ext cx="4937760" cy="274320"/>
          </a:xfrm>
          <a:prstGeom prst="rect">
            <a:avLst/>
          </a:prstGeom>
          <a:noFill/>
          <a:ln/>
        </p:spPr>
        <p:txBody>
          <a:bodyPr wrap="square" lIns="0" tIns="0" rIns="0" bIns="0" rtlCol="0" anchor="t"/>
          <a:lstStyle/>
          <a:p>
            <a:pPr indent="0" marL="0">
              <a:buNone/>
            </a:pPr>
            <a:r>
              <a:rPr lang="en-US" sz="1200" dirty="0">
                <a:solidFill>
                  <a:schemeClr val="accent5"/>
                </a:solidFill>
              </a:rPr>
              <a:t>huggingface.co/spaces/RoshaanT1/floodlens-pakistan</a:t>
            </a:r>
            <a:endParaRPr lang="en-US" sz="1200" dirty="0"/>
          </a:p>
        </p:txBody>
      </p:sp>
      <p:pic>
        <p:nvPicPr>
          <p:cNvPr id="7" name="Pakistan outline" descr="Outline of Pakistan, traced from the 160 OCHA district boundaries">    </p:cNvPr>
          <p:cNvPicPr>
            <a:picLocks noChangeAspect="1"/>
          </p:cNvPicPr>
          <p:nvPr/>
        </p:nvPicPr>
        <p:blipFill>
          <a:blip r:embed="rId1"/>
          <a:stretch>
            <a:fillRect/>
          </a:stretch>
        </p:blipFill>
        <p:spPr>
          <a:xfrm>
            <a:off x="5760720" y="777240"/>
            <a:ext cx="3017520" cy="2798064"/>
          </a:xfrm>
          <a:prstGeom prst="rect">
            <a:avLst/>
          </a:prstGeom>
        </p:spPr>
      </p:pic>
      <p:sp>
        <p:nvSpPr>
          <p:cNvPr id="8" name="Text 5"/>
          <p:cNvSpPr txBox="1"/>
          <p:nvPr/>
        </p:nvSpPr>
        <p:spPr>
          <a:xfrm>
            <a:off x="5760720" y="3703320"/>
            <a:ext cx="3017520" cy="274320"/>
          </a:xfrm>
          <a:prstGeom prst="rect">
            <a:avLst/>
          </a:prstGeom>
          <a:noFill/>
          <a:ln/>
        </p:spPr>
        <p:txBody>
          <a:bodyPr wrap="square" lIns="0" tIns="0" rIns="0" bIns="0" rtlCol="0" anchor="t"/>
          <a:lstStyle/>
          <a:p>
            <a:pPr algn="ctr" indent="0" marL="0">
              <a:buNone/>
            </a:pPr>
            <a:r>
              <a:rPr lang="en-US" sz="1200" dirty="0">
                <a:solidFill>
                  <a:schemeClr val="accent6"/>
                </a:solidFill>
              </a:rPr>
              <a:t>160 districts · scored every hour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Problem Statement</a:t>
            </a:r>
            <a:endParaRPr lang="en-US" sz="2800" dirty="0"/>
          </a:p>
        </p:txBody>
      </p:sp>
      <p:sp>
        <p:nvSpPr>
          <p:cNvPr id="3" name="problem card"/>
          <p:cNvSpPr/>
          <p:nvPr/>
        </p:nvSpPr>
        <p:spPr>
          <a:xfrm>
            <a:off x="457200" y="1051560"/>
            <a:ext cx="4114800" cy="3429000"/>
          </a:xfrm>
          <a:prstGeom prst="roundRect">
            <a:avLst>
              <a:gd name="adj" fmla="val 2133"/>
            </a:avLst>
          </a:prstGeom>
          <a:solidFill>
            <a:schemeClr val="bg2"/>
          </a:solidFill>
          <a:ln w="12700">
            <a:solidFill>
              <a:schemeClr val="bg2"/>
            </a:solidFill>
            <a:prstDash val="solid"/>
          </a:ln>
        </p:spPr>
      </p:sp>
      <p:sp>
        <p:nvSpPr>
          <p:cNvPr id="4" name="Text 2"/>
          <p:cNvSpPr txBox="1"/>
          <p:nvPr/>
        </p:nvSpPr>
        <p:spPr>
          <a:xfrm>
            <a:off x="685800" y="1280160"/>
            <a:ext cx="3657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THE PROBLEM</a:t>
            </a:r>
            <a:endParaRPr lang="en-US" sz="1200" dirty="0"/>
          </a:p>
        </p:txBody>
      </p:sp>
      <p:sp>
        <p:nvSpPr>
          <p:cNvPr id="5" name="Text 3"/>
          <p:cNvSpPr txBox="1"/>
          <p:nvPr/>
        </p:nvSpPr>
        <p:spPr>
          <a:xfrm>
            <a:off x="685800" y="1645920"/>
            <a:ext cx="3657600" cy="1828800"/>
          </a:xfrm>
          <a:prstGeom prst="rect">
            <a:avLst/>
          </a:prstGeom>
          <a:noFill/>
          <a:ln/>
        </p:spPr>
        <p:txBody>
          <a:bodyPr wrap="square" lIns="0" tIns="0" rIns="0" bIns="0" rtlCol="0" anchor="t"/>
          <a:lstStyle/>
          <a:p>
            <a:pPr indent="0" marL="0">
              <a:lnSpc>
                <a:spcPct val="110000"/>
              </a:lnSpc>
              <a:buNone/>
            </a:pPr>
            <a:r>
              <a:rPr lang="en-US" sz="1500" dirty="0">
                <a:solidFill>
                  <a:schemeClr val="tx1"/>
                </a:solidFill>
              </a:rPr>
              <a:t>Monsoon rain in Pakistan turns deadly within hours. District planners must decide where to send rescue teams, pumps and relief before the rain arrives, but weather models give grid cells, not a per-district answer to “is this unusual for us?”</a:t>
            </a:r>
            <a:endParaRPr lang="en-US" sz="1500" dirty="0"/>
          </a:p>
        </p:txBody>
      </p:sp>
      <p:sp>
        <p:nvSpPr>
          <p:cNvPr id="6" name="Text 4"/>
          <p:cNvSpPr txBox="1"/>
          <p:nvPr/>
        </p:nvSpPr>
        <p:spPr>
          <a:xfrm>
            <a:off x="685800" y="3337560"/>
            <a:ext cx="3657600" cy="1005840"/>
          </a:xfrm>
          <a:prstGeom prst="rect">
            <a:avLst/>
          </a:prstGeom>
          <a:noFill/>
          <a:ln/>
        </p:spPr>
        <p:txBody>
          <a:bodyPr wrap="square" lIns="0" tIns="0" rIns="0" bIns="0" rtlCol="0" anchor="t"/>
          <a:lstStyle/>
          <a:p>
            <a:pPr indent="0" marL="0">
              <a:buNone/>
            </a:pPr>
            <a:r>
              <a:rPr lang="en-US" sz="3600" b="1" dirty="0">
                <a:solidFill>
                  <a:schemeClr val="accent3"/>
                </a:solidFill>
              </a:rPr>
              <a:t>1,037</a:t>
            </a:r>
            <a:endParaRPr lang="en-US" sz="3600" dirty="0"/>
          </a:p>
          <a:p>
            <a:pPr indent="0" marL="0">
              <a:buNone/>
            </a:pPr>
            <a:r>
              <a:rPr lang="en-US" sz="1200" dirty="0">
                <a:solidFill>
                  <a:schemeClr val="tx1"/>
                </a:solidFill>
              </a:rPr>
              <a:t>deaths in the 2025 monsoon (NDMA final sitrep No. 87)</a:t>
            </a:r>
            <a:endParaRPr lang="en-US" sz="3600" dirty="0"/>
          </a:p>
        </p:txBody>
      </p:sp>
      <p:sp>
        <p:nvSpPr>
          <p:cNvPr id="7" name="question 1"/>
          <p:cNvSpPr/>
          <p:nvPr/>
        </p:nvSpPr>
        <p:spPr>
          <a:xfrm>
            <a:off x="4846320" y="1051560"/>
            <a:ext cx="3840480" cy="1051560"/>
          </a:xfrm>
          <a:prstGeom prst="roundRect">
            <a:avLst>
              <a:gd name="adj" fmla="val 6957"/>
            </a:avLst>
          </a:prstGeom>
          <a:solidFill>
            <a:schemeClr val="bg2"/>
          </a:solidFill>
          <a:ln w="12700">
            <a:solidFill>
              <a:schemeClr val="bg2"/>
            </a:solidFill>
            <a:prstDash val="solid"/>
          </a:ln>
        </p:spPr>
      </p:sp>
      <p:sp>
        <p:nvSpPr>
          <p:cNvPr id="8" name="dot 1"/>
          <p:cNvSpPr/>
          <p:nvPr/>
        </p:nvSpPr>
        <p:spPr>
          <a:xfrm>
            <a:off x="5029200" y="1234440"/>
            <a:ext cx="329184" cy="329184"/>
          </a:xfrm>
          <a:prstGeom prst="ellipse">
            <a:avLst/>
          </a:prstGeom>
          <a:solidFill>
            <a:schemeClr val="accent1"/>
          </a:solidFill>
          <a:ln w="12700">
            <a:solidFill>
              <a:schemeClr val="accent1"/>
            </a:solidFill>
            <a:prstDash val="solid"/>
          </a:ln>
        </p:spPr>
      </p:sp>
      <p:sp>
        <p:nvSpPr>
          <p:cNvPr id="9" name="Text 7"/>
          <p:cNvSpPr txBox="1"/>
          <p:nvPr/>
        </p:nvSpPr>
        <p:spPr>
          <a:xfrm>
            <a:off x="5029200" y="123444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Text 8"/>
          <p:cNvSpPr txBox="1"/>
          <p:nvPr/>
        </p:nvSpPr>
        <p:spPr>
          <a:xfrm>
            <a:off x="5532120" y="1197864"/>
            <a:ext cx="3017520" cy="292608"/>
          </a:xfrm>
          <a:prstGeom prst="rect">
            <a:avLst/>
          </a:prstGeom>
          <a:noFill/>
          <a:ln/>
        </p:spPr>
        <p:txBody>
          <a:bodyPr wrap="square" lIns="0" tIns="0" rIns="0" bIns="0" rtlCol="0" anchor="t"/>
          <a:lstStyle/>
          <a:p>
            <a:pPr indent="0" marL="0">
              <a:buNone/>
            </a:pPr>
            <a:r>
              <a:rPr lang="en-US" sz="1500" b="1" dirty="0">
                <a:solidFill>
                  <a:schemeClr val="tx2"/>
                </a:solidFill>
              </a:rPr>
              <a:t>Who is affected?</a:t>
            </a:r>
            <a:endParaRPr lang="en-US" sz="1500" dirty="0"/>
          </a:p>
        </p:txBody>
      </p:sp>
      <p:sp>
        <p:nvSpPr>
          <p:cNvPr id="11" name="Text 9"/>
          <p:cNvSpPr txBox="1"/>
          <p:nvPr/>
        </p:nvSpPr>
        <p:spPr>
          <a:xfrm>
            <a:off x="5532120" y="1508760"/>
            <a:ext cx="3017520" cy="548640"/>
          </a:xfrm>
          <a:prstGeom prst="rect">
            <a:avLst/>
          </a:prstGeom>
          <a:noFill/>
          <a:ln/>
        </p:spPr>
        <p:txBody>
          <a:bodyPr wrap="square" lIns="0" tIns="0" rIns="0" bIns="0" rtlCol="0" anchor="t"/>
          <a:lstStyle/>
          <a:p>
            <a:pPr indent="0" marL="0">
              <a:buNone/>
            </a:pPr>
            <a:r>
              <a:rPr lang="en-US" sz="1200" dirty="0">
                <a:solidFill>
                  <a:schemeClr val="tx1"/>
                </a:solidFill>
              </a:rPr>
              <a:t>District and PDMA disaster planners, and the people in Pakistan's 160 districts they serve</a:t>
            </a:r>
            <a:endParaRPr lang="en-US" sz="1200" dirty="0"/>
          </a:p>
        </p:txBody>
      </p:sp>
      <p:sp>
        <p:nvSpPr>
          <p:cNvPr id="12" name="question 2"/>
          <p:cNvSpPr/>
          <p:nvPr/>
        </p:nvSpPr>
        <p:spPr>
          <a:xfrm>
            <a:off x="4846320" y="2240280"/>
            <a:ext cx="3840480" cy="1051560"/>
          </a:xfrm>
          <a:prstGeom prst="roundRect">
            <a:avLst>
              <a:gd name="adj" fmla="val 6957"/>
            </a:avLst>
          </a:prstGeom>
          <a:solidFill>
            <a:schemeClr val="bg2"/>
          </a:solidFill>
          <a:ln w="12700">
            <a:solidFill>
              <a:schemeClr val="bg2"/>
            </a:solidFill>
            <a:prstDash val="solid"/>
          </a:ln>
        </p:spPr>
      </p:sp>
      <p:sp>
        <p:nvSpPr>
          <p:cNvPr id="13" name="dot 2"/>
          <p:cNvSpPr/>
          <p:nvPr/>
        </p:nvSpPr>
        <p:spPr>
          <a:xfrm>
            <a:off x="5029200" y="2423160"/>
            <a:ext cx="329184" cy="329184"/>
          </a:xfrm>
          <a:prstGeom prst="ellipse">
            <a:avLst/>
          </a:prstGeom>
          <a:solidFill>
            <a:schemeClr val="accent1"/>
          </a:solidFill>
          <a:ln w="12700">
            <a:solidFill>
              <a:schemeClr val="accent1"/>
            </a:solidFill>
            <a:prstDash val="solid"/>
          </a:ln>
        </p:spPr>
      </p:sp>
      <p:sp>
        <p:nvSpPr>
          <p:cNvPr id="14" name="Text 12"/>
          <p:cNvSpPr txBox="1"/>
          <p:nvPr/>
        </p:nvSpPr>
        <p:spPr>
          <a:xfrm>
            <a:off x="5029200" y="242316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5" name="Text 13"/>
          <p:cNvSpPr txBox="1"/>
          <p:nvPr/>
        </p:nvSpPr>
        <p:spPr>
          <a:xfrm>
            <a:off x="5532120" y="2386584"/>
            <a:ext cx="3017520" cy="292608"/>
          </a:xfrm>
          <a:prstGeom prst="rect">
            <a:avLst/>
          </a:prstGeom>
          <a:noFill/>
          <a:ln/>
        </p:spPr>
        <p:txBody>
          <a:bodyPr wrap="square" lIns="0" tIns="0" rIns="0" bIns="0" rtlCol="0" anchor="t"/>
          <a:lstStyle/>
          <a:p>
            <a:pPr indent="0" marL="0">
              <a:buNone/>
            </a:pPr>
            <a:r>
              <a:rPr lang="en-US" sz="1500" b="1" dirty="0">
                <a:solidFill>
                  <a:schemeClr val="tx2"/>
                </a:solidFill>
              </a:rPr>
              <a:t>Why does it matter?</a:t>
            </a:r>
            <a:endParaRPr lang="en-US" sz="1500" dirty="0"/>
          </a:p>
        </p:txBody>
      </p:sp>
      <p:sp>
        <p:nvSpPr>
          <p:cNvPr id="16" name="Text 14"/>
          <p:cNvSpPr txBox="1"/>
          <p:nvPr/>
        </p:nvSpPr>
        <p:spPr>
          <a:xfrm>
            <a:off x="5532120" y="2697480"/>
            <a:ext cx="3017520" cy="548640"/>
          </a:xfrm>
          <a:prstGeom prst="rect">
            <a:avLst/>
          </a:prstGeom>
          <a:noFill/>
          <a:ln/>
        </p:spPr>
        <p:txBody>
          <a:bodyPr wrap="square" lIns="0" tIns="0" rIns="0" bIns="0" rtlCol="0" anchor="t"/>
          <a:lstStyle/>
          <a:p>
            <a:pPr indent="0" marL="0">
              <a:buNone/>
            </a:pPr>
            <a:r>
              <a:rPr lang="en-US" sz="1200" dirty="0">
                <a:solidFill>
                  <a:schemeClr val="tx1"/>
                </a:solidFill>
              </a:rPr>
              <a:t>Planners need 24–72 hours of warning per district to pre-position teams and stock</a:t>
            </a:r>
            <a:endParaRPr lang="en-US" sz="1200" dirty="0"/>
          </a:p>
        </p:txBody>
      </p:sp>
      <p:sp>
        <p:nvSpPr>
          <p:cNvPr id="17" name="question 3"/>
          <p:cNvSpPr/>
          <p:nvPr/>
        </p:nvSpPr>
        <p:spPr>
          <a:xfrm>
            <a:off x="4846320" y="3429000"/>
            <a:ext cx="3840480" cy="1051560"/>
          </a:xfrm>
          <a:prstGeom prst="roundRect">
            <a:avLst>
              <a:gd name="adj" fmla="val 6957"/>
            </a:avLst>
          </a:prstGeom>
          <a:solidFill>
            <a:schemeClr val="bg2"/>
          </a:solidFill>
          <a:ln w="12700">
            <a:solidFill>
              <a:schemeClr val="bg2"/>
            </a:solidFill>
            <a:prstDash val="solid"/>
          </a:ln>
        </p:spPr>
      </p:sp>
      <p:sp>
        <p:nvSpPr>
          <p:cNvPr id="18" name="dot 3"/>
          <p:cNvSpPr/>
          <p:nvPr/>
        </p:nvSpPr>
        <p:spPr>
          <a:xfrm>
            <a:off x="5029200" y="3611880"/>
            <a:ext cx="329184" cy="329184"/>
          </a:xfrm>
          <a:prstGeom prst="ellipse">
            <a:avLst/>
          </a:prstGeom>
          <a:solidFill>
            <a:schemeClr val="accent1"/>
          </a:solidFill>
          <a:ln w="12700">
            <a:solidFill>
              <a:schemeClr val="accent1"/>
            </a:solidFill>
            <a:prstDash val="solid"/>
          </a:ln>
        </p:spPr>
      </p:sp>
      <p:sp>
        <p:nvSpPr>
          <p:cNvPr id="19" name="Text 17"/>
          <p:cNvSpPr txBox="1"/>
          <p:nvPr/>
        </p:nvSpPr>
        <p:spPr>
          <a:xfrm>
            <a:off x="5029200" y="361188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0" name="Text 18"/>
          <p:cNvSpPr txBox="1"/>
          <p:nvPr/>
        </p:nvSpPr>
        <p:spPr>
          <a:xfrm>
            <a:off x="5532120" y="3575304"/>
            <a:ext cx="3017520" cy="292608"/>
          </a:xfrm>
          <a:prstGeom prst="rect">
            <a:avLst/>
          </a:prstGeom>
          <a:noFill/>
          <a:ln/>
        </p:spPr>
        <p:txBody>
          <a:bodyPr wrap="square" lIns="0" tIns="0" rIns="0" bIns="0" rtlCol="0" anchor="t"/>
          <a:lstStyle/>
          <a:p>
            <a:pPr indent="0" marL="0">
              <a:buNone/>
            </a:pPr>
            <a:r>
              <a:rPr lang="en-US" sz="1500" b="1" dirty="0">
                <a:solidFill>
                  <a:schemeClr val="tx2"/>
                </a:solidFill>
              </a:rPr>
              <a:t>Our goal</a:t>
            </a:r>
            <a:endParaRPr lang="en-US" sz="1500" dirty="0"/>
          </a:p>
        </p:txBody>
      </p:sp>
      <p:sp>
        <p:nvSpPr>
          <p:cNvPr id="21" name="Text 19"/>
          <p:cNvSpPr txBox="1"/>
          <p:nvPr/>
        </p:nvSpPr>
        <p:spPr>
          <a:xfrm>
            <a:off x="5532120" y="3886200"/>
            <a:ext cx="3017520" cy="548640"/>
          </a:xfrm>
          <a:prstGeom prst="rect">
            <a:avLst/>
          </a:prstGeom>
          <a:noFill/>
          <a:ln/>
        </p:spPr>
        <p:txBody>
          <a:bodyPr wrap="square" lIns="0" tIns="0" rIns="0" bIns="0" rtlCol="0" anchor="t"/>
          <a:lstStyle/>
          <a:p>
            <a:pPr indent="0" marL="0">
              <a:buNone/>
            </a:pPr>
            <a:r>
              <a:rPr lang="en-US" sz="1200" dirty="0">
                <a:solidFill>
                  <a:schemeClr val="tx1"/>
                </a:solidFill>
              </a:rPr>
              <a:t>A calibrated chance of heavy rain for every district, 1–3 days ahead, better than climatology</a:t>
            </a:r>
            <a:endParaRPr lang="en-US" sz="12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Dataset Declaration</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6035040" cy="914400"/>
        </p:xfrm>
        <a:graphic>
          <a:graphicData uri="http://schemas.openxmlformats.org/drawingml/2006/table">
            <a:tbl>
              <a:tblPr/>
              <a:tblGrid>
                <a:gridCol w="1417320"/>
                <a:gridCol w="4617720"/>
              </a:tblGrid>
              <a:tr h="548640">
                <a:tc>
                  <a:txBody>
                    <a:bodyPr/>
                    <a:lstStyle/>
                    <a:p>
                      <a:pPr indent="0" marL="0">
                        <a:buNone/>
                      </a:pPr>
                      <a:r>
                        <a:rPr lang="en-US" sz="1100" b="1" dirty="0">
                          <a:solidFill>
                            <a:srgbClr val="0B5D2A"/>
                          </a:solidFill>
                        </a:rPr>
                        <a:t>Dataset name</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EEF6F0"/>
                    </a:solidFill>
                  </a:tcPr>
                </a:tc>
                <a:tc>
                  <a:txBody>
                    <a:bodyPr/>
                    <a:lstStyle/>
                    <a:p>
                      <a:pPr indent="0" marL="0">
                        <a:buNone/>
                      </a:pPr>
                      <a:r>
                        <a:rPr lang="en-US" sz="1100" dirty="0">
                          <a:solidFill>
                            <a:srgbClr val="1F2933"/>
                          </a:solidFill>
                        </a:rPr>
                        <a:t>FloodLens district-day warehouse (5 public sources joined on 160 districts)</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548640">
                <a:tc>
                  <a:txBody>
                    <a:bodyPr/>
                    <a:lstStyle/>
                    <a:p>
                      <a:pPr indent="0" marL="0">
                        <a:buNone/>
                      </a:pPr>
                      <a:r>
                        <a:rPr lang="en-US" sz="1100" b="1" dirty="0">
                          <a:solidFill>
                            <a:srgbClr val="0B5D2A"/>
                          </a:solidFill>
                        </a:rPr>
                        <a:t>Source / link</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EEF6F0"/>
                    </a:solidFill>
                  </a:tcPr>
                </a:tc>
                <a:tc>
                  <a:txBody>
                    <a:bodyPr/>
                    <a:lstStyle/>
                    <a:p>
                      <a:pPr indent="0" marL="0">
                        <a:buNone/>
                      </a:pPr>
                      <a:r>
                        <a:rPr lang="en-US" sz="1100" dirty="0">
                          <a:solidFill>
                            <a:srgbClr val="1F2933"/>
                          </a:solidFill>
                        </a:rPr>
                        <a:t>Open-Meteo Previous Runs (API) · NASA GPM IMERG V07 · OCHA boundaries (HDX) · PBS weekly SPI · NDMA sitreps</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548640">
                <a:tc>
                  <a:txBody>
                    <a:bodyPr/>
                    <a:lstStyle/>
                    <a:p>
                      <a:pPr indent="0" marL="0">
                        <a:buNone/>
                      </a:pPr>
                      <a:r>
                        <a:rPr lang="en-US" sz="1100" b="1" dirty="0">
                          <a:solidFill>
                            <a:srgbClr val="0B5D2A"/>
                          </a:solidFill>
                        </a:rPr>
                        <a:t>Size</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EEF6F0"/>
                    </a:solidFill>
                  </a:tcPr>
                </a:tc>
                <a:tc>
                  <a:txBody>
                    <a:bodyPr/>
                    <a:lstStyle/>
                    <a:p>
                      <a:pPr indent="0" marL="0">
                        <a:buNone/>
                      </a:pPr>
                      <a:r>
                        <a:rPr lang="en-US" sz="1100" dirty="0">
                          <a:solidFill>
                            <a:srgbClr val="1F2933"/>
                          </a:solidFill>
                        </a:rPr>
                        <a:t>476,640 forecast rows × 25 features · 689,280 satellite rain rows · 146,523 prices · 157 NDMA documents</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548640">
                <a:tc>
                  <a:txBody>
                    <a:bodyPr/>
                    <a:lstStyle/>
                    <a:p>
                      <a:pPr indent="0" marL="0">
                        <a:buNone/>
                      </a:pPr>
                      <a:r>
                        <a:rPr lang="en-US" sz="1100" b="1" dirty="0">
                          <a:solidFill>
                            <a:srgbClr val="0B5D2A"/>
                          </a:solidFill>
                        </a:rPr>
                        <a:t>Time period</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EEF6F0"/>
                    </a:solidFill>
                  </a:tcPr>
                </a:tc>
                <a:tc>
                  <a:txBody>
                    <a:bodyPr/>
                    <a:lstStyle/>
                    <a:p>
                      <a:pPr indent="0" marL="0">
                        <a:buNone/>
                      </a:pPr>
                      <a:r>
                        <a:rPr lang="en-US" sz="1100" dirty="0">
                          <a:solidFill>
                            <a:srgbClr val="1F2933"/>
                          </a:solidFill>
                        </a:rPr>
                        <a:t>Rain 2015–2026 · forecasts Jul 2024–Oct 2026 · prices Jan 2023–Oct 2026</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548640">
                <a:tc>
                  <a:txBody>
                    <a:bodyPr/>
                    <a:lstStyle/>
                    <a:p>
                      <a:pPr indent="0" marL="0">
                        <a:buNone/>
                      </a:pPr>
                      <a:r>
                        <a:rPr lang="en-US" sz="1100" b="1" dirty="0">
                          <a:solidFill>
                            <a:srgbClr val="0B5D2A"/>
                          </a:solidFill>
                        </a:rPr>
                        <a:t>Format &amp; license</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EEF6F0"/>
                    </a:solidFill>
                  </a:tcPr>
                </a:tc>
                <a:tc>
                  <a:txBody>
                    <a:bodyPr/>
                    <a:lstStyle/>
                    <a:p>
                      <a:pPr indent="0" marL="0">
                        <a:buNone/>
                      </a:pPr>
                      <a:r>
                        <a:rPr lang="en-US" sz="1100" dirty="0">
                          <a:solidFill>
                            <a:srgbClr val="1F2933"/>
                          </a:solidFill>
                        </a:rPr>
                        <a:t>Raw files + SHA-256 manifest → Parquet / DuckDB · CC BY 4.0, NASA open data, public govt. statistics</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548640">
                <a:tc>
                  <a:txBody>
                    <a:bodyPr/>
                    <a:lstStyle/>
                    <a:p>
                      <a:pPr indent="0" marL="0">
                        <a:buNone/>
                      </a:pPr>
                      <a:r>
                        <a:rPr lang="en-US" sz="1100" b="1" dirty="0">
                          <a:solidFill>
                            <a:srgbClr val="0B5D2A"/>
                          </a:solidFill>
                        </a:rPr>
                        <a:t>Key features / target</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EEF6F0"/>
                    </a:solidFill>
                  </a:tcPr>
                </a:tc>
                <a:tc>
                  <a:txBody>
                    <a:bodyPr/>
                    <a:lstStyle/>
                    <a:p>
                      <a:pPr indent="0" marL="0">
                        <a:buNone/>
                      </a:pPr>
                      <a:r>
                        <a:rPr lang="en-US" sz="1100" dirty="0">
                          <a:solidFill>
                            <a:srgbClr val="1F2933"/>
                          </a:solidFill>
                        </a:rPr>
                        <a:t>Forecast rain, humidity, pressure, cloud, wind (1–3 days ahead), lagged observed rain. Target: rain above the district's own 95th percentile</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bl>
          </a:graphicData>
        </a:graphic>
      </p:graphicFrame>
      <p:sp>
        <p:nvSpPr>
          <p:cNvPr id="4" name="stat 1"/>
          <p:cNvSpPr/>
          <p:nvPr/>
        </p:nvSpPr>
        <p:spPr>
          <a:xfrm>
            <a:off x="6766560" y="1051560"/>
            <a:ext cx="1920240" cy="987552"/>
          </a:xfrm>
          <a:prstGeom prst="roundRect">
            <a:avLst>
              <a:gd name="adj" fmla="val 7407"/>
            </a:avLst>
          </a:prstGeom>
          <a:solidFill>
            <a:schemeClr val="bg2"/>
          </a:solidFill>
          <a:ln w="12700">
            <a:solidFill>
              <a:schemeClr val="bg2"/>
            </a:solidFill>
            <a:prstDash val="solid"/>
          </a:ln>
        </p:spPr>
      </p:sp>
      <p:sp>
        <p:nvSpPr>
          <p:cNvPr id="5" name="Text 2"/>
          <p:cNvSpPr txBox="1"/>
          <p:nvPr/>
        </p:nvSpPr>
        <p:spPr>
          <a:xfrm>
            <a:off x="6766560" y="1161288"/>
            <a:ext cx="1920240" cy="502920"/>
          </a:xfrm>
          <a:prstGeom prst="rect">
            <a:avLst/>
          </a:prstGeom>
          <a:noFill/>
          <a:ln/>
        </p:spPr>
        <p:txBody>
          <a:bodyPr wrap="square" lIns="0" tIns="0" rIns="0" bIns="0" rtlCol="0" anchor="t"/>
          <a:lstStyle/>
          <a:p>
            <a:pPr algn="ctr" indent="0" marL="0">
              <a:buNone/>
            </a:pPr>
            <a:r>
              <a:rPr lang="en-US" sz="3000" b="1" dirty="0">
                <a:solidFill>
                  <a:schemeClr val="tx2"/>
                </a:solidFill>
              </a:rPr>
              <a:t>476K</a:t>
            </a:r>
            <a:endParaRPr lang="en-US" sz="3000" dirty="0"/>
          </a:p>
        </p:txBody>
      </p:sp>
      <p:sp>
        <p:nvSpPr>
          <p:cNvPr id="6" name="Text 3"/>
          <p:cNvSpPr txBox="1"/>
          <p:nvPr/>
        </p:nvSpPr>
        <p:spPr>
          <a:xfrm>
            <a:off x="6766560" y="1673352"/>
            <a:ext cx="1920240" cy="274320"/>
          </a:xfrm>
          <a:prstGeom prst="rect">
            <a:avLst/>
          </a:prstGeom>
          <a:noFill/>
          <a:ln/>
        </p:spPr>
        <p:txBody>
          <a:bodyPr wrap="square" lIns="0" tIns="0" rIns="0" bIns="0" rtlCol="0" anchor="t"/>
          <a:lstStyle/>
          <a:p>
            <a:pPr algn="ctr" indent="0" marL="0">
              <a:buNone/>
            </a:pPr>
            <a:r>
              <a:rPr lang="en-US" sz="1100" dirty="0">
                <a:solidFill>
                  <a:schemeClr val="tx1"/>
                </a:solidFill>
              </a:rPr>
              <a:t>Rows / records (model table)</a:t>
            </a:r>
            <a:endParaRPr lang="en-US" sz="1100" dirty="0"/>
          </a:p>
        </p:txBody>
      </p:sp>
      <p:sp>
        <p:nvSpPr>
          <p:cNvPr id="7" name="stat 2"/>
          <p:cNvSpPr/>
          <p:nvPr/>
        </p:nvSpPr>
        <p:spPr>
          <a:xfrm>
            <a:off x="6766560" y="2176272"/>
            <a:ext cx="1920240" cy="987552"/>
          </a:xfrm>
          <a:prstGeom prst="roundRect">
            <a:avLst>
              <a:gd name="adj" fmla="val 7407"/>
            </a:avLst>
          </a:prstGeom>
          <a:solidFill>
            <a:schemeClr val="bg2"/>
          </a:solidFill>
          <a:ln w="12700">
            <a:solidFill>
              <a:schemeClr val="bg2"/>
            </a:solidFill>
            <a:prstDash val="solid"/>
          </a:ln>
        </p:spPr>
      </p:sp>
      <p:sp>
        <p:nvSpPr>
          <p:cNvPr id="8" name="Text 5"/>
          <p:cNvSpPr txBox="1"/>
          <p:nvPr/>
        </p:nvSpPr>
        <p:spPr>
          <a:xfrm>
            <a:off x="6766560" y="2286000"/>
            <a:ext cx="1920240" cy="502920"/>
          </a:xfrm>
          <a:prstGeom prst="rect">
            <a:avLst/>
          </a:prstGeom>
          <a:noFill/>
          <a:ln/>
        </p:spPr>
        <p:txBody>
          <a:bodyPr wrap="square" lIns="0" tIns="0" rIns="0" bIns="0" rtlCol="0" anchor="t"/>
          <a:lstStyle/>
          <a:p>
            <a:pPr algn="ctr" indent="0" marL="0">
              <a:buNone/>
            </a:pPr>
            <a:r>
              <a:rPr lang="en-US" sz="3000" b="1" dirty="0">
                <a:solidFill>
                  <a:schemeClr val="tx2"/>
                </a:solidFill>
              </a:rPr>
              <a:t>25</a:t>
            </a:r>
            <a:endParaRPr lang="en-US" sz="3000" dirty="0"/>
          </a:p>
        </p:txBody>
      </p:sp>
      <p:sp>
        <p:nvSpPr>
          <p:cNvPr id="9" name="Text 6"/>
          <p:cNvSpPr txBox="1"/>
          <p:nvPr/>
        </p:nvSpPr>
        <p:spPr>
          <a:xfrm>
            <a:off x="6766560" y="2798064"/>
            <a:ext cx="1920240" cy="274320"/>
          </a:xfrm>
          <a:prstGeom prst="rect">
            <a:avLst/>
          </a:prstGeom>
          <a:noFill/>
          <a:ln/>
        </p:spPr>
        <p:txBody>
          <a:bodyPr wrap="square" lIns="0" tIns="0" rIns="0" bIns="0" rtlCol="0" anchor="t"/>
          <a:lstStyle/>
          <a:p>
            <a:pPr algn="ctr" indent="0" marL="0">
              <a:buNone/>
            </a:pPr>
            <a:r>
              <a:rPr lang="en-US" sz="1100" dirty="0">
                <a:solidFill>
                  <a:schemeClr val="tx1"/>
                </a:solidFill>
              </a:rPr>
              <a:t>Columns / features</a:t>
            </a:r>
            <a:endParaRPr lang="en-US" sz="1100" dirty="0"/>
          </a:p>
        </p:txBody>
      </p:sp>
      <p:sp>
        <p:nvSpPr>
          <p:cNvPr id="10" name="stat 3"/>
          <p:cNvSpPr/>
          <p:nvPr/>
        </p:nvSpPr>
        <p:spPr>
          <a:xfrm>
            <a:off x="6766560" y="3300984"/>
            <a:ext cx="1920240" cy="987552"/>
          </a:xfrm>
          <a:prstGeom prst="roundRect">
            <a:avLst>
              <a:gd name="adj" fmla="val 7407"/>
            </a:avLst>
          </a:prstGeom>
          <a:solidFill>
            <a:schemeClr val="bg2"/>
          </a:solidFill>
          <a:ln w="12700">
            <a:solidFill>
              <a:schemeClr val="bg2"/>
            </a:solidFill>
            <a:prstDash val="solid"/>
          </a:ln>
        </p:spPr>
      </p:sp>
      <p:sp>
        <p:nvSpPr>
          <p:cNvPr id="11" name="Text 8"/>
          <p:cNvSpPr txBox="1"/>
          <p:nvPr/>
        </p:nvSpPr>
        <p:spPr>
          <a:xfrm>
            <a:off x="6766560" y="3410712"/>
            <a:ext cx="1920240" cy="502920"/>
          </a:xfrm>
          <a:prstGeom prst="rect">
            <a:avLst/>
          </a:prstGeom>
          <a:noFill/>
          <a:ln/>
        </p:spPr>
        <p:txBody>
          <a:bodyPr wrap="square" lIns="0" tIns="0" rIns="0" bIns="0" rtlCol="0" anchor="t"/>
          <a:lstStyle/>
          <a:p>
            <a:pPr algn="ctr" indent="0" marL="0">
              <a:buNone/>
            </a:pPr>
            <a:r>
              <a:rPr lang="en-US" sz="3000" b="1" dirty="0">
                <a:solidFill>
                  <a:schemeClr val="tx2"/>
                </a:solidFill>
              </a:rPr>
              <a:t>1.3 GB</a:t>
            </a:r>
            <a:endParaRPr lang="en-US" sz="3000" dirty="0"/>
          </a:p>
        </p:txBody>
      </p:sp>
      <p:sp>
        <p:nvSpPr>
          <p:cNvPr id="12" name="Text 9"/>
          <p:cNvSpPr txBox="1"/>
          <p:nvPr/>
        </p:nvSpPr>
        <p:spPr>
          <a:xfrm>
            <a:off x="6766560" y="3922776"/>
            <a:ext cx="1920240" cy="274320"/>
          </a:xfrm>
          <a:prstGeom prst="rect">
            <a:avLst/>
          </a:prstGeom>
          <a:noFill/>
          <a:ln/>
        </p:spPr>
        <p:txBody>
          <a:bodyPr wrap="square" lIns="0" tIns="0" rIns="0" bIns="0" rtlCol="0" anchor="t"/>
          <a:lstStyle/>
          <a:p>
            <a:pPr algn="ctr" indent="0" marL="0">
              <a:buNone/>
            </a:pPr>
            <a:r>
              <a:rPr lang="en-US" sz="1100" dirty="0">
                <a:solidFill>
                  <a:schemeClr val="tx1"/>
                </a:solidFill>
              </a:rPr>
              <a:t>Raw data, 4,856 files</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Pipeline Used</a:t>
            </a:r>
            <a:endParaRPr lang="en-US" sz="2800" dirty="0"/>
          </a:p>
        </p:txBody>
      </p:sp>
      <p:sp>
        <p:nvSpPr>
          <p:cNvPr id="3" name="step 1"/>
          <p:cNvSpPr/>
          <p:nvPr/>
        </p:nvSpPr>
        <p:spPr>
          <a:xfrm>
            <a:off x="457200" y="1097280"/>
            <a:ext cx="1463040" cy="2468880"/>
          </a:xfrm>
          <a:prstGeom prst="roundRect">
            <a:avLst>
              <a:gd name="adj" fmla="val 5000"/>
            </a:avLst>
          </a:prstGeom>
          <a:solidFill>
            <a:schemeClr val="bg2"/>
          </a:solidFill>
          <a:ln w="12700">
            <a:solidFill>
              <a:schemeClr val="bg2"/>
            </a:solidFill>
            <a:prstDash val="solid"/>
          </a:ln>
        </p:spPr>
      </p:sp>
      <p:sp>
        <p:nvSpPr>
          <p:cNvPr id="4" name="dot 1"/>
          <p:cNvSpPr/>
          <p:nvPr/>
        </p:nvSpPr>
        <p:spPr>
          <a:xfrm>
            <a:off x="1024128" y="1261872"/>
            <a:ext cx="329184" cy="329184"/>
          </a:xfrm>
          <a:prstGeom prst="ellipse">
            <a:avLst/>
          </a:prstGeom>
          <a:solidFill>
            <a:schemeClr val="accent1"/>
          </a:solidFill>
          <a:ln w="12700">
            <a:solidFill>
              <a:schemeClr val="accent1"/>
            </a:solidFill>
            <a:prstDash val="solid"/>
          </a:ln>
        </p:spPr>
      </p:sp>
      <p:sp>
        <p:nvSpPr>
          <p:cNvPr id="5" name="Text 3"/>
          <p:cNvSpPr txBox="1"/>
          <p:nvPr/>
        </p:nvSpPr>
        <p:spPr>
          <a:xfrm>
            <a:off x="1024128" y="12618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4"/>
          <p:cNvSpPr txBox="1"/>
          <p:nvPr/>
        </p:nvSpPr>
        <p:spPr>
          <a:xfrm>
            <a:off x="548640" y="1691640"/>
            <a:ext cx="1280160" cy="502920"/>
          </a:xfrm>
          <a:prstGeom prst="rect">
            <a:avLst/>
          </a:prstGeom>
          <a:noFill/>
          <a:ln/>
        </p:spPr>
        <p:txBody>
          <a:bodyPr wrap="square" lIns="0" tIns="0" rIns="0" bIns="0" rtlCol="0" anchor="ctr"/>
          <a:lstStyle/>
          <a:p>
            <a:pPr algn="ctr" indent="0" marL="0">
              <a:buNone/>
            </a:pPr>
            <a:r>
              <a:rPr lang="en-US" sz="1400" b="1" dirty="0">
                <a:solidFill>
                  <a:schemeClr val="tx2"/>
                </a:solidFill>
              </a:rPr>
              <a:t>Data Collection</a:t>
            </a:r>
            <a:endParaRPr lang="en-US" sz="1400" dirty="0"/>
          </a:p>
        </p:txBody>
      </p:sp>
      <p:sp>
        <p:nvSpPr>
          <p:cNvPr id="7" name="Text 5"/>
          <p:cNvSpPr txBox="1"/>
          <p:nvPr/>
        </p:nvSpPr>
        <p:spPr>
          <a:xfrm>
            <a:off x="566928" y="2240280"/>
            <a:ext cx="1243584" cy="1234440"/>
          </a:xfrm>
          <a:prstGeom prst="rect">
            <a:avLst/>
          </a:prstGeom>
          <a:noFill/>
          <a:ln/>
        </p:spPr>
        <p:txBody>
          <a:bodyPr wrap="square" lIns="0" tIns="0" rIns="0" bIns="0" rtlCol="0" anchor="t"/>
          <a:lstStyle/>
          <a:p>
            <a:pPr algn="ctr" indent="0" marL="0">
              <a:buNone/>
            </a:pPr>
            <a:r>
              <a:rPr lang="en-US" sz="1150" dirty="0">
                <a:solidFill>
                  <a:schemeClr val="tx1"/>
                </a:solidFill>
              </a:rPr>
              <a:t>APIs, NASA cloud, PBS and NDMA files; every file hashed into a manifest</a:t>
            </a:r>
            <a:endParaRPr lang="en-US" sz="1150" dirty="0"/>
          </a:p>
        </p:txBody>
      </p:sp>
      <p:sp>
        <p:nvSpPr>
          <p:cNvPr id="8" name="arrow 1"/>
          <p:cNvSpPr/>
          <p:nvPr/>
        </p:nvSpPr>
        <p:spPr>
          <a:xfrm>
            <a:off x="1975104" y="2231136"/>
            <a:ext cx="118872" cy="201168"/>
          </a:xfrm>
          <a:prstGeom prst="chevron">
            <a:avLst/>
          </a:prstGeom>
          <a:solidFill>
            <a:schemeClr val="accent2"/>
          </a:solidFill>
          <a:ln w="12700">
            <a:solidFill>
              <a:schemeClr val="accent2"/>
            </a:solidFill>
            <a:prstDash val="solid"/>
          </a:ln>
        </p:spPr>
      </p:sp>
      <p:sp>
        <p:nvSpPr>
          <p:cNvPr id="9" name="step 2"/>
          <p:cNvSpPr/>
          <p:nvPr/>
        </p:nvSpPr>
        <p:spPr>
          <a:xfrm>
            <a:off x="2148840" y="1097280"/>
            <a:ext cx="1463040" cy="2468880"/>
          </a:xfrm>
          <a:prstGeom prst="roundRect">
            <a:avLst>
              <a:gd name="adj" fmla="val 5000"/>
            </a:avLst>
          </a:prstGeom>
          <a:solidFill>
            <a:schemeClr val="bg2"/>
          </a:solidFill>
          <a:ln w="12700">
            <a:solidFill>
              <a:schemeClr val="bg2"/>
            </a:solidFill>
            <a:prstDash val="solid"/>
          </a:ln>
        </p:spPr>
      </p:sp>
      <p:sp>
        <p:nvSpPr>
          <p:cNvPr id="10" name="dot 2"/>
          <p:cNvSpPr/>
          <p:nvPr/>
        </p:nvSpPr>
        <p:spPr>
          <a:xfrm>
            <a:off x="2715768" y="1261872"/>
            <a:ext cx="329184" cy="329184"/>
          </a:xfrm>
          <a:prstGeom prst="ellipse">
            <a:avLst/>
          </a:prstGeom>
          <a:solidFill>
            <a:schemeClr val="accent1"/>
          </a:solidFill>
          <a:ln w="12700">
            <a:solidFill>
              <a:schemeClr val="accent1"/>
            </a:solidFill>
            <a:prstDash val="solid"/>
          </a:ln>
        </p:spPr>
      </p:sp>
      <p:sp>
        <p:nvSpPr>
          <p:cNvPr id="11" name="Text 9"/>
          <p:cNvSpPr txBox="1"/>
          <p:nvPr/>
        </p:nvSpPr>
        <p:spPr>
          <a:xfrm>
            <a:off x="2715768" y="12618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Text 10"/>
          <p:cNvSpPr txBox="1"/>
          <p:nvPr/>
        </p:nvSpPr>
        <p:spPr>
          <a:xfrm>
            <a:off x="2240280" y="1691640"/>
            <a:ext cx="1280160" cy="502920"/>
          </a:xfrm>
          <a:prstGeom prst="rect">
            <a:avLst/>
          </a:prstGeom>
          <a:noFill/>
          <a:ln/>
        </p:spPr>
        <p:txBody>
          <a:bodyPr wrap="square" lIns="0" tIns="0" rIns="0" bIns="0" rtlCol="0" anchor="ctr"/>
          <a:lstStyle/>
          <a:p>
            <a:pPr algn="ctr" indent="0" marL="0">
              <a:buNone/>
            </a:pPr>
            <a:r>
              <a:rPr lang="en-US" sz="1400" b="1" dirty="0">
                <a:solidFill>
                  <a:schemeClr val="tx2"/>
                </a:solidFill>
              </a:rPr>
              <a:t>Data Cleaning</a:t>
            </a:r>
            <a:endParaRPr lang="en-US" sz="1400" dirty="0"/>
          </a:p>
        </p:txBody>
      </p:sp>
      <p:sp>
        <p:nvSpPr>
          <p:cNvPr id="13" name="Text 11"/>
          <p:cNvSpPr txBox="1"/>
          <p:nvPr/>
        </p:nvSpPr>
        <p:spPr>
          <a:xfrm>
            <a:off x="2258568" y="2240280"/>
            <a:ext cx="1243584" cy="1234440"/>
          </a:xfrm>
          <a:prstGeom prst="rect">
            <a:avLst/>
          </a:prstGeom>
          <a:noFill/>
          <a:ln/>
        </p:spPr>
        <p:txBody>
          <a:bodyPr wrap="square" lIns="0" tIns="0" rIns="0" bIns="0" rtlCol="0" anchor="t"/>
          <a:lstStyle/>
          <a:p>
            <a:pPr algn="ctr" indent="0" marL="0">
              <a:buNone/>
            </a:pPr>
            <a:r>
              <a:rPr lang="en-US" sz="1150" dirty="0">
                <a:solidFill>
                  <a:schemeClr val="tx1"/>
                </a:solidFill>
              </a:rPr>
              <a:t>Quality agent: fix, fill or flag each issue, with the reason logged</a:t>
            </a:r>
            <a:endParaRPr lang="en-US" sz="1150" dirty="0"/>
          </a:p>
        </p:txBody>
      </p:sp>
      <p:sp>
        <p:nvSpPr>
          <p:cNvPr id="14" name="arrow 2"/>
          <p:cNvSpPr/>
          <p:nvPr/>
        </p:nvSpPr>
        <p:spPr>
          <a:xfrm>
            <a:off x="3666744" y="2231136"/>
            <a:ext cx="118872" cy="201168"/>
          </a:xfrm>
          <a:prstGeom prst="chevron">
            <a:avLst/>
          </a:prstGeom>
          <a:solidFill>
            <a:schemeClr val="accent2"/>
          </a:solidFill>
          <a:ln w="12700">
            <a:solidFill>
              <a:schemeClr val="accent2"/>
            </a:solidFill>
            <a:prstDash val="solid"/>
          </a:ln>
        </p:spPr>
      </p:sp>
      <p:sp>
        <p:nvSpPr>
          <p:cNvPr id="15" name="step 3"/>
          <p:cNvSpPr/>
          <p:nvPr/>
        </p:nvSpPr>
        <p:spPr>
          <a:xfrm>
            <a:off x="3840480" y="1097280"/>
            <a:ext cx="1463040" cy="2468880"/>
          </a:xfrm>
          <a:prstGeom prst="roundRect">
            <a:avLst>
              <a:gd name="adj" fmla="val 5000"/>
            </a:avLst>
          </a:prstGeom>
          <a:solidFill>
            <a:schemeClr val="bg2"/>
          </a:solidFill>
          <a:ln w="12700">
            <a:solidFill>
              <a:schemeClr val="bg2"/>
            </a:solidFill>
            <a:prstDash val="solid"/>
          </a:ln>
        </p:spPr>
      </p:sp>
      <p:sp>
        <p:nvSpPr>
          <p:cNvPr id="16" name="dot 3"/>
          <p:cNvSpPr/>
          <p:nvPr/>
        </p:nvSpPr>
        <p:spPr>
          <a:xfrm>
            <a:off x="4407408" y="1261872"/>
            <a:ext cx="329184" cy="329184"/>
          </a:xfrm>
          <a:prstGeom prst="ellipse">
            <a:avLst/>
          </a:prstGeom>
          <a:solidFill>
            <a:schemeClr val="accent1"/>
          </a:solidFill>
          <a:ln w="12700">
            <a:solidFill>
              <a:schemeClr val="accent1"/>
            </a:solidFill>
            <a:prstDash val="solid"/>
          </a:ln>
        </p:spPr>
      </p:sp>
      <p:sp>
        <p:nvSpPr>
          <p:cNvPr id="17" name="Text 15"/>
          <p:cNvSpPr txBox="1"/>
          <p:nvPr/>
        </p:nvSpPr>
        <p:spPr>
          <a:xfrm>
            <a:off x="4407408" y="12618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8" name="Text 16"/>
          <p:cNvSpPr txBox="1"/>
          <p:nvPr/>
        </p:nvSpPr>
        <p:spPr>
          <a:xfrm>
            <a:off x="3931920" y="1691640"/>
            <a:ext cx="1280160" cy="502920"/>
          </a:xfrm>
          <a:prstGeom prst="rect">
            <a:avLst/>
          </a:prstGeom>
          <a:noFill/>
          <a:ln/>
        </p:spPr>
        <p:txBody>
          <a:bodyPr wrap="square" lIns="0" tIns="0" rIns="0" bIns="0" rtlCol="0" anchor="ctr"/>
          <a:lstStyle/>
          <a:p>
            <a:pPr algn="ctr" indent="0" marL="0">
              <a:buNone/>
            </a:pPr>
            <a:r>
              <a:rPr lang="en-US" sz="1400" b="1" dirty="0">
                <a:solidFill>
                  <a:schemeClr val="tx2"/>
                </a:solidFill>
              </a:rPr>
              <a:t>Analysis / EDA</a:t>
            </a:r>
            <a:endParaRPr lang="en-US" sz="1400" dirty="0"/>
          </a:p>
        </p:txBody>
      </p:sp>
      <p:sp>
        <p:nvSpPr>
          <p:cNvPr id="19" name="Text 17"/>
          <p:cNvSpPr txBox="1"/>
          <p:nvPr/>
        </p:nvSpPr>
        <p:spPr>
          <a:xfrm>
            <a:off x="3950208" y="2240280"/>
            <a:ext cx="1243584" cy="1234440"/>
          </a:xfrm>
          <a:prstGeom prst="rect">
            <a:avLst/>
          </a:prstGeom>
          <a:noFill/>
          <a:ln/>
        </p:spPr>
        <p:txBody>
          <a:bodyPr wrap="square" lIns="0" tIns="0" rIns="0" bIns="0" rtlCol="0" anchor="t"/>
          <a:lstStyle/>
          <a:p>
            <a:pPr algn="ctr" indent="0" marL="0">
              <a:buNone/>
            </a:pPr>
            <a:r>
              <a:rPr lang="en-US" sz="1150" dirty="0">
                <a:solidFill>
                  <a:schemeClr val="tx1"/>
                </a:solidFill>
              </a:rPr>
              <a:t>District thresholds, monsoon replay, error by province and terrain</a:t>
            </a:r>
            <a:endParaRPr lang="en-US" sz="1150" dirty="0"/>
          </a:p>
        </p:txBody>
      </p:sp>
      <p:sp>
        <p:nvSpPr>
          <p:cNvPr id="20" name="arrow 3"/>
          <p:cNvSpPr/>
          <p:nvPr/>
        </p:nvSpPr>
        <p:spPr>
          <a:xfrm>
            <a:off x="5358384" y="2231136"/>
            <a:ext cx="118872" cy="201168"/>
          </a:xfrm>
          <a:prstGeom prst="chevron">
            <a:avLst/>
          </a:prstGeom>
          <a:solidFill>
            <a:schemeClr val="accent2"/>
          </a:solidFill>
          <a:ln w="12700">
            <a:solidFill>
              <a:schemeClr val="accent2"/>
            </a:solidFill>
            <a:prstDash val="solid"/>
          </a:ln>
        </p:spPr>
      </p:sp>
      <p:sp>
        <p:nvSpPr>
          <p:cNvPr id="21" name="step 4"/>
          <p:cNvSpPr/>
          <p:nvPr/>
        </p:nvSpPr>
        <p:spPr>
          <a:xfrm>
            <a:off x="5532120" y="1097280"/>
            <a:ext cx="1463040" cy="2468880"/>
          </a:xfrm>
          <a:prstGeom prst="roundRect">
            <a:avLst>
              <a:gd name="adj" fmla="val 5000"/>
            </a:avLst>
          </a:prstGeom>
          <a:solidFill>
            <a:schemeClr val="bg2"/>
          </a:solidFill>
          <a:ln w="12700">
            <a:solidFill>
              <a:schemeClr val="bg2"/>
            </a:solidFill>
            <a:prstDash val="solid"/>
          </a:ln>
        </p:spPr>
      </p:sp>
      <p:sp>
        <p:nvSpPr>
          <p:cNvPr id="22" name="dot 4"/>
          <p:cNvSpPr/>
          <p:nvPr/>
        </p:nvSpPr>
        <p:spPr>
          <a:xfrm>
            <a:off x="6099048" y="1261872"/>
            <a:ext cx="329184" cy="329184"/>
          </a:xfrm>
          <a:prstGeom prst="ellipse">
            <a:avLst/>
          </a:prstGeom>
          <a:solidFill>
            <a:schemeClr val="accent1"/>
          </a:solidFill>
          <a:ln w="12700">
            <a:solidFill>
              <a:schemeClr val="accent1"/>
            </a:solidFill>
            <a:prstDash val="solid"/>
          </a:ln>
        </p:spPr>
      </p:sp>
      <p:sp>
        <p:nvSpPr>
          <p:cNvPr id="23" name="Text 21"/>
          <p:cNvSpPr txBox="1"/>
          <p:nvPr/>
        </p:nvSpPr>
        <p:spPr>
          <a:xfrm>
            <a:off x="6099048" y="12618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4" name="Text 22"/>
          <p:cNvSpPr txBox="1"/>
          <p:nvPr/>
        </p:nvSpPr>
        <p:spPr>
          <a:xfrm>
            <a:off x="5623560" y="1691640"/>
            <a:ext cx="1280160" cy="502920"/>
          </a:xfrm>
          <a:prstGeom prst="rect">
            <a:avLst/>
          </a:prstGeom>
          <a:noFill/>
          <a:ln/>
        </p:spPr>
        <p:txBody>
          <a:bodyPr wrap="square" lIns="0" tIns="0" rIns="0" bIns="0" rtlCol="0" anchor="ctr"/>
          <a:lstStyle/>
          <a:p>
            <a:pPr algn="ctr" indent="0" marL="0">
              <a:buNone/>
            </a:pPr>
            <a:r>
              <a:rPr lang="en-US" sz="1400" b="1" dirty="0">
                <a:solidFill>
                  <a:schemeClr val="tx2"/>
                </a:solidFill>
              </a:rPr>
              <a:t>Modeling</a:t>
            </a:r>
            <a:endParaRPr lang="en-US" sz="1400" dirty="0"/>
          </a:p>
        </p:txBody>
      </p:sp>
      <p:sp>
        <p:nvSpPr>
          <p:cNvPr id="25" name="Text 23"/>
          <p:cNvSpPr txBox="1"/>
          <p:nvPr/>
        </p:nvSpPr>
        <p:spPr>
          <a:xfrm>
            <a:off x="5641848" y="2240280"/>
            <a:ext cx="1243584" cy="1234440"/>
          </a:xfrm>
          <a:prstGeom prst="rect">
            <a:avLst/>
          </a:prstGeom>
          <a:noFill/>
          <a:ln/>
        </p:spPr>
        <p:txBody>
          <a:bodyPr wrap="square" lIns="0" tIns="0" rIns="0" bIns="0" rtlCol="0" anchor="t"/>
          <a:lstStyle/>
          <a:p>
            <a:pPr algn="ctr" indent="0" marL="0">
              <a:buNone/>
            </a:pPr>
            <a:r>
              <a:rPr lang="en-US" sz="1150" dirty="0">
                <a:solidFill>
                  <a:schemeClr val="tx1"/>
                </a:solidFill>
              </a:rPr>
              <a:t>Gradient boosting, calibrated; beats climatology on the locked test set</a:t>
            </a:r>
            <a:endParaRPr lang="en-US" sz="1150" dirty="0"/>
          </a:p>
        </p:txBody>
      </p:sp>
      <p:sp>
        <p:nvSpPr>
          <p:cNvPr id="26" name="arrow 4"/>
          <p:cNvSpPr/>
          <p:nvPr/>
        </p:nvSpPr>
        <p:spPr>
          <a:xfrm>
            <a:off x="7050024" y="2231136"/>
            <a:ext cx="118872" cy="201168"/>
          </a:xfrm>
          <a:prstGeom prst="chevron">
            <a:avLst/>
          </a:prstGeom>
          <a:solidFill>
            <a:schemeClr val="accent2"/>
          </a:solidFill>
          <a:ln w="12700">
            <a:solidFill>
              <a:schemeClr val="accent2"/>
            </a:solidFill>
            <a:prstDash val="solid"/>
          </a:ln>
        </p:spPr>
      </p:sp>
      <p:sp>
        <p:nvSpPr>
          <p:cNvPr id="27" name="step 5"/>
          <p:cNvSpPr/>
          <p:nvPr/>
        </p:nvSpPr>
        <p:spPr>
          <a:xfrm>
            <a:off x="7223760" y="1097280"/>
            <a:ext cx="1463040" cy="2468880"/>
          </a:xfrm>
          <a:prstGeom prst="roundRect">
            <a:avLst>
              <a:gd name="adj" fmla="val 5000"/>
            </a:avLst>
          </a:prstGeom>
          <a:solidFill>
            <a:schemeClr val="bg2"/>
          </a:solidFill>
          <a:ln w="12700">
            <a:solidFill>
              <a:schemeClr val="bg2"/>
            </a:solidFill>
            <a:prstDash val="solid"/>
          </a:ln>
        </p:spPr>
      </p:sp>
      <p:sp>
        <p:nvSpPr>
          <p:cNvPr id="28" name="dot 5"/>
          <p:cNvSpPr/>
          <p:nvPr/>
        </p:nvSpPr>
        <p:spPr>
          <a:xfrm>
            <a:off x="7790688" y="1261872"/>
            <a:ext cx="329184" cy="329184"/>
          </a:xfrm>
          <a:prstGeom prst="ellipse">
            <a:avLst/>
          </a:prstGeom>
          <a:solidFill>
            <a:schemeClr val="accent1"/>
          </a:solidFill>
          <a:ln w="12700">
            <a:solidFill>
              <a:schemeClr val="accent1"/>
            </a:solidFill>
            <a:prstDash val="solid"/>
          </a:ln>
        </p:spPr>
      </p:sp>
      <p:sp>
        <p:nvSpPr>
          <p:cNvPr id="29" name="Text 27"/>
          <p:cNvSpPr txBox="1"/>
          <p:nvPr/>
        </p:nvSpPr>
        <p:spPr>
          <a:xfrm>
            <a:off x="7790688" y="12618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0" name="Text 28"/>
          <p:cNvSpPr txBox="1"/>
          <p:nvPr/>
        </p:nvSpPr>
        <p:spPr>
          <a:xfrm>
            <a:off x="7315200" y="1691640"/>
            <a:ext cx="1280160" cy="502920"/>
          </a:xfrm>
          <a:prstGeom prst="rect">
            <a:avLst/>
          </a:prstGeom>
          <a:noFill/>
          <a:ln/>
        </p:spPr>
        <p:txBody>
          <a:bodyPr wrap="square" lIns="0" tIns="0" rIns="0" bIns="0" rtlCol="0" anchor="ctr"/>
          <a:lstStyle/>
          <a:p>
            <a:pPr algn="ctr" indent="0" marL="0">
              <a:buNone/>
            </a:pPr>
            <a:r>
              <a:rPr lang="en-US" sz="1400" b="1" dirty="0">
                <a:solidFill>
                  <a:schemeClr val="tx2"/>
                </a:solidFill>
              </a:rPr>
              <a:t>Dashboard / App</a:t>
            </a:r>
            <a:endParaRPr lang="en-US" sz="1400" dirty="0"/>
          </a:p>
        </p:txBody>
      </p:sp>
      <p:sp>
        <p:nvSpPr>
          <p:cNvPr id="31" name="Text 29"/>
          <p:cNvSpPr txBox="1"/>
          <p:nvPr/>
        </p:nvSpPr>
        <p:spPr>
          <a:xfrm>
            <a:off x="7333488" y="2240280"/>
            <a:ext cx="1243584" cy="1234440"/>
          </a:xfrm>
          <a:prstGeom prst="rect">
            <a:avLst/>
          </a:prstGeom>
          <a:noFill/>
          <a:ln/>
        </p:spPr>
        <p:txBody>
          <a:bodyPr wrap="square" lIns="0" tIns="0" rIns="0" bIns="0" rtlCol="0" anchor="t"/>
          <a:lstStyle/>
          <a:p>
            <a:pPr algn="ctr" indent="0" marL="0">
              <a:buNone/>
            </a:pPr>
            <a:r>
              <a:rPr lang="en-US" sz="1150" dirty="0">
                <a:solidFill>
                  <a:schemeClr val="tx1"/>
                </a:solidFill>
              </a:rPr>
              <a:t>Hourly Prefect flow publishes to a live Hugging Face Space</a:t>
            </a:r>
            <a:endParaRPr lang="en-US" sz="1150" dirty="0"/>
          </a:p>
        </p:txBody>
      </p:sp>
      <p:sp>
        <p:nvSpPr>
          <p:cNvPr id="32" name="summary banner"/>
          <p:cNvSpPr/>
          <p:nvPr/>
        </p:nvSpPr>
        <p:spPr>
          <a:xfrm>
            <a:off x="457200" y="3794760"/>
            <a:ext cx="8229600" cy="685800"/>
          </a:xfrm>
          <a:prstGeom prst="roundRect">
            <a:avLst>
              <a:gd name="adj" fmla="val 10667"/>
            </a:avLst>
          </a:prstGeom>
          <a:solidFill>
            <a:schemeClr val="tx2"/>
          </a:solidFill>
          <a:ln w="12700">
            <a:solidFill>
              <a:schemeClr val="tx2"/>
            </a:solidFill>
            <a:prstDash val="solid"/>
          </a:ln>
        </p:spPr>
      </p:sp>
      <p:sp>
        <p:nvSpPr>
          <p:cNvPr id="33" name="Text 31"/>
          <p:cNvSpPr txBox="1"/>
          <p:nvPr/>
        </p:nvSpPr>
        <p:spPr>
          <a:xfrm>
            <a:off x="685800" y="3794760"/>
            <a:ext cx="7772400" cy="685800"/>
          </a:xfrm>
          <a:prstGeom prst="rect">
            <a:avLst/>
          </a:prstGeom>
          <a:noFill/>
          <a:ln/>
        </p:spPr>
        <p:txBody>
          <a:bodyPr wrap="square" lIns="0" tIns="0" rIns="0" bIns="0" rtlCol="0" anchor="ctr"/>
          <a:lstStyle/>
          <a:p>
            <a:pPr indent="0" marL="0">
              <a:buNone/>
            </a:pPr>
            <a:r>
              <a:rPr lang="en-US" sz="1400" b="1" dirty="0">
                <a:solidFill>
                  <a:schemeClr val="bg1"/>
                </a:solidFill>
              </a:rPr>
              <a:t>Raw forecasts and satellite rain in  →  each district's chance of unusually heavy rain 1–3 days ahead, refreshed every hour</a:t>
            </a:r>
            <a:endParaRPr lang="en-US" sz="14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Pipeline Details &amp; Tools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371600"/>
                <a:gridCol w="2743200"/>
                <a:gridCol w="4114800"/>
              </a:tblGrid>
              <a:tr h="365760">
                <a:tc>
                  <a:txBody>
                    <a:bodyPr/>
                    <a:lstStyle/>
                    <a:p>
                      <a:pPr indent="0" marL="0">
                        <a:buNone/>
                      </a:pPr>
                      <a:r>
                        <a:rPr lang="en-US" sz="1150" b="1" dirty="0">
                          <a:solidFill>
                            <a:srgbClr val="FFFFFF"/>
                          </a:solidFill>
                        </a:rPr>
                        <a:t>Stage</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c>
                  <a:txBody>
                    <a:bodyPr/>
                    <a:lstStyle/>
                    <a:p>
                      <a:pPr indent="0" marL="0">
                        <a:buNone/>
                      </a:pPr>
                      <a:r>
                        <a:rPr lang="en-US" sz="1150" b="1" dirty="0">
                          <a:solidFill>
                            <a:srgbClr val="FFFFFF"/>
                          </a:solidFill>
                        </a:rPr>
                        <a:t>Tools / Libraries</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c>
                  <a:txBody>
                    <a:bodyPr/>
                    <a:lstStyle/>
                    <a:p>
                      <a:pPr indent="0" marL="0">
                        <a:buNone/>
                      </a:pPr>
                      <a:r>
                        <a:rPr lang="en-US" sz="1150" b="1" dirty="0">
                          <a:solidFill>
                            <a:srgbClr val="FFFFFF"/>
                          </a:solidFill>
                        </a:rPr>
                        <a:t>What we did</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r>
              <a:tr h="621792">
                <a:tc>
                  <a:txBody>
                    <a:bodyPr/>
                    <a:lstStyle/>
                    <a:p>
                      <a:pPr indent="0" marL="0">
                        <a:buNone/>
                      </a:pPr>
                      <a:r>
                        <a:rPr lang="en-US" sz="1150" b="1" dirty="0">
                          <a:solidFill>
                            <a:srgbClr val="0B5D2A"/>
                          </a:solidFill>
                        </a:rPr>
                        <a:t>Collection</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Python, requests, earthaccess (OPeNDAP), pdfplumber</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Fetch only what is new; respect API budgets; never overwrite a raw file</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621792">
                <a:tc>
                  <a:txBody>
                    <a:bodyPr/>
                    <a:lstStyle/>
                    <a:p>
                      <a:pPr indent="0" marL="0">
                        <a:buNone/>
                      </a:pPr>
                      <a:r>
                        <a:rPr lang="en-US" sz="1150" b="1" dirty="0">
                          <a:solidFill>
                            <a:srgbClr val="0B5D2A"/>
                          </a:solidFill>
                        </a:rPr>
                        <a:t>Preprocessing</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DuckDB, pandas, Shapely, pandera</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Grid rain → district values; quality rules fix / fill / flag and log every decision</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621792">
                <a:tc>
                  <a:txBody>
                    <a:bodyPr/>
                    <a:lstStyle/>
                    <a:p>
                      <a:pPr indent="0" marL="0">
                        <a:buNone/>
                      </a:pPr>
                      <a:r>
                        <a:rPr lang="en-US" sz="1150" b="1" dirty="0">
                          <a:solidFill>
                            <a:srgbClr val="0B5D2A"/>
                          </a:solidFill>
                        </a:rPr>
                        <a:t>Analysis / EDA</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pandas, bootstrap CIs</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95th-percentile thresholds per district; Aug 2025 replay; skill by province and terrain</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621792">
                <a:tc>
                  <a:txBody>
                    <a:bodyPr/>
                    <a:lstStyle/>
                    <a:p>
                      <a:pPr indent="0" marL="0">
                        <a:buNone/>
                      </a:pPr>
                      <a:r>
                        <a:rPr lang="en-US" sz="1150" b="1" dirty="0">
                          <a:solidFill>
                            <a:srgbClr val="0B5D2A"/>
                          </a:solidFill>
                        </a:rPr>
                        <a:t>Modeling</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scikit-learn GBM + Platt calibration, FAISS + e5</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Leakage-tested features; fixed splits; test set run once. Insight Agent cites NDMA text</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621792">
                <a:tc>
                  <a:txBody>
                    <a:bodyPr/>
                    <a:lstStyle/>
                    <a:p>
                      <a:pPr indent="0" marL="0">
                        <a:buNone/>
                      </a:pPr>
                      <a:r>
                        <a:rPr lang="en-US" sz="1150" b="1" dirty="0">
                          <a:solidFill>
                            <a:srgbClr val="0B5D2A"/>
                          </a:solidFill>
                        </a:rPr>
                        <a:t>Dashboard / App</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Prefect 3, React + Leaflet, FastAPI, HF Spaces</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Hourly flow rebuilds and publishes; map, food prices, live data and Ask (English / Urdu)</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Dashboard / App Views</a:t>
            </a:r>
            <a:endParaRPr lang="en-US" sz="2800" dirty="0"/>
          </a:p>
        </p:txBody>
      </p:sp>
      <p:sp>
        <p:nvSpPr>
          <p:cNvPr id="3" name="Text 1"/>
          <p:cNvSpPr txBox="1"/>
          <p:nvPr/>
        </p:nvSpPr>
        <p:spPr>
          <a:xfrm>
            <a:off x="457200" y="914400"/>
            <a:ext cx="5212080" cy="228600"/>
          </a:xfrm>
          <a:prstGeom prst="rect">
            <a:avLst/>
          </a:prstGeom>
          <a:noFill/>
          <a:ln/>
        </p:spPr>
        <p:txBody>
          <a:bodyPr wrap="square" lIns="0" tIns="0" rIns="0" bIns="0" rtlCol="0" anchor="t"/>
          <a:lstStyle/>
          <a:p>
            <a:pPr indent="0" marL="0">
              <a:buNone/>
            </a:pPr>
            <a:r>
              <a:rPr lang="en-US" sz="1200" b="1" dirty="0">
                <a:solidFill>
                  <a:schemeClr val="tx2"/>
                </a:solidFill>
              </a:rPr>
              <a:t>Page 1 – Situation Room: risk vs each district's normal</a:t>
            </a:r>
            <a:endParaRPr lang="en-US" sz="1200" dirty="0"/>
          </a:p>
        </p:txBody>
      </p:sp>
      <p:pic>
        <p:nvPicPr>
          <p:cNvPr id="4" name="Page 1 – Situation Room: risk vs each district's normal" descr="Page 1 – Situation Room: risk vs each district's normal">    </p:cNvPr>
          <p:cNvPicPr>
            <a:picLocks noChangeAspect="1"/>
          </p:cNvPicPr>
          <p:nvPr/>
        </p:nvPicPr>
        <p:blipFill>
          <a:blip r:embed="rId1"/>
          <a:stretch>
            <a:fillRect/>
          </a:stretch>
        </p:blipFill>
        <p:spPr>
          <a:xfrm>
            <a:off x="457200" y="1188720"/>
            <a:ext cx="5212080" cy="2931795"/>
          </a:xfrm>
          <a:prstGeom prst="rect">
            <a:avLst/>
          </a:prstGeom>
        </p:spPr>
      </p:pic>
      <p:sp>
        <p:nvSpPr>
          <p:cNvPr id="5" name="Page 1 – Situation Room: risk vs each district's normal frame"/>
          <p:cNvSpPr/>
          <p:nvPr/>
        </p:nvSpPr>
        <p:spPr>
          <a:xfrm>
            <a:off x="457200" y="1188720"/>
            <a:ext cx="5212080" cy="2931795"/>
          </a:xfrm>
          <a:prstGeom prst="rect">
            <a:avLst/>
          </a:prstGeom>
          <a:ln w="9525">
            <a:solidFill>
              <a:srgbClr val="D0D5DD"/>
            </a:solidFill>
            <a:prstDash val="solid"/>
          </a:ln>
        </p:spPr>
      </p:sp>
      <p:sp>
        <p:nvSpPr>
          <p:cNvPr id="6" name="Text 3"/>
          <p:cNvSpPr txBox="1"/>
          <p:nvPr/>
        </p:nvSpPr>
        <p:spPr>
          <a:xfrm>
            <a:off x="5943600" y="914400"/>
            <a:ext cx="2377440" cy="228600"/>
          </a:xfrm>
          <a:prstGeom prst="rect">
            <a:avLst/>
          </a:prstGeom>
          <a:noFill/>
          <a:ln/>
        </p:spPr>
        <p:txBody>
          <a:bodyPr wrap="square" lIns="0" tIns="0" rIns="0" bIns="0" rtlCol="0" anchor="t"/>
          <a:lstStyle/>
          <a:p>
            <a:pPr indent="0" marL="0">
              <a:buNone/>
            </a:pPr>
            <a:r>
              <a:rPr lang="en-US" sz="1200" b="1" dirty="0">
                <a:solidFill>
                  <a:schemeClr val="tx2"/>
                </a:solidFill>
              </a:rPr>
              <a:t>Page 2 – Ask (Insight Agent)</a:t>
            </a:r>
            <a:endParaRPr lang="en-US" sz="1200" dirty="0"/>
          </a:p>
        </p:txBody>
      </p:sp>
      <p:pic>
        <p:nvPicPr>
          <p:cNvPr id="7" name="Page 2 – Ask (Insight Agent)" descr="Page 2 – Ask (Insight Agent)">    </p:cNvPr>
          <p:cNvPicPr>
            <a:picLocks noChangeAspect="1"/>
          </p:cNvPicPr>
          <p:nvPr/>
        </p:nvPicPr>
        <p:blipFill>
          <a:blip r:embed="rId2"/>
          <a:stretch>
            <a:fillRect/>
          </a:stretch>
        </p:blipFill>
        <p:spPr>
          <a:xfrm>
            <a:off x="5943600" y="1188720"/>
            <a:ext cx="2377440" cy="1337310"/>
          </a:xfrm>
          <a:prstGeom prst="rect">
            <a:avLst/>
          </a:prstGeom>
        </p:spPr>
      </p:pic>
      <p:sp>
        <p:nvSpPr>
          <p:cNvPr id="8" name="Page 2 – Ask (Insight Agent) frame"/>
          <p:cNvSpPr/>
          <p:nvPr/>
        </p:nvSpPr>
        <p:spPr>
          <a:xfrm>
            <a:off x="5943600" y="1188720"/>
            <a:ext cx="2377440" cy="1337310"/>
          </a:xfrm>
          <a:prstGeom prst="rect">
            <a:avLst/>
          </a:prstGeom>
          <a:ln w="9525">
            <a:solidFill>
              <a:srgbClr val="D0D5DD"/>
            </a:solidFill>
            <a:prstDash val="solid"/>
          </a:ln>
        </p:spPr>
      </p:sp>
      <p:sp>
        <p:nvSpPr>
          <p:cNvPr id="9" name="Text 5"/>
          <p:cNvSpPr txBox="1"/>
          <p:nvPr/>
        </p:nvSpPr>
        <p:spPr>
          <a:xfrm>
            <a:off x="5943600" y="2651760"/>
            <a:ext cx="2377440" cy="228600"/>
          </a:xfrm>
          <a:prstGeom prst="rect">
            <a:avLst/>
          </a:prstGeom>
          <a:noFill/>
          <a:ln/>
        </p:spPr>
        <p:txBody>
          <a:bodyPr wrap="square" lIns="0" tIns="0" rIns="0" bIns="0" rtlCol="0" anchor="t"/>
          <a:lstStyle/>
          <a:p>
            <a:pPr indent="0" marL="0">
              <a:buNone/>
            </a:pPr>
            <a:r>
              <a:rPr lang="en-US" sz="1200" b="1" dirty="0">
                <a:solidFill>
                  <a:schemeClr val="tx2"/>
                </a:solidFill>
              </a:rPr>
              <a:t>Page 3 – Live data</a:t>
            </a:r>
            <a:endParaRPr lang="en-US" sz="1200" dirty="0"/>
          </a:p>
        </p:txBody>
      </p:sp>
      <p:pic>
        <p:nvPicPr>
          <p:cNvPr id="10" name="Page 3 – Live data" descr="Page 3 – Live data">    </p:cNvPr>
          <p:cNvPicPr>
            <a:picLocks noChangeAspect="1"/>
          </p:cNvPicPr>
          <p:nvPr/>
        </p:nvPicPr>
        <p:blipFill>
          <a:blip r:embed="rId3"/>
          <a:stretch>
            <a:fillRect/>
          </a:stretch>
        </p:blipFill>
        <p:spPr>
          <a:xfrm>
            <a:off x="5943600" y="2926080"/>
            <a:ext cx="2377440" cy="1337310"/>
          </a:xfrm>
          <a:prstGeom prst="rect">
            <a:avLst/>
          </a:prstGeom>
        </p:spPr>
      </p:pic>
      <p:sp>
        <p:nvSpPr>
          <p:cNvPr id="11" name="Page 3 – Live data frame"/>
          <p:cNvSpPr/>
          <p:nvPr/>
        </p:nvSpPr>
        <p:spPr>
          <a:xfrm>
            <a:off x="5943600" y="2926080"/>
            <a:ext cx="2377440" cy="1337310"/>
          </a:xfrm>
          <a:prstGeom prst="rect">
            <a:avLst/>
          </a:prstGeom>
          <a:ln w="9525">
            <a:solidFill>
              <a:srgbClr val="D0D5DD"/>
            </a:solidFill>
            <a:prstDash val="solid"/>
          </a:ln>
        </p:spPr>
      </p:sp>
      <p:sp>
        <p:nvSpPr>
          <p:cNvPr id="12" name="Text 7"/>
          <p:cNvSpPr txBox="1"/>
          <p:nvPr/>
        </p:nvSpPr>
        <p:spPr>
          <a:xfrm>
            <a:off x="457200" y="4370832"/>
            <a:ext cx="8229600" cy="274320"/>
          </a:xfrm>
          <a:prstGeom prst="rect">
            <a:avLst/>
          </a:prstGeom>
          <a:noFill/>
          <a:ln/>
        </p:spPr>
        <p:txBody>
          <a:bodyPr wrap="square" lIns="0" tIns="0" rIns="0" bIns="0" rtlCol="0" anchor="t"/>
          <a:lstStyle/>
          <a:p>
            <a:pPr indent="0" marL="0">
              <a:buNone/>
            </a:pPr>
            <a:r>
              <a:rPr lang="en-US" sz="1200" b="1" dirty="0">
                <a:solidFill>
                  <a:schemeClr val="tx1"/>
                </a:solidFill>
              </a:rPr>
              <a:t>Live demo: </a:t>
            </a:r>
            <a:pPr indent="0" marL="0">
              <a:buNone/>
            </a:pPr>
            <a:r>
              <a:rPr lang="en-US" sz="1200" dirty="0">
                <a:solidFill>
                  <a:schemeClr val="accent5"/>
                </a:solidFill>
              </a:rPr>
              <a:t>huggingface.co/spaces/RoshaanT1/floodlens-pakistan</a:t>
            </a:r>
            <a:pPr indent="0" marL="0">
              <a:buNone/>
            </a:pPr>
            <a:r>
              <a:rPr lang="en-US" sz="1200" b="1" dirty="0">
                <a:solidFill>
                  <a:schemeClr val="tx1"/>
                </a:solidFill>
              </a:rPr>
              <a:t>   ·   Repo: </a:t>
            </a:r>
            <a:pPr indent="0" marL="0">
              <a:buNone/>
            </a:pPr>
            <a:r>
              <a:rPr lang="en-US" sz="1200" dirty="0">
                <a:solidFill>
                  <a:schemeClr val="accent5"/>
                </a:solidFill>
              </a:rPr>
              <a:t>github.com/RoshaanT1/floodlens-pakistan</a:t>
            </a:r>
            <a:endParaRPr lang="en-US" sz="12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Conclusion</a:t>
            </a:r>
            <a:endParaRPr lang="en-US" sz="2800" dirty="0"/>
          </a:p>
        </p:txBody>
      </p:sp>
      <p:sp>
        <p:nvSpPr>
          <p:cNvPr id="3" name="finding 1"/>
          <p:cNvSpPr/>
          <p:nvPr/>
        </p:nvSpPr>
        <p:spPr>
          <a:xfrm>
            <a:off x="457200" y="1051560"/>
            <a:ext cx="4937760" cy="1024128"/>
          </a:xfrm>
          <a:prstGeom prst="roundRect">
            <a:avLst>
              <a:gd name="adj" fmla="val 7143"/>
            </a:avLst>
          </a:prstGeom>
          <a:solidFill>
            <a:schemeClr val="bg2"/>
          </a:solidFill>
          <a:ln w="12700">
            <a:solidFill>
              <a:schemeClr val="bg2"/>
            </a:solidFill>
            <a:prstDash val="solid"/>
          </a:ln>
        </p:spPr>
      </p:sp>
      <p:sp>
        <p:nvSpPr>
          <p:cNvPr id="4" name="dot 1"/>
          <p:cNvSpPr/>
          <p:nvPr/>
        </p:nvSpPr>
        <p:spPr>
          <a:xfrm>
            <a:off x="640080" y="1234440"/>
            <a:ext cx="329184" cy="329184"/>
          </a:xfrm>
          <a:prstGeom prst="ellipse">
            <a:avLst/>
          </a:prstGeom>
          <a:solidFill>
            <a:schemeClr val="accent1"/>
          </a:solidFill>
          <a:ln w="12700">
            <a:solidFill>
              <a:schemeClr val="accent1"/>
            </a:solidFill>
            <a:prstDash val="solid"/>
          </a:ln>
        </p:spPr>
      </p:sp>
      <p:sp>
        <p:nvSpPr>
          <p:cNvPr id="5" name="Text 3"/>
          <p:cNvSpPr txBox="1"/>
          <p:nvPr/>
        </p:nvSpPr>
        <p:spPr>
          <a:xfrm>
            <a:off x="640080" y="123444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4"/>
          <p:cNvSpPr txBox="1"/>
          <p:nvPr/>
        </p:nvSpPr>
        <p:spPr>
          <a:xfrm>
            <a:off x="1143000" y="1188720"/>
            <a:ext cx="4114800" cy="292608"/>
          </a:xfrm>
          <a:prstGeom prst="rect">
            <a:avLst/>
          </a:prstGeom>
          <a:noFill/>
          <a:ln/>
        </p:spPr>
        <p:txBody>
          <a:bodyPr wrap="square" lIns="0" tIns="0" rIns="0" bIns="0" rtlCol="0" anchor="t"/>
          <a:lstStyle/>
          <a:p>
            <a:pPr indent="0" marL="0">
              <a:buNone/>
            </a:pPr>
            <a:r>
              <a:rPr lang="en-US" sz="1500" b="1" dirty="0">
                <a:solidFill>
                  <a:schemeClr val="tx2"/>
                </a:solidFill>
              </a:rPr>
              <a:t>Beats the baseline on unseen 2026 data</a:t>
            </a:r>
            <a:endParaRPr lang="en-US" sz="1500" dirty="0"/>
          </a:p>
        </p:txBody>
      </p:sp>
      <p:sp>
        <p:nvSpPr>
          <p:cNvPr id="7" name="Text 5"/>
          <p:cNvSpPr txBox="1"/>
          <p:nvPr/>
        </p:nvSpPr>
        <p:spPr>
          <a:xfrm>
            <a:off x="1143000" y="1508760"/>
            <a:ext cx="4114800" cy="530352"/>
          </a:xfrm>
          <a:prstGeom prst="rect">
            <a:avLst/>
          </a:prstGeom>
          <a:noFill/>
          <a:ln/>
        </p:spPr>
        <p:txBody>
          <a:bodyPr wrap="square" lIns="0" tIns="0" rIns="0" bIns="0" rtlCol="0" anchor="t"/>
          <a:lstStyle/>
          <a:p>
            <a:pPr indent="0" marL="0">
              <a:buNone/>
            </a:pPr>
            <a:r>
              <a:rPr lang="en-US" sz="1200" dirty="0">
                <a:solidFill>
                  <a:schemeClr val="tx1"/>
                </a:solidFill>
              </a:rPr>
              <a:t>Brier 0.0177 vs climatology 0.0192 (about 7% better); the 95% interval of the gain excludes zero</a:t>
            </a:r>
            <a:endParaRPr lang="en-US" sz="1200" dirty="0"/>
          </a:p>
        </p:txBody>
      </p:sp>
      <p:sp>
        <p:nvSpPr>
          <p:cNvPr id="8" name="finding 2"/>
          <p:cNvSpPr/>
          <p:nvPr/>
        </p:nvSpPr>
        <p:spPr>
          <a:xfrm>
            <a:off x="457200" y="2212848"/>
            <a:ext cx="4937760" cy="1024128"/>
          </a:xfrm>
          <a:prstGeom prst="roundRect">
            <a:avLst>
              <a:gd name="adj" fmla="val 7143"/>
            </a:avLst>
          </a:prstGeom>
          <a:solidFill>
            <a:schemeClr val="bg2"/>
          </a:solidFill>
          <a:ln w="12700">
            <a:solidFill>
              <a:schemeClr val="bg2"/>
            </a:solidFill>
            <a:prstDash val="solid"/>
          </a:ln>
        </p:spPr>
      </p:sp>
      <p:sp>
        <p:nvSpPr>
          <p:cNvPr id="9" name="dot 2"/>
          <p:cNvSpPr/>
          <p:nvPr/>
        </p:nvSpPr>
        <p:spPr>
          <a:xfrm>
            <a:off x="640080" y="2395728"/>
            <a:ext cx="329184" cy="329184"/>
          </a:xfrm>
          <a:prstGeom prst="ellipse">
            <a:avLst/>
          </a:prstGeom>
          <a:solidFill>
            <a:schemeClr val="accent1"/>
          </a:solidFill>
          <a:ln w="12700">
            <a:solidFill>
              <a:schemeClr val="accent1"/>
            </a:solidFill>
            <a:prstDash val="solid"/>
          </a:ln>
        </p:spPr>
      </p:sp>
      <p:sp>
        <p:nvSpPr>
          <p:cNvPr id="10" name="Text 8"/>
          <p:cNvSpPr txBox="1"/>
          <p:nvPr/>
        </p:nvSpPr>
        <p:spPr>
          <a:xfrm>
            <a:off x="640080" y="239572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1" name="Text 9"/>
          <p:cNvSpPr txBox="1"/>
          <p:nvPr/>
        </p:nvSpPr>
        <p:spPr>
          <a:xfrm>
            <a:off x="1143000" y="2350008"/>
            <a:ext cx="4114800" cy="292608"/>
          </a:xfrm>
          <a:prstGeom prst="rect">
            <a:avLst/>
          </a:prstGeom>
          <a:noFill/>
          <a:ln/>
        </p:spPr>
        <p:txBody>
          <a:bodyPr wrap="square" lIns="0" tIns="0" rIns="0" bIns="0" rtlCol="0" anchor="t"/>
          <a:lstStyle/>
          <a:p>
            <a:pPr indent="0" marL="0">
              <a:buNone/>
            </a:pPr>
            <a:r>
              <a:rPr lang="en-US" sz="1500" b="1" dirty="0">
                <a:solidFill>
                  <a:schemeClr val="tx2"/>
                </a:solidFill>
              </a:rPr>
              <a:t>Better everywhere we checked</a:t>
            </a:r>
            <a:endParaRPr lang="en-US" sz="1500" dirty="0"/>
          </a:p>
        </p:txBody>
      </p:sp>
      <p:sp>
        <p:nvSpPr>
          <p:cNvPr id="12" name="Text 10"/>
          <p:cNvSpPr txBox="1"/>
          <p:nvPr/>
        </p:nvSpPr>
        <p:spPr>
          <a:xfrm>
            <a:off x="1143000" y="2670048"/>
            <a:ext cx="4114800" cy="530352"/>
          </a:xfrm>
          <a:prstGeom prst="rect">
            <a:avLst/>
          </a:prstGeom>
          <a:noFill/>
          <a:ln/>
        </p:spPr>
        <p:txBody>
          <a:bodyPr wrap="square" lIns="0" tIns="0" rIns="0" bIns="0" rtlCol="0" anchor="t"/>
          <a:lstStyle/>
          <a:p>
            <a:pPr indent="0" marL="0">
              <a:buNone/>
            </a:pPr>
            <a:r>
              <a:rPr lang="en-US" sz="1200" dirty="0">
                <a:solidFill>
                  <a:schemeClr val="tx1"/>
                </a:solidFill>
              </a:rPr>
              <a:t>Ahead of climatology in every province and terrain group and in monsoon months; weakest in Azad Kashmir</a:t>
            </a:r>
            <a:endParaRPr lang="en-US" sz="1200" dirty="0"/>
          </a:p>
        </p:txBody>
      </p:sp>
      <p:sp>
        <p:nvSpPr>
          <p:cNvPr id="13" name="finding 3"/>
          <p:cNvSpPr/>
          <p:nvPr/>
        </p:nvSpPr>
        <p:spPr>
          <a:xfrm>
            <a:off x="457200" y="3374136"/>
            <a:ext cx="4937760" cy="1024128"/>
          </a:xfrm>
          <a:prstGeom prst="roundRect">
            <a:avLst>
              <a:gd name="adj" fmla="val 7143"/>
            </a:avLst>
          </a:prstGeom>
          <a:solidFill>
            <a:schemeClr val="bg2"/>
          </a:solidFill>
          <a:ln w="12700">
            <a:solidFill>
              <a:schemeClr val="bg2"/>
            </a:solidFill>
            <a:prstDash val="solid"/>
          </a:ln>
        </p:spPr>
      </p:sp>
      <p:sp>
        <p:nvSpPr>
          <p:cNvPr id="14" name="dot 3"/>
          <p:cNvSpPr/>
          <p:nvPr/>
        </p:nvSpPr>
        <p:spPr>
          <a:xfrm>
            <a:off x="640080" y="3557016"/>
            <a:ext cx="329184" cy="329184"/>
          </a:xfrm>
          <a:prstGeom prst="ellipse">
            <a:avLst/>
          </a:prstGeom>
          <a:solidFill>
            <a:schemeClr val="accent1"/>
          </a:solidFill>
          <a:ln w="12700">
            <a:solidFill>
              <a:schemeClr val="accent1"/>
            </a:solidFill>
            <a:prstDash val="solid"/>
          </a:ln>
        </p:spPr>
      </p:sp>
      <p:sp>
        <p:nvSpPr>
          <p:cNvPr id="15" name="Text 13"/>
          <p:cNvSpPr txBox="1"/>
          <p:nvPr/>
        </p:nvSpPr>
        <p:spPr>
          <a:xfrm>
            <a:off x="640080" y="355701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Text 14"/>
          <p:cNvSpPr txBox="1"/>
          <p:nvPr/>
        </p:nvSpPr>
        <p:spPr>
          <a:xfrm>
            <a:off x="1143000" y="3511296"/>
            <a:ext cx="4114800" cy="292608"/>
          </a:xfrm>
          <a:prstGeom prst="rect">
            <a:avLst/>
          </a:prstGeom>
          <a:noFill/>
          <a:ln/>
        </p:spPr>
        <p:txBody>
          <a:bodyPr wrap="square" lIns="0" tIns="0" rIns="0" bIns="0" rtlCol="0" anchor="t"/>
          <a:lstStyle/>
          <a:p>
            <a:pPr indent="0" marL="0">
              <a:buNone/>
            </a:pPr>
            <a:r>
              <a:rPr lang="en-US" sz="1500" b="1" dirty="0">
                <a:solidFill>
                  <a:schemeClr val="tx2"/>
                </a:solidFill>
              </a:rPr>
              <a:t>Right when it mattered</a:t>
            </a:r>
            <a:endParaRPr lang="en-US" sz="1500" dirty="0"/>
          </a:p>
        </p:txBody>
      </p:sp>
      <p:sp>
        <p:nvSpPr>
          <p:cNvPr id="17" name="Text 15"/>
          <p:cNvSpPr txBox="1"/>
          <p:nvPr/>
        </p:nvSpPr>
        <p:spPr>
          <a:xfrm>
            <a:off x="1143000" y="3831336"/>
            <a:ext cx="4114800" cy="530352"/>
          </a:xfrm>
          <a:prstGeom prst="rect">
            <a:avLst/>
          </a:prstGeom>
          <a:noFill/>
          <a:ln/>
        </p:spPr>
        <p:txBody>
          <a:bodyPr wrap="square" lIns="0" tIns="0" rIns="0" bIns="0" rtlCol="0" anchor="t"/>
          <a:lstStyle/>
          <a:p>
            <a:pPr indent="0" marL="0">
              <a:buNone/>
            </a:pPr>
            <a:r>
              <a:rPr lang="en-US" sz="1200" dirty="0">
                <a:solidFill>
                  <a:schemeClr val="tx1"/>
                </a:solidFill>
              </a:rPr>
              <a:t>Replaying Aug 2025: on 14 Aug, 8 of the 10 districts we ranked highest really had heavy rain</a:t>
            </a:r>
            <a:endParaRPr lang="en-US" sz="1200" dirty="0"/>
          </a:p>
        </p:txBody>
      </p:sp>
      <p:sp>
        <p:nvSpPr>
          <p:cNvPr id="18" name="impact"/>
          <p:cNvSpPr/>
          <p:nvPr/>
        </p:nvSpPr>
        <p:spPr>
          <a:xfrm>
            <a:off x="5669280" y="1051560"/>
            <a:ext cx="3017520" cy="1691640"/>
          </a:xfrm>
          <a:prstGeom prst="roundRect">
            <a:avLst>
              <a:gd name="adj" fmla="val 4324"/>
            </a:avLst>
          </a:prstGeom>
          <a:solidFill>
            <a:schemeClr val="tx2"/>
          </a:solidFill>
          <a:ln w="12700">
            <a:solidFill>
              <a:schemeClr val="tx2"/>
            </a:solidFill>
            <a:prstDash val="solid"/>
          </a:ln>
        </p:spPr>
      </p:sp>
      <p:sp>
        <p:nvSpPr>
          <p:cNvPr id="19" name="Text 17"/>
          <p:cNvSpPr txBox="1"/>
          <p:nvPr/>
        </p:nvSpPr>
        <p:spPr>
          <a:xfrm>
            <a:off x="5870448" y="1216152"/>
            <a:ext cx="2651760" cy="274320"/>
          </a:xfrm>
          <a:prstGeom prst="rect">
            <a:avLst/>
          </a:prstGeom>
          <a:noFill/>
          <a:ln/>
        </p:spPr>
        <p:txBody>
          <a:bodyPr wrap="square" lIns="0" tIns="0" rIns="0" bIns="0" rtlCol="0" anchor="t"/>
          <a:lstStyle/>
          <a:p>
            <a:pPr indent="0" marL="0">
              <a:buNone/>
            </a:pPr>
            <a:r>
              <a:rPr lang="en-US" sz="1200" b="1" spc="200" kern="0" dirty="0">
                <a:solidFill>
                  <a:schemeClr val="bg1"/>
                </a:solidFill>
              </a:rPr>
              <a:t>IMPACT</a:t>
            </a:r>
            <a:endParaRPr lang="en-US" sz="1200" dirty="0"/>
          </a:p>
        </p:txBody>
      </p:sp>
      <p:sp>
        <p:nvSpPr>
          <p:cNvPr id="20" name="Text 18"/>
          <p:cNvSpPr txBox="1"/>
          <p:nvPr/>
        </p:nvSpPr>
        <p:spPr>
          <a:xfrm>
            <a:off x="5870448" y="1536192"/>
            <a:ext cx="2651760" cy="1143000"/>
          </a:xfrm>
          <a:prstGeom prst="rect">
            <a:avLst/>
          </a:prstGeom>
          <a:noFill/>
          <a:ln/>
        </p:spPr>
        <p:txBody>
          <a:bodyPr wrap="square" lIns="0" tIns="0" rIns="0" bIns="0" rtlCol="0" anchor="t"/>
          <a:lstStyle/>
          <a:p>
            <a:pPr indent="0" marL="0">
              <a:buNone/>
            </a:pPr>
            <a:r>
              <a:rPr lang="en-US" sz="1200" dirty="0">
                <a:solidFill>
                  <a:schemeClr val="bg1"/>
                </a:solidFill>
              </a:rPr>
              <a:t>160 district offices and their PDMAs get a free, hourly, per-district signal with the reasons and NDMA sources one click away.</a:t>
            </a:r>
            <a:endParaRPr lang="en-US" sz="1200" dirty="0"/>
          </a:p>
        </p:txBody>
      </p:sp>
      <p:sp>
        <p:nvSpPr>
          <p:cNvPr id="21" name="future work"/>
          <p:cNvSpPr/>
          <p:nvPr/>
        </p:nvSpPr>
        <p:spPr>
          <a:xfrm>
            <a:off x="5669280" y="2907792"/>
            <a:ext cx="3017520" cy="1572768"/>
          </a:xfrm>
          <a:prstGeom prst="roundRect">
            <a:avLst>
              <a:gd name="adj" fmla="val 4651"/>
            </a:avLst>
          </a:prstGeom>
          <a:solidFill>
            <a:schemeClr val="bg2"/>
          </a:solidFill>
          <a:ln w="12700">
            <a:solidFill>
              <a:schemeClr val="bg2"/>
            </a:solidFill>
            <a:prstDash val="solid"/>
          </a:ln>
        </p:spPr>
      </p:sp>
      <p:sp>
        <p:nvSpPr>
          <p:cNvPr id="22" name="Text 20"/>
          <p:cNvSpPr txBox="1"/>
          <p:nvPr/>
        </p:nvSpPr>
        <p:spPr>
          <a:xfrm>
            <a:off x="5870448" y="3072384"/>
            <a:ext cx="265176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FUTURE WORK</a:t>
            </a:r>
            <a:endParaRPr lang="en-US" sz="1200" dirty="0"/>
          </a:p>
        </p:txBody>
      </p:sp>
      <p:sp>
        <p:nvSpPr>
          <p:cNvPr id="23" name="Text 21"/>
          <p:cNvSpPr txBox="1"/>
          <p:nvPr/>
        </p:nvSpPr>
        <p:spPr>
          <a:xfrm>
            <a:off x="5870448" y="3383280"/>
            <a:ext cx="2697480" cy="105156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Sub-daily rain to catch cloudbursts like Buner</a:t>
            </a:r>
            <a:endParaRPr lang="en-US" sz="1200" dirty="0"/>
          </a:p>
          <a:p>
            <a:pPr marL="342900" indent="-342900">
              <a:spcAft>
                <a:spcPts val="300"/>
              </a:spcAft>
              <a:buSzPct val="100000"/>
              <a:buChar char="•"/>
            </a:pPr>
            <a:r>
              <a:rPr lang="en-US" sz="1200" dirty="0">
                <a:solidFill>
                  <a:schemeClr val="tx1"/>
                </a:solidFill>
              </a:rPr>
              <a:t>Flood and damage targets, not only rain</a:t>
            </a:r>
            <a:endParaRPr lang="en-US" sz="1200" dirty="0"/>
          </a:p>
          <a:p>
            <a:pPr marL="342900" indent="-342900">
              <a:spcAft>
                <a:spcPts val="300"/>
              </a:spcAft>
              <a:buSzPct val="100000"/>
              <a:buChar char="•"/>
            </a:pPr>
            <a:r>
              <a:rPr lang="en-US" sz="1200" dirty="0">
                <a:solidFill>
                  <a:schemeClr val="tx1"/>
                </a:solidFill>
              </a:rPr>
              <a:t>A price model that beats “no change”</a:t>
            </a:r>
            <a:endParaRPr lang="en-US" sz="12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Team &amp; Credits</a:t>
            </a:r>
            <a:endParaRPr lang="en-US" sz="2800" dirty="0"/>
          </a:p>
        </p:txBody>
      </p:sp>
      <p:sp>
        <p:nvSpPr>
          <p:cNvPr id="3" name="Text 1"/>
          <p:cNvSpPr txBox="1"/>
          <p:nvPr/>
        </p:nvSpPr>
        <p:spPr>
          <a:xfrm>
            <a:off x="457200" y="914400"/>
            <a:ext cx="5486400" cy="365760"/>
          </a:xfrm>
          <a:prstGeom prst="rect">
            <a:avLst/>
          </a:prstGeom>
          <a:noFill/>
          <a:ln/>
        </p:spPr>
        <p:txBody>
          <a:bodyPr wrap="square" lIns="0" tIns="0" rIns="0" bIns="0" rtlCol="0" anchor="t"/>
          <a:lstStyle/>
          <a:p>
            <a:pPr indent="0" marL="0">
              <a:buNone/>
            </a:pPr>
            <a:r>
              <a:rPr lang="en-US" sz="1800" b="1" spc="200" kern="0" dirty="0">
                <a:solidFill>
                  <a:schemeClr val="accent2"/>
                </a:solidFill>
              </a:rPr>
              <a:t>TEAM SPARK H</a:t>
            </a:r>
            <a:endParaRPr lang="en-US" sz="1800" dirty="0"/>
          </a:p>
        </p:txBody>
      </p:sp>
      <p:sp>
        <p:nvSpPr>
          <p:cNvPr id="4" name="member 1"/>
          <p:cNvSpPr/>
          <p:nvPr/>
        </p:nvSpPr>
        <p:spPr>
          <a:xfrm>
            <a:off x="457200" y="914400"/>
            <a:ext cx="2560320" cy="2880360"/>
          </a:xfrm>
          <a:prstGeom prst="roundRect">
            <a:avLst>
              <a:gd name="adj" fmla="val 2857"/>
            </a:avLst>
          </a:prstGeom>
          <a:solidFill>
            <a:schemeClr val="bg2"/>
          </a:solidFill>
          <a:ln w="12700">
            <a:solidFill>
              <a:schemeClr val="bg2"/>
            </a:solidFill>
            <a:prstDash val="solid"/>
          </a:ln>
        </p:spPr>
      </p:sp>
      <p:sp>
        <p:nvSpPr>
          <p:cNvPr id="5" name="avatar 1"/>
          <p:cNvSpPr/>
          <p:nvPr/>
        </p:nvSpPr>
        <p:spPr>
          <a:xfrm>
            <a:off x="1463040" y="1051560"/>
            <a:ext cx="548640" cy="548640"/>
          </a:xfrm>
          <a:prstGeom prst="ellipse">
            <a:avLst/>
          </a:prstGeom>
          <a:solidFill>
            <a:schemeClr val="accent1"/>
          </a:solidFill>
          <a:ln w="12700">
            <a:solidFill>
              <a:schemeClr val="accent1"/>
            </a:solidFill>
            <a:prstDash val="solid"/>
          </a:ln>
        </p:spPr>
      </p:sp>
      <p:sp>
        <p:nvSpPr>
          <p:cNvPr id="6" name="Text 4"/>
          <p:cNvSpPr txBox="1"/>
          <p:nvPr/>
        </p:nvSpPr>
        <p:spPr>
          <a:xfrm>
            <a:off x="1463040" y="105156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RT</a:t>
            </a:r>
            <a:endParaRPr lang="en-US" sz="1600" dirty="0"/>
          </a:p>
        </p:txBody>
      </p:sp>
      <p:sp>
        <p:nvSpPr>
          <p:cNvPr id="7" name="Text 5"/>
          <p:cNvSpPr txBox="1"/>
          <p:nvPr/>
        </p:nvSpPr>
        <p:spPr>
          <a:xfrm>
            <a:off x="548640" y="1691640"/>
            <a:ext cx="2377440" cy="292608"/>
          </a:xfrm>
          <a:prstGeom prst="rect">
            <a:avLst/>
          </a:prstGeom>
          <a:noFill/>
          <a:ln/>
        </p:spPr>
        <p:txBody>
          <a:bodyPr wrap="square" lIns="0" tIns="0" rIns="0" bIns="0" rtlCol="0" anchor="t"/>
          <a:lstStyle/>
          <a:p>
            <a:pPr algn="ctr" indent="0" marL="0">
              <a:buNone/>
            </a:pPr>
            <a:r>
              <a:rPr lang="en-US" sz="1600" b="1" dirty="0">
                <a:solidFill>
                  <a:schemeClr val="tx2"/>
                </a:solidFill>
              </a:rPr>
              <a:t>Roshaan Tahir</a:t>
            </a:r>
            <a:endParaRPr lang="en-US" sz="1600" dirty="0"/>
          </a:p>
        </p:txBody>
      </p:sp>
      <p:sp>
        <p:nvSpPr>
          <p:cNvPr id="8" name="Text 6"/>
          <p:cNvSpPr txBox="1"/>
          <p:nvPr/>
        </p:nvSpPr>
        <p:spPr>
          <a:xfrm>
            <a:off x="548640" y="1984248"/>
            <a:ext cx="2377440" cy="256032"/>
          </a:xfrm>
          <a:prstGeom prst="rect">
            <a:avLst/>
          </a:prstGeom>
          <a:noFill/>
          <a:ln/>
        </p:spPr>
        <p:txBody>
          <a:bodyPr wrap="square" lIns="0" tIns="0" rIns="0" bIns="0" rtlCol="0" anchor="t"/>
          <a:lstStyle/>
          <a:p>
            <a:pPr algn="ctr" indent="0" marL="0">
              <a:buNone/>
            </a:pPr>
            <a:r>
              <a:rPr lang="en-US" sz="1200" b="1" dirty="0">
                <a:solidFill>
                  <a:schemeClr val="accent2"/>
                </a:solidFill>
              </a:rPr>
              <a:t>Forecast data, models &amp; dashboard</a:t>
            </a:r>
            <a:endParaRPr lang="en-US" sz="1200" dirty="0"/>
          </a:p>
        </p:txBody>
      </p:sp>
      <p:sp>
        <p:nvSpPr>
          <p:cNvPr id="9" name="Text 7"/>
          <p:cNvSpPr txBox="1"/>
          <p:nvPr/>
        </p:nvSpPr>
        <p:spPr>
          <a:xfrm>
            <a:off x="640080" y="2331720"/>
            <a:ext cx="2240280" cy="1371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Open-Meteo forecast pipeline</a:t>
            </a:r>
            <a:endParaRPr lang="en-US" sz="1200" dirty="0"/>
          </a:p>
          <a:p>
            <a:pPr marL="342900" indent="-342900">
              <a:spcAft>
                <a:spcPts val="400"/>
              </a:spcAft>
              <a:buSzPct val="100000"/>
              <a:buChar char="•"/>
            </a:pPr>
            <a:r>
              <a:rPr lang="en-US" sz="1200" dirty="0">
                <a:solidFill>
                  <a:schemeClr val="tx1"/>
                </a:solidFill>
              </a:rPr>
              <a:t>Model A training and calibration</a:t>
            </a:r>
            <a:endParaRPr lang="en-US" sz="1200" dirty="0"/>
          </a:p>
          <a:p>
            <a:pPr marL="342900" indent="-342900">
              <a:spcAft>
                <a:spcPts val="400"/>
              </a:spcAft>
              <a:buSzPct val="100000"/>
              <a:buChar char="•"/>
            </a:pPr>
            <a:r>
              <a:rPr lang="en-US" sz="1200" dirty="0">
                <a:solidFill>
                  <a:schemeClr val="tx1"/>
                </a:solidFill>
              </a:rPr>
              <a:t>Insight Agent and live dashboard</a:t>
            </a:r>
            <a:endParaRPr lang="en-US" sz="1200" dirty="0"/>
          </a:p>
        </p:txBody>
      </p:sp>
      <p:sp>
        <p:nvSpPr>
          <p:cNvPr id="10" name="member 2"/>
          <p:cNvSpPr/>
          <p:nvPr/>
        </p:nvSpPr>
        <p:spPr>
          <a:xfrm>
            <a:off x="3291840" y="914400"/>
            <a:ext cx="2560320" cy="2880360"/>
          </a:xfrm>
          <a:prstGeom prst="roundRect">
            <a:avLst>
              <a:gd name="adj" fmla="val 2857"/>
            </a:avLst>
          </a:prstGeom>
          <a:solidFill>
            <a:schemeClr val="bg2"/>
          </a:solidFill>
          <a:ln w="12700">
            <a:solidFill>
              <a:schemeClr val="bg2"/>
            </a:solidFill>
            <a:prstDash val="solid"/>
          </a:ln>
        </p:spPr>
      </p:sp>
      <p:sp>
        <p:nvSpPr>
          <p:cNvPr id="11" name="avatar 2"/>
          <p:cNvSpPr/>
          <p:nvPr/>
        </p:nvSpPr>
        <p:spPr>
          <a:xfrm>
            <a:off x="4297680" y="1051560"/>
            <a:ext cx="548640" cy="548640"/>
          </a:xfrm>
          <a:prstGeom prst="ellipse">
            <a:avLst/>
          </a:prstGeom>
          <a:solidFill>
            <a:schemeClr val="accent1"/>
          </a:solidFill>
          <a:ln w="12700">
            <a:solidFill>
              <a:schemeClr val="accent1"/>
            </a:solidFill>
            <a:prstDash val="solid"/>
          </a:ln>
        </p:spPr>
      </p:sp>
      <p:sp>
        <p:nvSpPr>
          <p:cNvPr id="12" name="Text 10"/>
          <p:cNvSpPr txBox="1"/>
          <p:nvPr/>
        </p:nvSpPr>
        <p:spPr>
          <a:xfrm>
            <a:off x="4297680" y="105156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HK</a:t>
            </a:r>
            <a:endParaRPr lang="en-US" sz="1600" dirty="0"/>
          </a:p>
        </p:txBody>
      </p:sp>
      <p:sp>
        <p:nvSpPr>
          <p:cNvPr id="13" name="Text 11"/>
          <p:cNvSpPr txBox="1"/>
          <p:nvPr/>
        </p:nvSpPr>
        <p:spPr>
          <a:xfrm>
            <a:off x="3383280" y="1691640"/>
            <a:ext cx="2377440" cy="292608"/>
          </a:xfrm>
          <a:prstGeom prst="rect">
            <a:avLst/>
          </a:prstGeom>
          <a:noFill/>
          <a:ln/>
        </p:spPr>
        <p:txBody>
          <a:bodyPr wrap="square" lIns="0" tIns="0" rIns="0" bIns="0" rtlCol="0" anchor="t"/>
          <a:lstStyle/>
          <a:p>
            <a:pPr algn="ctr" indent="0" marL="0">
              <a:buNone/>
            </a:pPr>
            <a:r>
              <a:rPr lang="en-US" sz="1600" b="1" dirty="0">
                <a:solidFill>
                  <a:schemeClr val="tx2"/>
                </a:solidFill>
              </a:rPr>
              <a:t>Hammad Khan</a:t>
            </a:r>
            <a:endParaRPr lang="en-US" sz="1600" dirty="0"/>
          </a:p>
        </p:txBody>
      </p:sp>
      <p:sp>
        <p:nvSpPr>
          <p:cNvPr id="14" name="Text 12"/>
          <p:cNvSpPr txBox="1"/>
          <p:nvPr/>
        </p:nvSpPr>
        <p:spPr>
          <a:xfrm>
            <a:off x="3383280" y="1984248"/>
            <a:ext cx="2377440" cy="256032"/>
          </a:xfrm>
          <a:prstGeom prst="rect">
            <a:avLst/>
          </a:prstGeom>
          <a:noFill/>
          <a:ln/>
        </p:spPr>
        <p:txBody>
          <a:bodyPr wrap="square" lIns="0" tIns="0" rIns="0" bIns="0" rtlCol="0" anchor="t"/>
          <a:lstStyle/>
          <a:p>
            <a:pPr algn="ctr" indent="0" marL="0">
              <a:buNone/>
            </a:pPr>
            <a:r>
              <a:rPr lang="en-US" sz="1200" b="1" dirty="0">
                <a:solidFill>
                  <a:schemeClr val="accent2"/>
                </a:solidFill>
              </a:rPr>
              <a:t>Satellite rain &amp; ground truth</a:t>
            </a:r>
            <a:endParaRPr lang="en-US" sz="1200" dirty="0"/>
          </a:p>
        </p:txBody>
      </p:sp>
      <p:sp>
        <p:nvSpPr>
          <p:cNvPr id="15" name="Text 13"/>
          <p:cNvSpPr txBox="1"/>
          <p:nvPr/>
        </p:nvSpPr>
        <p:spPr>
          <a:xfrm>
            <a:off x="3474720" y="2331720"/>
            <a:ext cx="2240280" cy="1371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NASA IMERG satellite rain fetcher</a:t>
            </a:r>
            <a:endParaRPr lang="en-US" sz="1200" dirty="0"/>
          </a:p>
          <a:p>
            <a:pPr marL="342900" indent="-342900">
              <a:spcAft>
                <a:spcPts val="400"/>
              </a:spcAft>
              <a:buSzPct val="100000"/>
              <a:buChar char="•"/>
            </a:pPr>
            <a:r>
              <a:rPr lang="en-US" sz="1200" dirty="0">
                <a:solidFill>
                  <a:schemeClr val="tx1"/>
                </a:solidFill>
              </a:rPr>
              <a:t>District rain, 95th-pct thresholds, labels</a:t>
            </a:r>
            <a:endParaRPr lang="en-US" sz="1200" dirty="0"/>
          </a:p>
          <a:p>
            <a:pPr marL="342900" indent="-342900">
              <a:spcAft>
                <a:spcPts val="400"/>
              </a:spcAft>
              <a:buSzPct val="100000"/>
              <a:buChar char="•"/>
            </a:pPr>
            <a:r>
              <a:rPr lang="en-US" sz="1200" dirty="0">
                <a:solidFill>
                  <a:schemeClr val="tx1"/>
                </a:solidFill>
              </a:rPr>
              <a:t>Data quality checks + 26 tests</a:t>
            </a:r>
            <a:endParaRPr lang="en-US" sz="1200" dirty="0"/>
          </a:p>
        </p:txBody>
      </p:sp>
      <p:sp>
        <p:nvSpPr>
          <p:cNvPr id="16" name="member 3"/>
          <p:cNvSpPr/>
          <p:nvPr/>
        </p:nvSpPr>
        <p:spPr>
          <a:xfrm>
            <a:off x="6126480" y="914400"/>
            <a:ext cx="2560320" cy="2880360"/>
          </a:xfrm>
          <a:prstGeom prst="roundRect">
            <a:avLst>
              <a:gd name="adj" fmla="val 2857"/>
            </a:avLst>
          </a:prstGeom>
          <a:solidFill>
            <a:schemeClr val="bg2"/>
          </a:solidFill>
          <a:ln w="12700">
            <a:solidFill>
              <a:schemeClr val="bg2"/>
            </a:solidFill>
            <a:prstDash val="solid"/>
          </a:ln>
        </p:spPr>
      </p:sp>
      <p:sp>
        <p:nvSpPr>
          <p:cNvPr id="17" name="avatar 3"/>
          <p:cNvSpPr/>
          <p:nvPr/>
        </p:nvSpPr>
        <p:spPr>
          <a:xfrm>
            <a:off x="7132320" y="1051560"/>
            <a:ext cx="548640" cy="548640"/>
          </a:xfrm>
          <a:prstGeom prst="ellipse">
            <a:avLst/>
          </a:prstGeom>
          <a:solidFill>
            <a:schemeClr val="accent1"/>
          </a:solidFill>
          <a:ln w="12700">
            <a:solidFill>
              <a:schemeClr val="accent1"/>
            </a:solidFill>
            <a:prstDash val="solid"/>
          </a:ln>
        </p:spPr>
      </p:sp>
      <p:sp>
        <p:nvSpPr>
          <p:cNvPr id="18" name="Text 16"/>
          <p:cNvSpPr txBox="1"/>
          <p:nvPr/>
        </p:nvSpPr>
        <p:spPr>
          <a:xfrm>
            <a:off x="7132320" y="105156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MH</a:t>
            </a:r>
            <a:endParaRPr lang="en-US" sz="1600" dirty="0"/>
          </a:p>
        </p:txBody>
      </p:sp>
      <p:sp>
        <p:nvSpPr>
          <p:cNvPr id="19" name="Text 17"/>
          <p:cNvSpPr txBox="1"/>
          <p:nvPr/>
        </p:nvSpPr>
        <p:spPr>
          <a:xfrm>
            <a:off x="6217920" y="1691640"/>
            <a:ext cx="2377440" cy="292608"/>
          </a:xfrm>
          <a:prstGeom prst="rect">
            <a:avLst/>
          </a:prstGeom>
          <a:noFill/>
          <a:ln/>
        </p:spPr>
        <p:txBody>
          <a:bodyPr wrap="square" lIns="0" tIns="0" rIns="0" bIns="0" rtlCol="0" anchor="t"/>
          <a:lstStyle/>
          <a:p>
            <a:pPr algn="ctr" indent="0" marL="0">
              <a:buNone/>
            </a:pPr>
            <a:r>
              <a:rPr lang="en-US" sz="1600" b="1" dirty="0">
                <a:solidFill>
                  <a:schemeClr val="tx2"/>
                </a:solidFill>
              </a:rPr>
              <a:t>Muhammad Huzaifa</a:t>
            </a:r>
            <a:endParaRPr lang="en-US" sz="1600" dirty="0"/>
          </a:p>
        </p:txBody>
      </p:sp>
      <p:sp>
        <p:nvSpPr>
          <p:cNvPr id="20" name="Text 18"/>
          <p:cNvSpPr txBox="1"/>
          <p:nvPr/>
        </p:nvSpPr>
        <p:spPr>
          <a:xfrm>
            <a:off x="6217920" y="1984248"/>
            <a:ext cx="2377440" cy="256032"/>
          </a:xfrm>
          <a:prstGeom prst="rect">
            <a:avLst/>
          </a:prstGeom>
          <a:noFill/>
          <a:ln/>
        </p:spPr>
        <p:txBody>
          <a:bodyPr wrap="square" lIns="0" tIns="0" rIns="0" bIns="0" rtlCol="0" anchor="t"/>
          <a:lstStyle/>
          <a:p>
            <a:pPr algn="ctr" indent="0" marL="0">
              <a:buNone/>
            </a:pPr>
            <a:r>
              <a:rPr lang="en-US" sz="1200" b="1" dirty="0">
                <a:solidFill>
                  <a:schemeClr val="accent2"/>
                </a:solidFill>
              </a:rPr>
              <a:t>Deployment &amp; delivery</a:t>
            </a:r>
            <a:endParaRPr lang="en-US" sz="1200" dirty="0"/>
          </a:p>
        </p:txBody>
      </p:sp>
      <p:sp>
        <p:nvSpPr>
          <p:cNvPr id="21" name="Text 19"/>
          <p:cNvSpPr txBox="1"/>
          <p:nvPr/>
        </p:nvSpPr>
        <p:spPr>
          <a:xfrm>
            <a:off x="6309360" y="2331720"/>
            <a:ext cx="2240280" cy="1371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Hugging Face Space (Docker server)</a:t>
            </a:r>
            <a:endParaRPr lang="en-US" sz="1200" dirty="0"/>
          </a:p>
          <a:p>
            <a:pPr marL="342900" indent="-342900">
              <a:spcAft>
                <a:spcPts val="400"/>
              </a:spcAft>
              <a:buSzPct val="100000"/>
              <a:buChar char="•"/>
            </a:pPr>
            <a:r>
              <a:rPr lang="en-US" sz="1200" dirty="0">
                <a:solidFill>
                  <a:schemeClr val="tx1"/>
                </a:solidFill>
              </a:rPr>
              <a:t>Build-and-assemble deploy script</a:t>
            </a:r>
            <a:endParaRPr lang="en-US" sz="1200" dirty="0"/>
          </a:p>
          <a:p>
            <a:pPr marL="342900" indent="-342900">
              <a:spcAft>
                <a:spcPts val="400"/>
              </a:spcAft>
              <a:buSzPct val="100000"/>
              <a:buChar char="•"/>
            </a:pPr>
            <a:r>
              <a:rPr lang="en-US" sz="1200" dirty="0">
                <a:solidFill>
                  <a:schemeClr val="tx1"/>
                </a:solidFill>
              </a:rPr>
              <a:t>Deploy checklist and AI-use records</a:t>
            </a:r>
            <a:endParaRPr lang="en-US" sz="1200" dirty="0"/>
          </a:p>
        </p:txBody>
      </p:sp>
      <p:sp>
        <p:nvSpPr>
          <p:cNvPr id="22" name="Text 20"/>
          <p:cNvSpPr txBox="1"/>
          <p:nvPr/>
        </p:nvSpPr>
        <p:spPr>
          <a:xfrm>
            <a:off x="457200" y="3931920"/>
            <a:ext cx="8229600" cy="274320"/>
          </a:xfrm>
          <a:prstGeom prst="rect">
            <a:avLst/>
          </a:prstGeom>
          <a:noFill/>
          <a:ln/>
        </p:spPr>
        <p:txBody>
          <a:bodyPr wrap="square" lIns="0" tIns="0" rIns="0" bIns="0" rtlCol="0" anchor="t"/>
          <a:lstStyle/>
          <a:p>
            <a:pPr indent="0" marL="0">
              <a:buNone/>
            </a:pPr>
            <a:r>
              <a:rPr lang="en-US" sz="1100" b="1" dirty="0">
                <a:solidFill>
                  <a:schemeClr val="tx1"/>
                </a:solidFill>
              </a:rPr>
              <a:t>Contact: </a:t>
            </a:r>
            <a:pPr indent="0" marL="0">
              <a:buNone/>
            </a:pPr>
            <a:r>
              <a:rPr lang="en-US" sz="1100" dirty="0">
                <a:solidFill>
                  <a:schemeClr val="accent5"/>
                </a:solidFill>
              </a:rPr>
              <a:t>github.com/RoshaanT1/floodlens-pakistan</a:t>
            </a:r>
            <a:pPr indent="0" marL="0">
              <a:buNone/>
            </a:pPr>
            <a:r>
              <a:rPr lang="en-US" sz="1100" dirty="0">
                <a:solidFill>
                  <a:schemeClr val="tx1"/>
                </a:solidFill>
              </a:rPr>
              <a:t>   ·   Data: Open-Meteo, NASA, OCHA, PBS, NDMA</a:t>
            </a:r>
            <a:endParaRPr lang="en-US" sz="1100" dirty="0"/>
          </a:p>
        </p:txBody>
      </p:sp>
      <p:sp>
        <p:nvSpPr>
          <p:cNvPr id="23" name="Text 21"/>
          <p:cNvSpPr txBox="1"/>
          <p:nvPr/>
        </p:nvSpPr>
        <p:spPr>
          <a:xfrm>
            <a:off x="457200" y="4224528"/>
            <a:ext cx="5486400" cy="411480"/>
          </a:xfrm>
          <a:prstGeom prst="rect">
            <a:avLst/>
          </a:prstGeom>
          <a:noFill/>
          <a:ln/>
        </p:spPr>
        <p:txBody>
          <a:bodyPr wrap="square" lIns="0" tIns="0" rIns="0" bIns="0" rtlCol="0" anchor="t"/>
          <a:lstStyle/>
          <a:p>
            <a:pPr indent="0" marL="0">
              <a:buNone/>
            </a:pPr>
            <a:r>
              <a:rPr lang="en-US" sz="2400" b="1" dirty="0">
                <a:solidFill>
                  <a:schemeClr val="tx2"/>
                </a:solidFill>
              </a:rPr>
              <a:t>Thank you!</a:t>
            </a:r>
            <a:endParaRPr lang="en-US" sz="24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FloodLens">
  <a:themeElements>
    <a:clrScheme name="FloodLens">
      <a:dk1>
        <a:srgbClr val="1F2933"/>
      </a:dk1>
      <a:lt1>
        <a:srgbClr val="FFFFFF"/>
      </a:lt1>
      <a:dk2>
        <a:srgbClr val="0B5D2A"/>
      </a:dk2>
      <a:lt2>
        <a:srgbClr val="EEF6F0"/>
      </a:lt2>
      <a:accent1>
        <a:srgbClr val="0B5D2A"/>
      </a:accent1>
      <a:accent2>
        <a:srgbClr val="2E8B57"/>
      </a:accent2>
      <a:accent3>
        <a:srgbClr val="B42318"/>
      </a:accent3>
      <a:accent4>
        <a:srgbClr val="B54708"/>
      </a:accent4>
      <a:accent5>
        <a:srgbClr val="1D4E89"/>
      </a:accent5>
      <a:accent6>
        <a:srgbClr val="667085"/>
      </a:accent6>
      <a:hlink>
        <a:srgbClr val="1D4E89"/>
      </a:hlink>
      <a:folHlink>
        <a:srgbClr val="6941C6"/>
      </a:folHlink>
    </a:clrScheme>
    <a:fontScheme name="FloodLen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FloodLens Pakistan</dc:title>
  <dc:subject>PptxGenJS Presentation</dc:subject>
  <dc:creator>Team Spark H</dc:creator>
  <cp:lastModifiedBy>Team Spark H</cp:lastModifiedBy>
  <cp:revision>1</cp:revision>
  <dcterms:created xsi:type="dcterms:W3CDTF">2026-10-21T17:14:54Z</dcterms:created>
  <dcterms:modified xsi:type="dcterms:W3CDTF">2026-10-21T17:14:54Z</dcterms:modified>
</cp:coreProperties>
</file>