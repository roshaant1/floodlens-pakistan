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64ef36ff-087d-b00f-1d64-66c18c3a5d94}">
          <p14:sldIdLst>
            <p14:sldId id="256"/>
          </p14:sldIdLst>
        </p14:section>
        <p14:section name="Problem" id="{721bde0a-dfc5-6ba3-6bee-0ee48c060d39}">
          <p14:sldIdLst>
            <p14:sldId id="257"/>
          </p14:sldIdLst>
        </p14:section>
        <p14:section name="Data" id="{d4ee5a34-0727-2177-9990-15a1f861dd70}">
          <p14:sldIdLst>
            <p14:sldId id="258"/>
          </p14:sldIdLst>
        </p14:section>
        <p14:section name="Pipeline" id="{9b53a0bf-8061-2988-6c37-25650d17cfe9}">
          <p14:sldIdLst>
            <p14:sldId id="259"/>
            <p14:sldId id="260"/>
          </p14:sldIdLst>
        </p14:section>
        <p14:section name="Agents" id="{ebc3aa7f-fbc4-ddc4-3ade-60aaea9e74a9}">
          <p14:sldIdLst>
            <p14:sldId id="261"/>
          </p14:sldIdLst>
        </p14:section>
        <p14:section name="Dashboard" id="{6be4c50c-9d3b-36e1-aaeb-5a327345e395}">
          <p14:sldIdLst>
            <p14:sldId id="262"/>
          </p14:sldIdLst>
        </p14:section>
        <p14:section name="Results" id="{8ab8d926-3443-cf18-cedd-8ffccba44f7f}">
          <p14:sldIdLst>
            <p14:sldId id="263"/>
          </p14:sldIdLst>
        </p14:section>
        <p14:section name="Impact" id="{1caf43d1-91b9-be80-5f4e-e68196726319}">
          <p14:sldIdLst>
            <p14:sldId id="264"/>
          </p14:sldIdLst>
        </p14:section>
        <p14:section name="Conclusion" id="{cbb3e246-414a-c16a-f97b-99a92173ec07}">
          <p14:sldIdLst>
            <p14:sldId id="265"/>
          </p14:sldIdLst>
        </p14:section>
        <p14:section name="Team" id="{75ee3073-d013-a9df-974b-0789ef413038}">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5D2A"/>
                </a:solidFill>
                <a:latin typeface="+mn-lt"/>
              </a:defRPr>
            </a:pPr>
            <a:r>
              <a:rPr sz="1100" b="0" i="0" u="none" strike="noStrike">
                <a:solidFill>
                  <a:srgbClr val="0B5D2A"/>
                </a:solidFill>
                <a:latin typeface="+mn-lt"/>
              </a:rPr>
              <a:t>Better than climatology in every province (validation, 24 h, %)</a:t>
            </a:r>
          </a:p>
        </c:rich>
      </c:tx>
      <c:layout/>
      <c:overlay val="0"/>
    </c:title>
    <c:autoTitleDeleted val="0"/>
    <c:plotArea>
      <c:layout/>
      <c:barChart>
        <c:barDir val="bar"/>
        <c:grouping val="clustered"/>
        <c:varyColors val="0"/>
        <c:ser>
          <c:idx val="0"/>
          <c:order val="0"/>
          <c:tx>
            <c:strRef>
              <c:f>Sheet1!$B$1</c:f>
              <c:strCache>
                <c:ptCount val="1"/>
                <c:pt idx="0">
                  <c:v>Skill vs climatology (%)</c:v>
                </c:pt>
              </c:strCache>
            </c:strRef>
          </c:tx>
          <c:spPr>
            <a:solidFill>
              <a:srgbClr val="2E8B57"/>
            </a:solidFill>
            <a:effectLst/>
          </c:spPr>
          <c:invertIfNegative val="0"/>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cat>
            <c:multiLvlStrRef>
              <c:f>Sheet1!$A$2:$A$8</c:f>
              <c:multiLvlStrCache>
                <c:ptCount val="7"/>
                <c:lvl>
                  <c:pt idx="0">
                    <c:v>Sindh</c:v>
                  </c:pt>
                  <c:pt idx="1">
                    <c:v>Gilgit-Baltistan</c:v>
                  </c:pt>
                  <c:pt idx="2">
                    <c:v>Khyber Pakhtunkhwa</c:v>
                  </c:pt>
                  <c:pt idx="3">
                    <c:v>Punjab</c:v>
                  </c:pt>
                  <c:pt idx="4">
                    <c:v>Balochistan</c:v>
                  </c:pt>
                  <c:pt idx="5">
                    <c:v>Islamabad</c:v>
                  </c:pt>
                  <c:pt idx="6">
                    <c:v>Azad Kashmir</c:v>
                  </c:pt>
                </c:lvl>
              </c:multiLvlStrCache>
            </c:multiLvlStrRef>
          </c:cat>
          <c:val>
            <c:numRef>
              <c:f>Sheet1!$B$2:$B$8</c:f>
              <c:numCache>
                <c:formatCode>General</c:formatCode>
                <c:ptCount val="7"/>
                <c:pt idx="0">
                  <c:v>12</c:v>
                </c:pt>
                <c:pt idx="1">
                  <c:v>8.4</c:v>
                </c:pt>
                <c:pt idx="2">
                  <c:v>7.6</c:v>
                </c:pt>
                <c:pt idx="3">
                  <c:v>5.9</c:v>
                </c:pt>
                <c:pt idx="4">
                  <c:v>4.5</c:v>
                </c:pt>
                <c:pt idx="5">
                  <c:v>3.2</c:v>
                </c:pt>
                <c:pt idx="6">
                  <c:v>1.5</c:v>
                </c:pt>
              </c:numCache>
            </c:numRef>
          </c:val>
        </c:ser>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6"/>
                </a:solidFill>
              </a:rPr>
              <a:t>HACKINSIGHT 2026  |  NED University of Engineering &amp; Technology  |  Team Spark H</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lIns="0" tIns="0" rIns="0" bIns="0" rtlCol="0" anchor="b"/>
          <a:lstStyle/>
          <a:p>
            <a:pPr algn="l" indent="0" marL="0">
              <a:buNone/>
            </a:pPr>
            <a:r>
              <a:rPr lang="en-US" sz="4400" b="1" dirty="0">
                <a:solidFill>
                  <a:schemeClr val="tx2"/>
                </a:solidFill>
              </a:rPr>
              <a:t>FloodLens Pakistan</a:t>
            </a: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lIns="0" tIns="0" rIns="0" bIns="0" rtlCol="0" anchor="t"/>
          <a:lstStyle/>
          <a:p>
            <a:pPr indent="0" marL="0">
              <a:buNone/>
            </a:pPr>
            <a:r>
              <a:rPr lang="en-US" sz="1800" dirty="0">
                <a:solidFill>
                  <a:schemeClr val="tx1"/>
                </a:solidFill>
              </a:rPr>
              <a:t>District heavy-rain warnings 1–3 days ahead, with a weekly food-price watch</a:t>
            </a:r>
            <a:endParaRPr lang="en-US" sz="1800" dirty="0"/>
          </a:p>
        </p:txBody>
      </p:sp>
      <p:sp>
        <p:nvSpPr>
          <p:cNvPr id="4" name="Text 2"/>
          <p:cNvSpPr txBox="1"/>
          <p:nvPr/>
        </p:nvSpPr>
        <p:spPr>
          <a:xfrm>
            <a:off x="548640" y="960120"/>
            <a:ext cx="36576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HACKINSIGHT 2026</a:t>
            </a:r>
            <a:endParaRPr lang="en-US" sz="1400" dirty="0"/>
          </a:p>
        </p:txBody>
      </p:sp>
      <p:sp>
        <p:nvSpPr>
          <p:cNvPr id="5" name="Text 3"/>
          <p:cNvSpPr txBox="1"/>
          <p:nvPr/>
        </p:nvSpPr>
        <p:spPr>
          <a:xfrm>
            <a:off x="548640" y="3429000"/>
            <a:ext cx="4937760" cy="320040"/>
          </a:xfrm>
          <a:prstGeom prst="rect">
            <a:avLst/>
          </a:prstGeom>
          <a:noFill/>
          <a:ln/>
        </p:spPr>
        <p:txBody>
          <a:bodyPr wrap="square" lIns="0" tIns="0" rIns="0" bIns="0" rtlCol="0" anchor="t"/>
          <a:lstStyle/>
          <a:p>
            <a:pPr indent="0" marL="0">
              <a:buNone/>
            </a:pPr>
            <a:r>
              <a:rPr lang="en-US" sz="1400" b="1" dirty="0">
                <a:solidFill>
                  <a:schemeClr val="tx2"/>
                </a:solidFill>
              </a:rPr>
              <a:t>Team Spark H</a:t>
            </a:r>
            <a:pPr indent="0" marL="0">
              <a:buNone/>
            </a:pPr>
            <a:r>
              <a:rPr lang="en-US" sz="1400" dirty="0">
                <a:solidFill>
                  <a:schemeClr val="tx1"/>
                </a:solidFill>
              </a:rPr>
              <a:t>   |   Climate &amp; disaster risk  ·  food security</a:t>
            </a:r>
            <a:endParaRPr lang="en-US" sz="1400" dirty="0"/>
          </a:p>
        </p:txBody>
      </p:sp>
      <p:sp>
        <p:nvSpPr>
          <p:cNvPr id="6" name="Text 4"/>
          <p:cNvSpPr txBox="1"/>
          <p:nvPr/>
        </p:nvSpPr>
        <p:spPr>
          <a:xfrm>
            <a:off x="548640" y="3840480"/>
            <a:ext cx="4937760" cy="274320"/>
          </a:xfrm>
          <a:prstGeom prst="rect">
            <a:avLst/>
          </a:prstGeom>
          <a:noFill/>
          <a:ln/>
        </p:spPr>
        <p:txBody>
          <a:bodyPr wrap="square" lIns="0" tIns="0" rIns="0" bIns="0" rtlCol="0" anchor="t"/>
          <a:lstStyle/>
          <a:p>
            <a:pPr indent="0" marL="0">
              <a:buNone/>
            </a:pPr>
            <a:r>
              <a:rPr lang="en-US" sz="1200" dirty="0">
                <a:solidFill>
                  <a:schemeClr val="accent5"/>
                </a:solidFill>
              </a:rPr>
              <a:t>huggingface.co/spaces/RoshaanT1/floodlens-pakistan</a:t>
            </a:r>
            <a:endParaRPr lang="en-US" sz="1200" dirty="0"/>
          </a:p>
        </p:txBody>
      </p:sp>
      <p:pic>
        <p:nvPicPr>
          <p:cNvPr id="7" name="Pakistan outline" descr="Outline of Pakistan, traced from the 160 OCHA district boundaries">    </p:cNvPr>
          <p:cNvPicPr>
            <a:picLocks noChangeAspect="1"/>
          </p:cNvPicPr>
          <p:nvPr/>
        </p:nvPicPr>
        <p:blipFill>
          <a:blip r:embed="rId1"/>
          <a:stretch>
            <a:fillRect/>
          </a:stretch>
        </p:blipFill>
        <p:spPr>
          <a:xfrm>
            <a:off x="5760720" y="777240"/>
            <a:ext cx="3017520" cy="2798064"/>
          </a:xfrm>
          <a:prstGeom prst="rect">
            <a:avLst/>
          </a:prstGeom>
        </p:spPr>
      </p:pic>
      <p:sp>
        <p:nvSpPr>
          <p:cNvPr id="8" name="Text 5"/>
          <p:cNvSpPr txBox="1"/>
          <p:nvPr/>
        </p:nvSpPr>
        <p:spPr>
          <a:xfrm>
            <a:off x="5760720" y="3703320"/>
            <a:ext cx="3017520" cy="274320"/>
          </a:xfrm>
          <a:prstGeom prst="rect">
            <a:avLst/>
          </a:prstGeom>
          <a:noFill/>
          <a:ln/>
        </p:spPr>
        <p:txBody>
          <a:bodyPr wrap="square" lIns="0" tIns="0" rIns="0" bIns="0" rtlCol="0" anchor="t"/>
          <a:lstStyle/>
          <a:p>
            <a:pPr algn="ctr" indent="0" marL="0">
              <a:buNone/>
            </a:pPr>
            <a:r>
              <a:rPr lang="en-US" sz="1200" dirty="0">
                <a:solidFill>
                  <a:schemeClr val="accent6"/>
                </a:solidFill>
              </a:rPr>
              <a:t>160 districts · scored every hour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Problem Statement</a:t>
            </a:r>
            <a:endParaRPr lang="en-US" sz="2800" dirty="0"/>
          </a:p>
        </p:txBody>
      </p:sp>
      <p:sp>
        <p:nvSpPr>
          <p:cNvPr id="3" name="problem card"/>
          <p:cNvSpPr/>
          <p:nvPr/>
        </p:nvSpPr>
        <p:spPr>
          <a:xfrm>
            <a:off x="457200" y="1051560"/>
            <a:ext cx="411480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80160"/>
            <a:ext cx="3657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THE PROBLEM</a:t>
            </a:r>
            <a:endParaRPr lang="en-US" sz="1200" dirty="0"/>
          </a:p>
        </p:txBody>
      </p:sp>
      <p:sp>
        <p:nvSpPr>
          <p:cNvPr id="5" name="Text 3"/>
          <p:cNvSpPr txBox="1"/>
          <p:nvPr/>
        </p:nvSpPr>
        <p:spPr>
          <a:xfrm>
            <a:off x="685800" y="1645920"/>
            <a:ext cx="3657600" cy="18288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Monsoon rain in Pakistan turns deadly within hours. District planners must decide where to send rescue teams, pumps and relief before the rain arrives, but weather models give grid cells, not a per-district answer to “is this unusual for us?”</a:t>
            </a:r>
            <a:endParaRPr lang="en-US" sz="1500" dirty="0"/>
          </a:p>
        </p:txBody>
      </p:sp>
      <p:sp>
        <p:nvSpPr>
          <p:cNvPr id="6" name="Text 4"/>
          <p:cNvSpPr txBox="1"/>
          <p:nvPr/>
        </p:nvSpPr>
        <p:spPr>
          <a:xfrm>
            <a:off x="685800" y="3337560"/>
            <a:ext cx="3657600" cy="1005840"/>
          </a:xfrm>
          <a:prstGeom prst="rect">
            <a:avLst/>
          </a:prstGeom>
          <a:noFill/>
          <a:ln/>
        </p:spPr>
        <p:txBody>
          <a:bodyPr wrap="square" lIns="0" tIns="0" rIns="0" bIns="0" rtlCol="0" anchor="t"/>
          <a:lstStyle/>
          <a:p>
            <a:pPr indent="0" marL="0">
              <a:buNone/>
            </a:pPr>
            <a:r>
              <a:rPr lang="en-US" sz="3600" b="1" dirty="0">
                <a:solidFill>
                  <a:schemeClr val="accent3"/>
                </a:solidFill>
              </a:rPr>
              <a:t>1,037</a:t>
            </a:r>
            <a:endParaRPr lang="en-US" sz="3600" dirty="0"/>
          </a:p>
          <a:p>
            <a:pPr indent="0" marL="0">
              <a:buNone/>
            </a:pPr>
            <a:r>
              <a:rPr lang="en-US" sz="1200" dirty="0">
                <a:solidFill>
                  <a:schemeClr val="tx1"/>
                </a:solidFill>
              </a:rPr>
              <a:t>deaths in the 2025 monsoon (NDMA final sitrep No. 87)</a:t>
            </a:r>
            <a:endParaRPr lang="en-US" sz="3600" dirty="0"/>
          </a:p>
        </p:txBody>
      </p:sp>
      <p:sp>
        <p:nvSpPr>
          <p:cNvPr id="7" name="question 1"/>
          <p:cNvSpPr/>
          <p:nvPr/>
        </p:nvSpPr>
        <p:spPr>
          <a:xfrm>
            <a:off x="4846320" y="1051560"/>
            <a:ext cx="3840480" cy="1051560"/>
          </a:xfrm>
          <a:prstGeom prst="roundRect">
            <a:avLst>
              <a:gd name="adj" fmla="val 6957"/>
            </a:avLst>
          </a:prstGeom>
          <a:solidFill>
            <a:schemeClr val="bg2"/>
          </a:solidFill>
          <a:ln w="12700">
            <a:solidFill>
              <a:schemeClr val="bg2"/>
            </a:solidFill>
            <a:prstDash val="solid"/>
          </a:ln>
        </p:spPr>
      </p:sp>
      <p:sp>
        <p:nvSpPr>
          <p:cNvPr id="8" name="dot 1"/>
          <p:cNvSpPr/>
          <p:nvPr/>
        </p:nvSpPr>
        <p:spPr>
          <a:xfrm>
            <a:off x="5029200" y="1234440"/>
            <a:ext cx="329184" cy="329184"/>
          </a:xfrm>
          <a:prstGeom prst="ellipse">
            <a:avLst/>
          </a:prstGeom>
          <a:solidFill>
            <a:schemeClr val="accent1"/>
          </a:solidFill>
          <a:ln w="12700">
            <a:solidFill>
              <a:schemeClr val="accent1"/>
            </a:solidFill>
            <a:prstDash val="solid"/>
          </a:ln>
        </p:spPr>
      </p:sp>
      <p:sp>
        <p:nvSpPr>
          <p:cNvPr id="9" name="Text 7"/>
          <p:cNvSpPr txBox="1"/>
          <p:nvPr/>
        </p:nvSpPr>
        <p:spPr>
          <a:xfrm>
            <a:off x="502920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8"/>
          <p:cNvSpPr txBox="1"/>
          <p:nvPr/>
        </p:nvSpPr>
        <p:spPr>
          <a:xfrm>
            <a:off x="5532120" y="1197864"/>
            <a:ext cx="3017520" cy="292608"/>
          </a:xfrm>
          <a:prstGeom prst="rect">
            <a:avLst/>
          </a:prstGeom>
          <a:noFill/>
          <a:ln/>
        </p:spPr>
        <p:txBody>
          <a:bodyPr wrap="square" lIns="0" tIns="0" rIns="0" bIns="0" rtlCol="0" anchor="t"/>
          <a:lstStyle/>
          <a:p>
            <a:pPr indent="0" marL="0">
              <a:buNone/>
            </a:pPr>
            <a:r>
              <a:rPr lang="en-US" sz="1500" b="1" dirty="0">
                <a:solidFill>
                  <a:schemeClr val="tx2"/>
                </a:solidFill>
              </a:rPr>
              <a:t>Who is affected?</a:t>
            </a:r>
            <a:endParaRPr lang="en-US" sz="1500" dirty="0"/>
          </a:p>
        </p:txBody>
      </p:sp>
      <p:sp>
        <p:nvSpPr>
          <p:cNvPr id="11" name="Text 9"/>
          <p:cNvSpPr txBox="1"/>
          <p:nvPr/>
        </p:nvSpPr>
        <p:spPr>
          <a:xfrm>
            <a:off x="5532120" y="1508760"/>
            <a:ext cx="3017520" cy="548640"/>
          </a:xfrm>
          <a:prstGeom prst="rect">
            <a:avLst/>
          </a:prstGeom>
          <a:noFill/>
          <a:ln/>
        </p:spPr>
        <p:txBody>
          <a:bodyPr wrap="square" lIns="0" tIns="0" rIns="0" bIns="0" rtlCol="0" anchor="t"/>
          <a:lstStyle/>
          <a:p>
            <a:pPr indent="0" marL="0">
              <a:buNone/>
            </a:pPr>
            <a:r>
              <a:rPr lang="en-US" sz="1200" dirty="0">
                <a:solidFill>
                  <a:schemeClr val="tx1"/>
                </a:solidFill>
              </a:rPr>
              <a:t>District and PDMA disaster planners, and the people in Pakistan's 160 districts they serve</a:t>
            </a:r>
            <a:endParaRPr lang="en-US" sz="1200" dirty="0"/>
          </a:p>
        </p:txBody>
      </p:sp>
      <p:sp>
        <p:nvSpPr>
          <p:cNvPr id="12" name="question 2"/>
          <p:cNvSpPr/>
          <p:nvPr/>
        </p:nvSpPr>
        <p:spPr>
          <a:xfrm>
            <a:off x="4846320" y="2240280"/>
            <a:ext cx="3840480" cy="1051560"/>
          </a:xfrm>
          <a:prstGeom prst="roundRect">
            <a:avLst>
              <a:gd name="adj" fmla="val 6957"/>
            </a:avLst>
          </a:prstGeom>
          <a:solidFill>
            <a:schemeClr val="bg2"/>
          </a:solidFill>
          <a:ln w="12700">
            <a:solidFill>
              <a:schemeClr val="bg2"/>
            </a:solidFill>
            <a:prstDash val="solid"/>
          </a:ln>
        </p:spPr>
      </p:sp>
      <p:sp>
        <p:nvSpPr>
          <p:cNvPr id="13" name="dot 2"/>
          <p:cNvSpPr/>
          <p:nvPr/>
        </p:nvSpPr>
        <p:spPr>
          <a:xfrm>
            <a:off x="5029200" y="2423160"/>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502920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5532120" y="2386584"/>
            <a:ext cx="3017520" cy="292608"/>
          </a:xfrm>
          <a:prstGeom prst="rect">
            <a:avLst/>
          </a:prstGeom>
          <a:noFill/>
          <a:ln/>
        </p:spPr>
        <p:txBody>
          <a:bodyPr wrap="square" lIns="0" tIns="0" rIns="0" bIns="0" rtlCol="0" anchor="t"/>
          <a:lstStyle/>
          <a:p>
            <a:pPr indent="0" marL="0">
              <a:buNone/>
            </a:pPr>
            <a:r>
              <a:rPr lang="en-US" sz="1500" b="1" dirty="0">
                <a:solidFill>
                  <a:schemeClr val="tx2"/>
                </a:solidFill>
              </a:rPr>
              <a:t>Why does it matter?</a:t>
            </a:r>
            <a:endParaRPr lang="en-US" sz="1500" dirty="0"/>
          </a:p>
        </p:txBody>
      </p:sp>
      <p:sp>
        <p:nvSpPr>
          <p:cNvPr id="16" name="Text 14"/>
          <p:cNvSpPr txBox="1"/>
          <p:nvPr/>
        </p:nvSpPr>
        <p:spPr>
          <a:xfrm>
            <a:off x="5532120" y="2697480"/>
            <a:ext cx="3017520" cy="548640"/>
          </a:xfrm>
          <a:prstGeom prst="rect">
            <a:avLst/>
          </a:prstGeom>
          <a:noFill/>
          <a:ln/>
        </p:spPr>
        <p:txBody>
          <a:bodyPr wrap="square" lIns="0" tIns="0" rIns="0" bIns="0" rtlCol="0" anchor="t"/>
          <a:lstStyle/>
          <a:p>
            <a:pPr indent="0" marL="0">
              <a:buNone/>
            </a:pPr>
            <a:r>
              <a:rPr lang="en-US" sz="1200" dirty="0">
                <a:solidFill>
                  <a:schemeClr val="tx1"/>
                </a:solidFill>
              </a:rPr>
              <a:t>Planners need 24–72 hours of warning per district to pre-position teams and stock</a:t>
            </a:r>
            <a:endParaRPr lang="en-US" sz="1200" dirty="0"/>
          </a:p>
        </p:txBody>
      </p:sp>
      <p:sp>
        <p:nvSpPr>
          <p:cNvPr id="17" name="question 3"/>
          <p:cNvSpPr/>
          <p:nvPr/>
        </p:nvSpPr>
        <p:spPr>
          <a:xfrm>
            <a:off x="4846320" y="3429000"/>
            <a:ext cx="3840480" cy="1051560"/>
          </a:xfrm>
          <a:prstGeom prst="roundRect">
            <a:avLst>
              <a:gd name="adj" fmla="val 6957"/>
            </a:avLst>
          </a:prstGeom>
          <a:solidFill>
            <a:schemeClr val="bg2"/>
          </a:solidFill>
          <a:ln w="12700">
            <a:solidFill>
              <a:schemeClr val="bg2"/>
            </a:solidFill>
            <a:prstDash val="solid"/>
          </a:ln>
        </p:spPr>
      </p:sp>
      <p:sp>
        <p:nvSpPr>
          <p:cNvPr id="18" name="dot 3"/>
          <p:cNvSpPr/>
          <p:nvPr/>
        </p:nvSpPr>
        <p:spPr>
          <a:xfrm>
            <a:off x="5029200" y="3611880"/>
            <a:ext cx="329184" cy="329184"/>
          </a:xfrm>
          <a:prstGeom prst="ellipse">
            <a:avLst/>
          </a:prstGeom>
          <a:solidFill>
            <a:schemeClr val="accent1"/>
          </a:solidFill>
          <a:ln w="12700">
            <a:solidFill>
              <a:schemeClr val="accent1"/>
            </a:solidFill>
            <a:prstDash val="solid"/>
          </a:ln>
        </p:spPr>
      </p:sp>
      <p:sp>
        <p:nvSpPr>
          <p:cNvPr id="19" name="Text 17"/>
          <p:cNvSpPr txBox="1"/>
          <p:nvPr/>
        </p:nvSpPr>
        <p:spPr>
          <a:xfrm>
            <a:off x="5029200" y="36118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5532120" y="3575304"/>
            <a:ext cx="3017520" cy="292608"/>
          </a:xfrm>
          <a:prstGeom prst="rect">
            <a:avLst/>
          </a:prstGeom>
          <a:noFill/>
          <a:ln/>
        </p:spPr>
        <p:txBody>
          <a:bodyPr wrap="square" lIns="0" tIns="0" rIns="0" bIns="0" rtlCol="0" anchor="t"/>
          <a:lstStyle/>
          <a:p>
            <a:pPr indent="0" marL="0">
              <a:buNone/>
            </a:pPr>
            <a:r>
              <a:rPr lang="en-US" sz="1500" b="1" dirty="0">
                <a:solidFill>
                  <a:schemeClr val="tx2"/>
                </a:solidFill>
              </a:rPr>
              <a:t>Our goal</a:t>
            </a:r>
            <a:endParaRPr lang="en-US" sz="1500" dirty="0"/>
          </a:p>
        </p:txBody>
      </p:sp>
      <p:sp>
        <p:nvSpPr>
          <p:cNvPr id="21" name="Text 19"/>
          <p:cNvSpPr txBox="1"/>
          <p:nvPr/>
        </p:nvSpPr>
        <p:spPr>
          <a:xfrm>
            <a:off x="5532120" y="3886200"/>
            <a:ext cx="3017520" cy="548640"/>
          </a:xfrm>
          <a:prstGeom prst="rect">
            <a:avLst/>
          </a:prstGeom>
          <a:noFill/>
          <a:ln/>
        </p:spPr>
        <p:txBody>
          <a:bodyPr wrap="square" lIns="0" tIns="0" rIns="0" bIns="0" rtlCol="0" anchor="t"/>
          <a:lstStyle/>
          <a:p>
            <a:pPr indent="0" marL="0">
              <a:buNone/>
            </a:pPr>
            <a:r>
              <a:rPr lang="en-US" sz="1200" dirty="0">
                <a:solidFill>
                  <a:schemeClr val="tx1"/>
                </a:solidFill>
              </a:rPr>
              <a:t>A calibrated chance of heavy rain for every district, 1–3 days ahead, better than climatology</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Dataset Declaration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6035040" cy="914400"/>
        </p:xfrm>
        <a:graphic>
          <a:graphicData uri="http://schemas.openxmlformats.org/drawingml/2006/table">
            <a:tbl>
              <a:tblPr/>
              <a:tblGrid>
                <a:gridCol w="1417320"/>
                <a:gridCol w="4617720"/>
              </a:tblGrid>
              <a:tr h="548640">
                <a:tc>
                  <a:txBody>
                    <a:bodyPr/>
                    <a:lstStyle/>
                    <a:p>
                      <a:pPr indent="0" marL="0">
                        <a:buNone/>
                      </a:pPr>
                      <a:r>
                        <a:rPr lang="en-US" sz="1100" b="1" dirty="0">
                          <a:solidFill>
                            <a:srgbClr val="0B5D2A"/>
                          </a:solidFill>
                        </a:rPr>
                        <a:t>Dataset name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FloodLens district-day warehouse (5 public sources joined on 160 districts)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Source / link</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Open-Meteo Previous Runs (API) · NASA GPM IMERG V07 · OCHA boundaries (HDX) · PBS weekly SPI · NDMA sitreps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Size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476,640 forecast rows × 25 features · 689,280 satellite rain rows · 146,523 prices · 157 NDMA documents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Time period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Satellite rain 2015–2026 · forecasts Feb 2024–Oct 2026 · prices Jan 2023–Oct 2026</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Format &amp; license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4,856 raw files in manifest.csv (source, query, UTC time, SHA-256, licence) → Parquet / DuckDB · CC BY 4.0, NASA open data, public govt. statistics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Key features / target</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Forecast rain, humidity, pressure, cloud, wind (1–3 days ahead), lagged observed rain. Target: rain above the district's own 95th percentile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4" name="stat 1"/>
          <p:cNvSpPr/>
          <p:nvPr/>
        </p:nvSpPr>
        <p:spPr>
          <a:xfrm>
            <a:off x="6766560" y="1051560"/>
            <a:ext cx="1920240" cy="987552"/>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6766560" y="1161288"/>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476K</a:t>
            </a:r>
            <a:endParaRPr lang="en-US" sz="3000" dirty="0"/>
          </a:p>
        </p:txBody>
      </p:sp>
      <p:sp>
        <p:nvSpPr>
          <p:cNvPr id="6" name="Text 3"/>
          <p:cNvSpPr txBox="1"/>
          <p:nvPr/>
        </p:nvSpPr>
        <p:spPr>
          <a:xfrm>
            <a:off x="6766560" y="1673352"/>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Rows / records (model table)</a:t>
            </a:r>
            <a:endParaRPr lang="en-US" sz="1100" dirty="0"/>
          </a:p>
        </p:txBody>
      </p:sp>
      <p:sp>
        <p:nvSpPr>
          <p:cNvPr id="7" name="stat 2"/>
          <p:cNvSpPr/>
          <p:nvPr/>
        </p:nvSpPr>
        <p:spPr>
          <a:xfrm>
            <a:off x="6766560" y="2176272"/>
            <a:ext cx="1920240" cy="987552"/>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6766560" y="2286000"/>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25</a:t>
            </a:r>
            <a:endParaRPr lang="en-US" sz="3000" dirty="0"/>
          </a:p>
        </p:txBody>
      </p:sp>
      <p:sp>
        <p:nvSpPr>
          <p:cNvPr id="9" name="Text 6"/>
          <p:cNvSpPr txBox="1"/>
          <p:nvPr/>
        </p:nvSpPr>
        <p:spPr>
          <a:xfrm>
            <a:off x="6766560" y="2798064"/>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Columns / features</a:t>
            </a:r>
            <a:endParaRPr lang="en-US" sz="1100" dirty="0"/>
          </a:p>
        </p:txBody>
      </p:sp>
      <p:sp>
        <p:nvSpPr>
          <p:cNvPr id="10" name="stat 3"/>
          <p:cNvSpPr/>
          <p:nvPr/>
        </p:nvSpPr>
        <p:spPr>
          <a:xfrm>
            <a:off x="6766560" y="3300984"/>
            <a:ext cx="1920240" cy="987552"/>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6766560" y="3410712"/>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1.3 GB</a:t>
            </a:r>
            <a:endParaRPr lang="en-US" sz="3000" dirty="0"/>
          </a:p>
        </p:txBody>
      </p:sp>
      <p:sp>
        <p:nvSpPr>
          <p:cNvPr id="12" name="Text 9"/>
          <p:cNvSpPr txBox="1"/>
          <p:nvPr/>
        </p:nvSpPr>
        <p:spPr>
          <a:xfrm>
            <a:off x="6766560" y="3922776"/>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Raw data, 4,856 files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Used</a:t>
            </a:r>
            <a:endParaRPr lang="en-US" sz="2800" dirty="0"/>
          </a:p>
        </p:txBody>
      </p:sp>
      <p:sp>
        <p:nvSpPr>
          <p:cNvPr id="3" name="step 1"/>
          <p:cNvSpPr/>
          <p:nvPr/>
        </p:nvSpPr>
        <p:spPr>
          <a:xfrm>
            <a:off x="457200" y="1097280"/>
            <a:ext cx="1463040" cy="2468880"/>
          </a:xfrm>
          <a:prstGeom prst="roundRect">
            <a:avLst>
              <a:gd name="adj" fmla="val 5000"/>
            </a:avLst>
          </a:prstGeom>
          <a:solidFill>
            <a:schemeClr val="bg2"/>
          </a:solidFill>
          <a:ln w="12700">
            <a:solidFill>
              <a:schemeClr val="bg2"/>
            </a:solidFill>
            <a:prstDash val="solid"/>
          </a:ln>
        </p:spPr>
      </p:sp>
      <p:sp>
        <p:nvSpPr>
          <p:cNvPr id="4" name="dot 1"/>
          <p:cNvSpPr/>
          <p:nvPr/>
        </p:nvSpPr>
        <p:spPr>
          <a:xfrm>
            <a:off x="1024128" y="1261872"/>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102412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54864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Collection</a:t>
            </a:r>
            <a:endParaRPr lang="en-US" sz="1400" dirty="0"/>
          </a:p>
        </p:txBody>
      </p:sp>
      <p:sp>
        <p:nvSpPr>
          <p:cNvPr id="7" name="Text 5"/>
          <p:cNvSpPr txBox="1"/>
          <p:nvPr/>
        </p:nvSpPr>
        <p:spPr>
          <a:xfrm>
            <a:off x="56692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APIs, NASA cloud, PBS and NDMA files; every file hashed into a manifest</a:t>
            </a:r>
            <a:endParaRPr lang="en-US" sz="1150" dirty="0"/>
          </a:p>
        </p:txBody>
      </p:sp>
      <p:sp>
        <p:nvSpPr>
          <p:cNvPr id="8" name="arrow 1"/>
          <p:cNvSpPr/>
          <p:nvPr/>
        </p:nvSpPr>
        <p:spPr>
          <a:xfrm>
            <a:off x="1975104" y="2231136"/>
            <a:ext cx="118872" cy="201168"/>
          </a:xfrm>
          <a:prstGeom prst="chevron">
            <a:avLst/>
          </a:prstGeom>
          <a:solidFill>
            <a:schemeClr val="accent2"/>
          </a:solidFill>
          <a:ln w="12700">
            <a:solidFill>
              <a:schemeClr val="accent2"/>
            </a:solidFill>
            <a:prstDash val="solid"/>
          </a:ln>
        </p:spPr>
      </p:sp>
      <p:sp>
        <p:nvSpPr>
          <p:cNvPr id="9" name="step 2"/>
          <p:cNvSpPr/>
          <p:nvPr/>
        </p:nvSpPr>
        <p:spPr>
          <a:xfrm>
            <a:off x="2148840" y="1097280"/>
            <a:ext cx="1463040" cy="2468880"/>
          </a:xfrm>
          <a:prstGeom prst="roundRect">
            <a:avLst>
              <a:gd name="adj" fmla="val 5000"/>
            </a:avLst>
          </a:prstGeom>
          <a:solidFill>
            <a:schemeClr val="bg2"/>
          </a:solidFill>
          <a:ln w="12700">
            <a:solidFill>
              <a:schemeClr val="bg2"/>
            </a:solidFill>
            <a:prstDash val="solid"/>
          </a:ln>
        </p:spPr>
      </p:sp>
      <p:sp>
        <p:nvSpPr>
          <p:cNvPr id="10" name="dot 2"/>
          <p:cNvSpPr/>
          <p:nvPr/>
        </p:nvSpPr>
        <p:spPr>
          <a:xfrm>
            <a:off x="2715768" y="1261872"/>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271576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224028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Cleaning</a:t>
            </a:r>
            <a:endParaRPr lang="en-US" sz="1400" dirty="0"/>
          </a:p>
        </p:txBody>
      </p:sp>
      <p:sp>
        <p:nvSpPr>
          <p:cNvPr id="13" name="Text 11"/>
          <p:cNvSpPr txBox="1"/>
          <p:nvPr/>
        </p:nvSpPr>
        <p:spPr>
          <a:xfrm>
            <a:off x="225856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Quality agent: fix, fill or flag each issue, with the reason logged</a:t>
            </a:r>
            <a:endParaRPr lang="en-US" sz="1150" dirty="0"/>
          </a:p>
        </p:txBody>
      </p:sp>
      <p:sp>
        <p:nvSpPr>
          <p:cNvPr id="14" name="arrow 2"/>
          <p:cNvSpPr/>
          <p:nvPr/>
        </p:nvSpPr>
        <p:spPr>
          <a:xfrm>
            <a:off x="3666744" y="2231136"/>
            <a:ext cx="118872" cy="201168"/>
          </a:xfrm>
          <a:prstGeom prst="chevron">
            <a:avLst/>
          </a:prstGeom>
          <a:solidFill>
            <a:schemeClr val="accent2"/>
          </a:solidFill>
          <a:ln w="12700">
            <a:solidFill>
              <a:schemeClr val="accent2"/>
            </a:solidFill>
            <a:prstDash val="solid"/>
          </a:ln>
        </p:spPr>
      </p:sp>
      <p:sp>
        <p:nvSpPr>
          <p:cNvPr id="15" name="step 3"/>
          <p:cNvSpPr/>
          <p:nvPr/>
        </p:nvSpPr>
        <p:spPr>
          <a:xfrm>
            <a:off x="3840480" y="1097280"/>
            <a:ext cx="1463040" cy="2468880"/>
          </a:xfrm>
          <a:prstGeom prst="roundRect">
            <a:avLst>
              <a:gd name="adj" fmla="val 5000"/>
            </a:avLst>
          </a:prstGeom>
          <a:solidFill>
            <a:schemeClr val="bg2"/>
          </a:solidFill>
          <a:ln w="12700">
            <a:solidFill>
              <a:schemeClr val="bg2"/>
            </a:solidFill>
            <a:prstDash val="solid"/>
          </a:ln>
        </p:spPr>
      </p:sp>
      <p:sp>
        <p:nvSpPr>
          <p:cNvPr id="16" name="dot 3"/>
          <p:cNvSpPr/>
          <p:nvPr/>
        </p:nvSpPr>
        <p:spPr>
          <a:xfrm>
            <a:off x="4407408" y="126187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440740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6"/>
          <p:cNvSpPr txBox="1"/>
          <p:nvPr/>
        </p:nvSpPr>
        <p:spPr>
          <a:xfrm>
            <a:off x="393192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Analysis / EDA</a:t>
            </a:r>
            <a:endParaRPr lang="en-US" sz="1400" dirty="0"/>
          </a:p>
        </p:txBody>
      </p:sp>
      <p:sp>
        <p:nvSpPr>
          <p:cNvPr id="19" name="Text 17"/>
          <p:cNvSpPr txBox="1"/>
          <p:nvPr/>
        </p:nvSpPr>
        <p:spPr>
          <a:xfrm>
            <a:off x="395020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District thresholds, monsoon replay, error by province and terrain</a:t>
            </a:r>
            <a:endParaRPr lang="en-US" sz="1150" dirty="0"/>
          </a:p>
        </p:txBody>
      </p:sp>
      <p:sp>
        <p:nvSpPr>
          <p:cNvPr id="20" name="arrow 3"/>
          <p:cNvSpPr/>
          <p:nvPr/>
        </p:nvSpPr>
        <p:spPr>
          <a:xfrm>
            <a:off x="5358384" y="2231136"/>
            <a:ext cx="118872" cy="201168"/>
          </a:xfrm>
          <a:prstGeom prst="chevron">
            <a:avLst/>
          </a:prstGeom>
          <a:solidFill>
            <a:schemeClr val="accent2"/>
          </a:solidFill>
          <a:ln w="12700">
            <a:solidFill>
              <a:schemeClr val="accent2"/>
            </a:solidFill>
            <a:prstDash val="solid"/>
          </a:ln>
        </p:spPr>
      </p:sp>
      <p:sp>
        <p:nvSpPr>
          <p:cNvPr id="21" name="step 4"/>
          <p:cNvSpPr/>
          <p:nvPr/>
        </p:nvSpPr>
        <p:spPr>
          <a:xfrm>
            <a:off x="5532120" y="1097280"/>
            <a:ext cx="1463040" cy="2468880"/>
          </a:xfrm>
          <a:prstGeom prst="roundRect">
            <a:avLst>
              <a:gd name="adj" fmla="val 5000"/>
            </a:avLst>
          </a:prstGeom>
          <a:solidFill>
            <a:schemeClr val="bg2"/>
          </a:solidFill>
          <a:ln w="12700">
            <a:solidFill>
              <a:schemeClr val="bg2"/>
            </a:solidFill>
            <a:prstDash val="solid"/>
          </a:ln>
        </p:spPr>
      </p:sp>
      <p:sp>
        <p:nvSpPr>
          <p:cNvPr id="22" name="dot 4"/>
          <p:cNvSpPr/>
          <p:nvPr/>
        </p:nvSpPr>
        <p:spPr>
          <a:xfrm>
            <a:off x="6099048" y="1261872"/>
            <a:ext cx="329184" cy="329184"/>
          </a:xfrm>
          <a:prstGeom prst="ellipse">
            <a:avLst/>
          </a:prstGeom>
          <a:solidFill>
            <a:schemeClr val="accent1"/>
          </a:solidFill>
          <a:ln w="12700">
            <a:solidFill>
              <a:schemeClr val="accent1"/>
            </a:solidFill>
            <a:prstDash val="solid"/>
          </a:ln>
        </p:spPr>
      </p:sp>
      <p:sp>
        <p:nvSpPr>
          <p:cNvPr id="23" name="Text 21"/>
          <p:cNvSpPr txBox="1"/>
          <p:nvPr/>
        </p:nvSpPr>
        <p:spPr>
          <a:xfrm>
            <a:off x="609904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562356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Modeling</a:t>
            </a:r>
            <a:endParaRPr lang="en-US" sz="1400" dirty="0"/>
          </a:p>
        </p:txBody>
      </p:sp>
      <p:sp>
        <p:nvSpPr>
          <p:cNvPr id="25" name="Text 23"/>
          <p:cNvSpPr txBox="1"/>
          <p:nvPr/>
        </p:nvSpPr>
        <p:spPr>
          <a:xfrm>
            <a:off x="564184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Gradient boosting, calibrated; beats climatology on the locked test set</a:t>
            </a:r>
            <a:endParaRPr lang="en-US" sz="1150" dirty="0"/>
          </a:p>
        </p:txBody>
      </p:sp>
      <p:sp>
        <p:nvSpPr>
          <p:cNvPr id="26" name="arrow 4"/>
          <p:cNvSpPr/>
          <p:nvPr/>
        </p:nvSpPr>
        <p:spPr>
          <a:xfrm>
            <a:off x="7050024" y="2231136"/>
            <a:ext cx="118872" cy="201168"/>
          </a:xfrm>
          <a:prstGeom prst="chevron">
            <a:avLst/>
          </a:prstGeom>
          <a:solidFill>
            <a:schemeClr val="accent2"/>
          </a:solidFill>
          <a:ln w="12700">
            <a:solidFill>
              <a:schemeClr val="accent2"/>
            </a:solidFill>
            <a:prstDash val="solid"/>
          </a:ln>
        </p:spPr>
      </p:sp>
      <p:sp>
        <p:nvSpPr>
          <p:cNvPr id="27" name="step 5"/>
          <p:cNvSpPr/>
          <p:nvPr/>
        </p:nvSpPr>
        <p:spPr>
          <a:xfrm>
            <a:off x="7223760" y="1097280"/>
            <a:ext cx="1463040" cy="2468880"/>
          </a:xfrm>
          <a:prstGeom prst="roundRect">
            <a:avLst>
              <a:gd name="adj" fmla="val 5000"/>
            </a:avLst>
          </a:prstGeom>
          <a:solidFill>
            <a:schemeClr val="bg2"/>
          </a:solidFill>
          <a:ln w="12700">
            <a:solidFill>
              <a:schemeClr val="bg2"/>
            </a:solidFill>
            <a:prstDash val="solid"/>
          </a:ln>
        </p:spPr>
      </p:sp>
      <p:sp>
        <p:nvSpPr>
          <p:cNvPr id="28" name="dot 5"/>
          <p:cNvSpPr/>
          <p:nvPr/>
        </p:nvSpPr>
        <p:spPr>
          <a:xfrm>
            <a:off x="7790688" y="1261872"/>
            <a:ext cx="329184" cy="329184"/>
          </a:xfrm>
          <a:prstGeom prst="ellipse">
            <a:avLst/>
          </a:prstGeom>
          <a:solidFill>
            <a:schemeClr val="accent1"/>
          </a:solidFill>
          <a:ln w="12700">
            <a:solidFill>
              <a:schemeClr val="accent1"/>
            </a:solidFill>
            <a:prstDash val="solid"/>
          </a:ln>
        </p:spPr>
      </p:sp>
      <p:sp>
        <p:nvSpPr>
          <p:cNvPr id="29" name="Text 27"/>
          <p:cNvSpPr txBox="1"/>
          <p:nvPr/>
        </p:nvSpPr>
        <p:spPr>
          <a:xfrm>
            <a:off x="779068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8"/>
          <p:cNvSpPr txBox="1"/>
          <p:nvPr/>
        </p:nvSpPr>
        <p:spPr>
          <a:xfrm>
            <a:off x="731520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Dashboard / App</a:t>
            </a:r>
            <a:endParaRPr lang="en-US" sz="1400" dirty="0"/>
          </a:p>
        </p:txBody>
      </p:sp>
      <p:sp>
        <p:nvSpPr>
          <p:cNvPr id="31" name="Text 29"/>
          <p:cNvSpPr txBox="1"/>
          <p:nvPr/>
        </p:nvSpPr>
        <p:spPr>
          <a:xfrm>
            <a:off x="733348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Hourly Prefect flow publishes to a live Hugging Face Space</a:t>
            </a:r>
            <a:endParaRPr lang="en-US" sz="1150" dirty="0"/>
          </a:p>
        </p:txBody>
      </p:sp>
      <p:sp>
        <p:nvSpPr>
          <p:cNvPr id="32" name="summary banner"/>
          <p:cNvSpPr/>
          <p:nvPr/>
        </p:nvSpPr>
        <p:spPr>
          <a:xfrm>
            <a:off x="457200" y="3794760"/>
            <a:ext cx="8229600" cy="685800"/>
          </a:xfrm>
          <a:prstGeom prst="roundRect">
            <a:avLst>
              <a:gd name="adj" fmla="val 10667"/>
            </a:avLst>
          </a:prstGeom>
          <a:solidFill>
            <a:schemeClr val="tx2"/>
          </a:solidFill>
          <a:ln w="12700">
            <a:solidFill>
              <a:schemeClr val="tx2"/>
            </a:solidFill>
            <a:prstDash val="solid"/>
          </a:ln>
        </p:spPr>
      </p:sp>
      <p:sp>
        <p:nvSpPr>
          <p:cNvPr id="33" name="Text 31"/>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1400" b="1" dirty="0">
                <a:solidFill>
                  <a:schemeClr val="bg1"/>
                </a:solidFill>
              </a:rPr>
              <a:t>Raw forecasts and satellite rain in  →  each district's chance of unusually heavy rain 1–3 days ahead, refreshed every hour</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Details &amp; Tools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2743200"/>
                <a:gridCol w="4114800"/>
              </a:tblGrid>
              <a:tr h="365760">
                <a:tc>
                  <a:txBody>
                    <a:bodyPr/>
                    <a:lstStyle/>
                    <a:p>
                      <a:pPr indent="0" marL="0">
                        <a:buNone/>
                      </a:pPr>
                      <a:r>
                        <a:rPr lang="en-US" sz="1150" b="1" dirty="0">
                          <a:solidFill>
                            <a:srgbClr val="FFFFFF"/>
                          </a:solidFill>
                        </a:rPr>
                        <a:t>Stage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Tools / Libraries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What we did</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621792">
                <a:tc>
                  <a:txBody>
                    <a:bodyPr/>
                    <a:lstStyle/>
                    <a:p>
                      <a:pPr indent="0" marL="0">
                        <a:buNone/>
                      </a:pPr>
                      <a:r>
                        <a:rPr lang="en-US" sz="1150" b="1" dirty="0">
                          <a:solidFill>
                            <a:srgbClr val="0B5D2A"/>
                          </a:solidFill>
                        </a:rPr>
                        <a:t>Collection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Python, requests, earthaccess (OPeNDAP), pdfplumber</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Fetch only what is new; respect API budgets; never overwrite a raw file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Preprocessing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DuckDB, pandas, Shapely, pandera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Grid rain → district values; quality rules fix / fill / flag and log every decision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Analysis / EDA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pandas, bootstrap CIs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95th-percentile thresholds per district; Aug 2025 replay; skill by province and terrain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Modeling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scikit-learn GBM + Platt calibration, FAISS + e5</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Leakage-tested features; fixed splits; test set run once. Insight Agent cites NDMA text</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Dashboard / App</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Prefect 3, React + Leaflet, FastAPI, HF Spaces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Hourly flow rebuilds and publishes; map, food prices, live data and Ask (English / Urdu)</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Agents &amp; Automation</a:t>
            </a:r>
            <a:endParaRPr lang="en-US" sz="2800" dirty="0"/>
          </a:p>
        </p:txBody>
      </p:sp>
      <p:sp>
        <p:nvSpPr>
          <p:cNvPr id="3" name="Text 1"/>
          <p:cNvSpPr txBox="1"/>
          <p:nvPr/>
        </p:nvSpPr>
        <p:spPr>
          <a:xfrm>
            <a:off x="457200" y="914400"/>
            <a:ext cx="5120640" cy="274320"/>
          </a:xfrm>
          <a:prstGeom prst="rect">
            <a:avLst/>
          </a:prstGeom>
          <a:noFill/>
          <a:ln/>
        </p:spPr>
        <p:txBody>
          <a:bodyPr wrap="square" lIns="0" tIns="0" rIns="0" bIns="0" rtlCol="0" anchor="t"/>
          <a:lstStyle/>
          <a:p>
            <a:pPr indent="0" marL="0">
              <a:buNone/>
            </a:pPr>
            <a:r>
              <a:rPr lang="en-US" sz="1200" b="1" dirty="0">
                <a:solidFill>
                  <a:schemeClr val="accent2"/>
                </a:solidFill>
              </a:rPr>
              <a:t>DATA QUALITY AGENT · runs pandera checks, decides fix / fill / flag, logs why</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1600200"/>
                <a:gridCol w="640080"/>
                <a:gridCol w="548640"/>
                <a:gridCol w="2331720"/>
              </a:tblGrid>
              <a:tr h="329184">
                <a:tc>
                  <a:txBody>
                    <a:bodyPr/>
                    <a:lstStyle/>
                    <a:p>
                      <a:pPr indent="0" marL="0">
                        <a:buNone/>
                      </a:pPr>
                      <a:r>
                        <a:rPr lang="en-US" sz="1100" b="1" dirty="0">
                          <a:solidFill>
                            <a:srgbClr val="FFFFFF"/>
                          </a:solidFill>
                        </a:rPr>
                        <a:t>Rule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Action</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Rows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Reason (from quality_log)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indent="0" marL="0">
                        <a:buNone/>
                      </a:pPr>
                      <a:r>
                        <a:rPr lang="en-US" sz="1100" b="1" dirty="0">
                          <a:solidFill>
                            <a:srgbClr val="0B5D2A"/>
                          </a:solidFill>
                        </a:rPr>
                        <a:t>spi_price_collected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1,279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PBS published 0 or nothing: kept NULL, never filled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spi_min_le_avg_le_max</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822</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min / avg / max out of order as published: kept as printed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spi_weekly_jump</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399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moved &gt;50% in a week: possible typo, not corrected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5120640" cy="457200"/>
          </a:xfrm>
          <a:prstGeom prst="rect">
            <a:avLst/>
          </a:prstGeom>
          <a:noFill/>
          <a:ln/>
        </p:spPr>
        <p:txBody>
          <a:bodyPr wrap="square" lIns="0" tIns="0" rIns="0" bIns="0" rtlCol="0" anchor="t"/>
          <a:lstStyle/>
          <a:p>
            <a:pPr indent="0" marL="0">
              <a:buNone/>
            </a:pPr>
            <a:r>
              <a:rPr lang="en-US" sz="1200" dirty="0">
                <a:solidFill>
                  <a:schemeClr val="tx1"/>
                </a:solidFill>
              </a:rPr>
              <a:t>Every decision is stored with a timestamp and replayed on each rebuild; we flag rather than invent prices.</a:t>
            </a:r>
            <a:endParaRPr lang="en-US" sz="1200" dirty="0"/>
          </a:p>
        </p:txBody>
      </p:sp>
      <p:sp>
        <p:nvSpPr>
          <p:cNvPr id="6" name="Text 3"/>
          <p:cNvSpPr txBox="1"/>
          <p:nvPr/>
        </p:nvSpPr>
        <p:spPr>
          <a:xfrm>
            <a:off x="457200" y="3749040"/>
            <a:ext cx="5120640" cy="685800"/>
          </a:xfrm>
          <a:prstGeom prst="rect">
            <a:avLst/>
          </a:prstGeom>
          <a:noFill/>
          <a:ln/>
        </p:spPr>
        <p:txBody>
          <a:bodyPr wrap="square" lIns="0" tIns="0" rIns="0" bIns="0" rtlCol="0" anchor="t"/>
          <a:lstStyle/>
          <a:p>
            <a:pPr indent="0" marL="0">
              <a:buNone/>
            </a:pPr>
            <a:r>
              <a:rPr lang="en-US" sz="1200" b="1" dirty="0">
                <a:solidFill>
                  <a:schemeClr val="tx2"/>
                </a:solidFill>
              </a:rPr>
              <a:t>Insight Agent · retrieves NDMA sections (FAISS, multilingual) and gold-table rows; says “I don't know” below threshold.</a:t>
            </a:r>
            <a:endParaRPr lang="en-US" sz="1200" dirty="0"/>
          </a:p>
        </p:txBody>
      </p:sp>
      <p:sp>
        <p:nvSpPr>
          <p:cNvPr id="7" name="prefect"/>
          <p:cNvSpPr/>
          <p:nvPr/>
        </p:nvSpPr>
        <p:spPr>
          <a:xfrm>
            <a:off x="5852160" y="914400"/>
            <a:ext cx="2834640" cy="3566160"/>
          </a:xfrm>
          <a:prstGeom prst="roundRect">
            <a:avLst>
              <a:gd name="adj" fmla="val 2581"/>
            </a:avLst>
          </a:prstGeom>
          <a:solidFill>
            <a:schemeClr val="bg2"/>
          </a:solidFill>
          <a:ln w="12700">
            <a:solidFill>
              <a:schemeClr val="bg2"/>
            </a:solidFill>
            <a:prstDash val="solid"/>
          </a:ln>
        </p:spPr>
      </p:sp>
      <p:sp>
        <p:nvSpPr>
          <p:cNvPr id="8" name="Text 5"/>
          <p:cNvSpPr txBox="1"/>
          <p:nvPr/>
        </p:nvSpPr>
        <p:spPr>
          <a:xfrm>
            <a:off x="6035040" y="1051560"/>
            <a:ext cx="2560320" cy="274320"/>
          </a:xfrm>
          <a:prstGeom prst="rect">
            <a:avLst/>
          </a:prstGeom>
          <a:noFill/>
          <a:ln/>
        </p:spPr>
        <p:txBody>
          <a:bodyPr wrap="square" lIns="0" tIns="0" rIns="0" bIns="0" rtlCol="0" anchor="t"/>
          <a:lstStyle/>
          <a:p>
            <a:pPr indent="0" marL="0">
              <a:buNone/>
            </a:pPr>
            <a:r>
              <a:rPr lang="en-US" sz="1200" b="1" dirty="0">
                <a:solidFill>
                  <a:schemeClr val="accent2"/>
                </a:solidFill>
              </a:rPr>
              <a:t>HOURLY PREFECT FLOW</a:t>
            </a:r>
            <a:endParaRPr lang="en-US" sz="1200" dirty="0"/>
          </a:p>
        </p:txBody>
      </p:sp>
      <p:sp>
        <p:nvSpPr>
          <p:cNvPr id="9" name="Text 6"/>
          <p:cNvSpPr txBox="1"/>
          <p:nvPr/>
        </p:nvSpPr>
        <p:spPr>
          <a:xfrm>
            <a:off x="6035040" y="1325880"/>
            <a:ext cx="2560320" cy="274320"/>
          </a:xfrm>
          <a:prstGeom prst="rect">
            <a:avLst/>
          </a:prstGeom>
          <a:noFill/>
          <a:ln/>
        </p:spPr>
        <p:txBody>
          <a:bodyPr wrap="square" lIns="0" tIns="0" rIns="0" bIns="0" rtlCol="0" anchor="t"/>
          <a:lstStyle/>
          <a:p>
            <a:pPr indent="0" marL="0">
              <a:buNone/>
            </a:pPr>
            <a:r>
              <a:rPr lang="en-US" sz="1200" dirty="0">
                <a:solidFill>
                  <a:schemeClr val="accent6"/>
                </a:solidFill>
              </a:rPr>
              <a:t>cron  5 * * * *</a:t>
            </a:r>
            <a:endParaRPr lang="en-US" sz="1200" dirty="0"/>
          </a:p>
        </p:txBody>
      </p:sp>
      <p:sp>
        <p:nvSpPr>
          <p:cNvPr id="10" name="Text 7"/>
          <p:cNvSpPr txBox="1"/>
          <p:nvPr/>
        </p:nvSpPr>
        <p:spPr>
          <a:xfrm>
            <a:off x="6035040" y="1691640"/>
            <a:ext cx="731520" cy="548640"/>
          </a:xfrm>
          <a:prstGeom prst="rect">
            <a:avLst/>
          </a:prstGeom>
          <a:noFill/>
          <a:ln/>
        </p:spPr>
        <p:txBody>
          <a:bodyPr wrap="square" lIns="0" tIns="0" rIns="0" bIns="0" rtlCol="0" anchor="t"/>
          <a:lstStyle/>
          <a:p>
            <a:pPr indent="0" marL="0">
              <a:buNone/>
            </a:pPr>
            <a:r>
              <a:rPr lang="en-US" sz="3000" b="1" dirty="0">
                <a:solidFill>
                  <a:schemeClr val="tx2"/>
                </a:solidFill>
              </a:rPr>
              <a:t>15</a:t>
            </a:r>
            <a:endParaRPr lang="en-US" sz="3000" dirty="0"/>
          </a:p>
        </p:txBody>
      </p:sp>
      <p:sp>
        <p:nvSpPr>
          <p:cNvPr id="11" name="Text 8"/>
          <p:cNvSpPr txBox="1"/>
          <p:nvPr/>
        </p:nvSpPr>
        <p:spPr>
          <a:xfrm>
            <a:off x="6720840" y="1737360"/>
            <a:ext cx="1874520" cy="777240"/>
          </a:xfrm>
          <a:prstGeom prst="rect">
            <a:avLst/>
          </a:prstGeom>
          <a:noFill/>
          <a:ln/>
        </p:spPr>
        <p:txBody>
          <a:bodyPr wrap="square" lIns="0" tIns="0" rIns="0" bIns="0" rtlCol="0" anchor="t"/>
          <a:lstStyle/>
          <a:p>
            <a:pPr indent="0" marL="0">
              <a:buNone/>
            </a:pPr>
            <a:r>
              <a:rPr lang="en-US" sz="1100" dirty="0">
                <a:solidFill>
                  <a:schemeClr val="tx1"/>
                </a:solidFill>
              </a:rPr>
              <a:t>runs in the Tue 4 PM – Wed 4 PM window</a:t>
            </a:r>
            <a:endParaRPr lang="en-US" sz="1100" dirty="0"/>
          </a:p>
        </p:txBody>
      </p:sp>
      <p:sp>
        <p:nvSpPr>
          <p:cNvPr id="12" name="Text 9"/>
          <p:cNvSpPr txBox="1"/>
          <p:nvPr/>
        </p:nvSpPr>
        <p:spPr>
          <a:xfrm>
            <a:off x="6035040" y="2560320"/>
            <a:ext cx="731520" cy="548640"/>
          </a:xfrm>
          <a:prstGeom prst="rect">
            <a:avLst/>
          </a:prstGeom>
          <a:noFill/>
          <a:ln/>
        </p:spPr>
        <p:txBody>
          <a:bodyPr wrap="square" lIns="0" tIns="0" rIns="0" bIns="0" rtlCol="0" anchor="t"/>
          <a:lstStyle/>
          <a:p>
            <a:pPr indent="0" marL="0">
              <a:buNone/>
            </a:pPr>
            <a:r>
              <a:rPr lang="en-US" sz="3000" b="1" dirty="0">
                <a:solidFill>
                  <a:schemeClr val="tx2"/>
                </a:solidFill>
              </a:rPr>
              <a:t>14</a:t>
            </a:r>
            <a:endParaRPr lang="en-US" sz="3000" dirty="0"/>
          </a:p>
        </p:txBody>
      </p:sp>
      <p:sp>
        <p:nvSpPr>
          <p:cNvPr id="13" name="Text 10"/>
          <p:cNvSpPr txBox="1"/>
          <p:nvPr/>
        </p:nvSpPr>
        <p:spPr>
          <a:xfrm>
            <a:off x="6720840" y="2606040"/>
            <a:ext cx="1874520" cy="777240"/>
          </a:xfrm>
          <a:prstGeom prst="rect">
            <a:avLst/>
          </a:prstGeom>
          <a:noFill/>
          <a:ln/>
        </p:spPr>
        <p:txBody>
          <a:bodyPr wrap="square" lIns="0" tIns="0" rIns="0" bIns="0" rtlCol="0" anchor="t"/>
          <a:lstStyle/>
          <a:p>
            <a:pPr indent="0" marL="0">
              <a:buNone/>
            </a:pPr>
            <a:r>
              <a:rPr lang="en-US" sz="1100" dirty="0">
                <a:solidFill>
                  <a:schemeClr val="tx1"/>
                </a:solidFill>
              </a:rPr>
              <a:t>completed</a:t>
            </a:r>
            <a:endParaRPr lang="en-US" sz="1100" dirty="0"/>
          </a:p>
        </p:txBody>
      </p:sp>
      <p:sp>
        <p:nvSpPr>
          <p:cNvPr id="14" name="Text 11"/>
          <p:cNvSpPr txBox="1"/>
          <p:nvPr/>
        </p:nvSpPr>
        <p:spPr>
          <a:xfrm>
            <a:off x="6035040" y="3429000"/>
            <a:ext cx="731520" cy="548640"/>
          </a:xfrm>
          <a:prstGeom prst="rect">
            <a:avLst/>
          </a:prstGeom>
          <a:noFill/>
          <a:ln/>
        </p:spPr>
        <p:txBody>
          <a:bodyPr wrap="square" lIns="0" tIns="0" rIns="0" bIns="0" rtlCol="0" anchor="t"/>
          <a:lstStyle/>
          <a:p>
            <a:pPr indent="0" marL="0">
              <a:buNone/>
            </a:pPr>
            <a:r>
              <a:rPr lang="en-US" sz="3000" b="1" dirty="0">
                <a:solidFill>
                  <a:schemeClr val="accent3"/>
                </a:solidFill>
              </a:rPr>
              <a:t>1</a:t>
            </a:r>
            <a:endParaRPr lang="en-US" sz="3000" dirty="0"/>
          </a:p>
        </p:txBody>
      </p:sp>
      <p:sp>
        <p:nvSpPr>
          <p:cNvPr id="15" name="Text 12"/>
          <p:cNvSpPr txBox="1"/>
          <p:nvPr/>
        </p:nvSpPr>
        <p:spPr>
          <a:xfrm>
            <a:off x="6720840" y="3474720"/>
            <a:ext cx="1874520" cy="777240"/>
          </a:xfrm>
          <a:prstGeom prst="rect">
            <a:avLst/>
          </a:prstGeom>
          <a:noFill/>
          <a:ln/>
        </p:spPr>
        <p:txBody>
          <a:bodyPr wrap="square" lIns="0" tIns="0" rIns="0" bIns="0" rtlCol="0" anchor="t"/>
          <a:lstStyle/>
          <a:p>
            <a:pPr indent="0" marL="0">
              <a:buNone/>
            </a:pPr>
            <a:r>
              <a:rPr lang="en-US" sz="1100" dirty="0">
                <a:solidFill>
                  <a:schemeClr val="tx1"/>
                </a:solidFill>
              </a:rPr>
              <a:t>failed: NASA server refused us; IMERG step now isolated, switched to NASA cloud</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Dashboard / App Views</a:t>
            </a:r>
            <a:endParaRPr lang="en-US" sz="2800" dirty="0"/>
          </a:p>
        </p:txBody>
      </p:sp>
      <p:sp>
        <p:nvSpPr>
          <p:cNvPr id="3" name="Text 1"/>
          <p:cNvSpPr txBox="1"/>
          <p:nvPr/>
        </p:nvSpPr>
        <p:spPr>
          <a:xfrm>
            <a:off x="457200" y="914400"/>
            <a:ext cx="5212080" cy="228600"/>
          </a:xfrm>
          <a:prstGeom prst="rect">
            <a:avLst/>
          </a:prstGeom>
          <a:noFill/>
          <a:ln/>
        </p:spPr>
        <p:txBody>
          <a:bodyPr wrap="square" lIns="0" tIns="0" rIns="0" bIns="0" rtlCol="0" anchor="t"/>
          <a:lstStyle/>
          <a:p>
            <a:pPr indent="0" marL="0">
              <a:buNone/>
            </a:pPr>
            <a:r>
              <a:rPr lang="en-US" sz="1200" b="1" dirty="0">
                <a:solidFill>
                  <a:schemeClr val="tx2"/>
                </a:solidFill>
              </a:rPr>
              <a:t>Page 1 – Situation Room: risk vs each district's normal</a:t>
            </a:r>
            <a:endParaRPr lang="en-US" sz="1200" dirty="0"/>
          </a:p>
        </p:txBody>
      </p:sp>
      <p:pic>
        <p:nvPicPr>
          <p:cNvPr id="4" name="Page 1 – Situation Room: risk vs each district's normal" descr="Page 1 – Situation Room: risk vs each district's normal">    </p:cNvPr>
          <p:cNvPicPr>
            <a:picLocks noChangeAspect="1"/>
          </p:cNvPicPr>
          <p:nvPr/>
        </p:nvPicPr>
        <p:blipFill>
          <a:blip r:embed="rId1"/>
          <a:stretch>
            <a:fillRect/>
          </a:stretch>
        </p:blipFill>
        <p:spPr>
          <a:xfrm>
            <a:off x="457200" y="1188720"/>
            <a:ext cx="5212080" cy="2931795"/>
          </a:xfrm>
          <a:prstGeom prst="rect">
            <a:avLst/>
          </a:prstGeom>
        </p:spPr>
      </p:pic>
      <p:sp>
        <p:nvSpPr>
          <p:cNvPr id="5" name="Page 1 – Situation Room: risk vs each district's normal frame"/>
          <p:cNvSpPr/>
          <p:nvPr/>
        </p:nvSpPr>
        <p:spPr>
          <a:xfrm>
            <a:off x="457200" y="1188720"/>
            <a:ext cx="5212080" cy="2931795"/>
          </a:xfrm>
          <a:prstGeom prst="rect">
            <a:avLst/>
          </a:prstGeom>
          <a:ln w="9525">
            <a:solidFill>
              <a:srgbClr val="D0D5DD"/>
            </a:solidFill>
            <a:prstDash val="solid"/>
          </a:ln>
        </p:spPr>
      </p:sp>
      <p:sp>
        <p:nvSpPr>
          <p:cNvPr id="6" name="Text 3"/>
          <p:cNvSpPr txBox="1"/>
          <p:nvPr/>
        </p:nvSpPr>
        <p:spPr>
          <a:xfrm>
            <a:off x="5943600" y="91440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2 – Ask (Insight Agent)</a:t>
            </a:r>
            <a:endParaRPr lang="en-US" sz="1200" dirty="0"/>
          </a:p>
        </p:txBody>
      </p:sp>
      <p:pic>
        <p:nvPicPr>
          <p:cNvPr id="7" name="Page 2 – Ask (Insight Agent)" descr="Page 2 – Ask (Insight Agent)">    </p:cNvPr>
          <p:cNvPicPr>
            <a:picLocks noChangeAspect="1"/>
          </p:cNvPicPr>
          <p:nvPr/>
        </p:nvPicPr>
        <p:blipFill>
          <a:blip r:embed="rId2"/>
          <a:stretch>
            <a:fillRect/>
          </a:stretch>
        </p:blipFill>
        <p:spPr>
          <a:xfrm>
            <a:off x="5943600" y="1188720"/>
            <a:ext cx="2743200" cy="719328"/>
          </a:xfrm>
          <a:prstGeom prst="rect">
            <a:avLst/>
          </a:prstGeom>
        </p:spPr>
      </p:pic>
      <p:sp>
        <p:nvSpPr>
          <p:cNvPr id="8" name="Page 2 – Ask (Insight Agent) frame"/>
          <p:cNvSpPr/>
          <p:nvPr/>
        </p:nvSpPr>
        <p:spPr>
          <a:xfrm>
            <a:off x="5943600" y="1188720"/>
            <a:ext cx="2743200" cy="719328"/>
          </a:xfrm>
          <a:prstGeom prst="rect">
            <a:avLst/>
          </a:prstGeom>
          <a:ln w="9525">
            <a:solidFill>
              <a:srgbClr val="D0D5DD"/>
            </a:solidFill>
            <a:prstDash val="solid"/>
          </a:ln>
        </p:spPr>
      </p:sp>
      <p:sp>
        <p:nvSpPr>
          <p:cNvPr id="9" name="Text 5"/>
          <p:cNvSpPr txBox="1"/>
          <p:nvPr/>
        </p:nvSpPr>
        <p:spPr>
          <a:xfrm>
            <a:off x="5943600" y="210312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3 – Live data</a:t>
            </a:r>
            <a:endParaRPr lang="en-US" sz="1200" dirty="0"/>
          </a:p>
        </p:txBody>
      </p:sp>
      <p:pic>
        <p:nvPicPr>
          <p:cNvPr id="10" name="Page 3 – Live data" descr="Page 3 – Live data">    </p:cNvPr>
          <p:cNvPicPr>
            <a:picLocks noChangeAspect="1"/>
          </p:cNvPicPr>
          <p:nvPr/>
        </p:nvPicPr>
        <p:blipFill>
          <a:blip r:embed="rId3"/>
          <a:stretch>
            <a:fillRect/>
          </a:stretch>
        </p:blipFill>
        <p:spPr>
          <a:xfrm>
            <a:off x="5943600" y="2377440"/>
            <a:ext cx="2743200" cy="1543050"/>
          </a:xfrm>
          <a:prstGeom prst="rect">
            <a:avLst/>
          </a:prstGeom>
        </p:spPr>
      </p:pic>
      <p:sp>
        <p:nvSpPr>
          <p:cNvPr id="11" name="Page 3 – Live data frame"/>
          <p:cNvSpPr/>
          <p:nvPr/>
        </p:nvSpPr>
        <p:spPr>
          <a:xfrm>
            <a:off x="5943600" y="2377440"/>
            <a:ext cx="2743200" cy="1543050"/>
          </a:xfrm>
          <a:prstGeom prst="rect">
            <a:avLst/>
          </a:prstGeom>
          <a:ln w="9525">
            <a:solidFill>
              <a:srgbClr val="D0D5DD"/>
            </a:solidFill>
            <a:prstDash val="solid"/>
          </a:ln>
        </p:spPr>
      </p:sp>
      <p:sp>
        <p:nvSpPr>
          <p:cNvPr id="12" name="Text 7"/>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200" b="1" dirty="0">
                <a:solidFill>
                  <a:schemeClr val="tx1"/>
                </a:solidFill>
              </a:rPr>
              <a:t>Live demo: </a:t>
            </a:r>
            <a:pPr indent="0" marL="0">
              <a:buNone/>
            </a:pPr>
            <a:r>
              <a:rPr lang="en-US" sz="1200" dirty="0">
                <a:solidFill>
                  <a:schemeClr val="accent5"/>
                </a:solidFill>
              </a:rPr>
              <a:t>huggingface.co/spaces/RoshaanT1/floodlens-pakistan</a:t>
            </a:r>
            <a:pPr indent="0" marL="0">
              <a:buNone/>
            </a:pPr>
            <a:r>
              <a:rPr lang="en-US" sz="1200" b="1" dirty="0">
                <a:solidFill>
                  <a:schemeClr val="tx1"/>
                </a:solidFill>
              </a:rPr>
              <a:t>   ·   Repo: </a:t>
            </a:r>
            <a:pPr indent="0" marL="0">
              <a:buNone/>
            </a:pPr>
            <a:r>
              <a:rPr lang="en-US" sz="1200" dirty="0">
                <a:solidFill>
                  <a:schemeClr val="accent5"/>
                </a:solidFill>
              </a:rPr>
              <a:t>github.com/RoshaanT1/floodlens-pakistan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Results vs Baseline</a:t>
            </a:r>
            <a:endParaRPr lang="en-US" sz="2800" dirty="0"/>
          </a:p>
        </p:txBody>
      </p:sp>
      <p:sp>
        <p:nvSpPr>
          <p:cNvPr id="3" name="Text 1"/>
          <p:cNvSpPr txBox="1"/>
          <p:nvPr/>
        </p:nvSpPr>
        <p:spPr>
          <a:xfrm>
            <a:off x="457200" y="914400"/>
            <a:ext cx="4937760" cy="274320"/>
          </a:xfrm>
          <a:prstGeom prst="rect">
            <a:avLst/>
          </a:prstGeom>
          <a:noFill/>
          <a:ln/>
        </p:spPr>
        <p:txBody>
          <a:bodyPr wrap="square" lIns="0" tIns="0" rIns="0" bIns="0" rtlCol="0" anchor="t"/>
          <a:lstStyle/>
          <a:p>
            <a:pPr indent="0" marL="0">
              <a:buNone/>
            </a:pPr>
            <a:r>
              <a:rPr lang="en-US" sz="1200" b="1" dirty="0">
                <a:solidFill>
                  <a:schemeClr val="accent2"/>
                </a:solidFill>
              </a:rPr>
              <a:t>TEST SET Jan–Sep 2026, run once · Brier [95% CI], lower is better</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937760" cy="914400"/>
        </p:xfrm>
        <a:graphic>
          <a:graphicData uri="http://schemas.openxmlformats.org/drawingml/2006/table">
            <a:tbl>
              <a:tblPr/>
              <a:tblGrid>
                <a:gridCol w="1371600"/>
                <a:gridCol w="1188720"/>
                <a:gridCol w="1188720"/>
                <a:gridCol w="1188720"/>
              </a:tblGrid>
              <a:tr h="292608">
                <a:tc>
                  <a:txBody>
                    <a:bodyPr/>
                    <a:lstStyle/>
                    <a:p>
                      <a:pPr algn="ctr" indent="0" marL="0">
                        <a:buNone/>
                      </a:pP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24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48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72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algn="ctr" indent="0" marL="0">
                        <a:buNone/>
                      </a:pPr>
                      <a:r>
                        <a:rPr lang="en-US" sz="1100" b="1" dirty="0">
                          <a:solidFill>
                            <a:srgbClr val="0B5D2A"/>
                          </a:solidFill>
                        </a:rPr>
                        <a:t>Model (GBM)</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0.0177</a:t>
                      </a:r>
                      <a:endParaRPr lang="en-US" sz="1100" dirty="0"/>
                    </a:p>
                    <a:p>
                      <a:pPr algn="ctr" indent="0" marL="0">
                        <a:buNone/>
                      </a:pPr>
                      <a:r>
                        <a:rPr lang="en-US" sz="1100" b="1" dirty="0">
                          <a:solidFill>
                            <a:srgbClr val="0B5D2A"/>
                          </a:solidFill>
                        </a:rPr>
                        <a:t>[0.0146, 0.0213]</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0.0178</a:t>
                      </a:r>
                      <a:endParaRPr lang="en-US" sz="1100" dirty="0"/>
                    </a:p>
                    <a:p>
                      <a:pPr algn="ctr" indent="0" marL="0">
                        <a:buNone/>
                      </a:pPr>
                      <a:r>
                        <a:rPr lang="en-US" sz="1100" b="1" dirty="0">
                          <a:solidFill>
                            <a:srgbClr val="0B5D2A"/>
                          </a:solidFill>
                        </a:rPr>
                        <a:t>[0.0147, 0.0214]</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0.0179</a:t>
                      </a:r>
                      <a:endParaRPr lang="en-US" sz="1100" dirty="0"/>
                    </a:p>
                    <a:p>
                      <a:pPr algn="ctr" indent="0" marL="0">
                        <a:buNone/>
                      </a:pPr>
                      <a:r>
                        <a:rPr lang="en-US" sz="1100" b="1" dirty="0">
                          <a:solidFill>
                            <a:srgbClr val="0B5D2A"/>
                          </a:solidFill>
                        </a:rPr>
                        <a:t>[0.0148, 0.0215]</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Climatology (declared)</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p>
                      <a:pPr algn="ctr" indent="0" marL="0">
                        <a:buNone/>
                      </a:pPr>
                      <a:r>
                        <a:rPr lang="en-US" sz="1100" dirty="0">
                          <a:solidFill>
                            <a:srgbClr val="1F2933"/>
                          </a:solidFill>
                        </a:rPr>
                        <a:t>[0.0156, 0.0231]</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Paired difference</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−0.0014</a:t>
                      </a:r>
                      <a:endParaRPr lang="en-US" sz="1100" dirty="0"/>
                    </a:p>
                    <a:p>
                      <a:pPr algn="ctr" indent="0" marL="0">
                        <a:buNone/>
                      </a:pPr>
                      <a:r>
                        <a:rPr lang="en-US" sz="1100" dirty="0">
                          <a:solidFill>
                            <a:srgbClr val="1F2933"/>
                          </a:solidFill>
                        </a:rPr>
                        <a:t>[−0.0022, −0.0008]</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[−0.0021,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[−0.0019,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4937760" cy="9144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Monsoon months: 0.0237 vs 0.0251 · Validation (model choice): GBM 0.0233, logistic 0.0238, climatology 0.0249</a:t>
            </a:r>
            <a:endParaRPr lang="en-US" sz="1150" dirty="0"/>
          </a:p>
          <a:p>
            <a:pPr indent="0" marL="0">
              <a:spcAft>
                <a:spcPts val="400"/>
              </a:spcAft>
              <a:buNone/>
            </a:pPr>
            <a:r>
              <a:rPr lang="en-US" sz="1150" dirty="0">
                <a:solidFill>
                  <a:schemeClr val="tx1"/>
                </a:solidFill>
              </a:rPr>
              <a:t>Time-based splits (train ≤ Jun 2025, validate Jul–Dec 2025), leakage tests on every feature, test locked in code</a:t>
            </a:r>
            <a:endParaRPr lang="en-US" sz="1150" dirty="0"/>
          </a:p>
        </p:txBody>
      </p:sp>
      <p:graphicFrame>
        <p:nvGraphicFramePr>
          <p:cNvPr id="6" name="Chart 0" descr=""/>
          <p:cNvGraphicFramePr/>
          <p:nvPr/>
        </p:nvGraphicFramePr>
        <p:xfrm>
          <a:off x="5577840" y="914400"/>
          <a:ext cx="3108960" cy="32461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577840" y="4160520"/>
            <a:ext cx="3108960" cy="502920"/>
          </a:xfrm>
          <a:prstGeom prst="rect">
            <a:avLst/>
          </a:prstGeom>
          <a:noFill/>
          <a:ln/>
        </p:spPr>
        <p:txBody>
          <a:bodyPr wrap="square" lIns="0" tIns="0" rIns="0" bIns="0" rtlCol="0" anchor="t"/>
          <a:lstStyle/>
          <a:p>
            <a:pPr indent="0" marL="0">
              <a:buNone/>
            </a:pPr>
            <a:r>
              <a:rPr lang="en-US" sz="1100" dirty="0">
                <a:solidFill>
                  <a:schemeClr val="accent6"/>
                </a:solidFill>
              </a:rPr>
              <a:t>Weakest: Azad Kashmir (+1.5%). Model B (prices) did not beat “no change” (MAE 1.667 vs 1.665): rejected and shown as baseline.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Responsible AI &amp; Pakistan Impact</a:t>
            </a:r>
            <a:endParaRPr lang="en-US" sz="2800" dirty="0"/>
          </a:p>
        </p:txBody>
      </p:sp>
      <p:sp>
        <p:nvSpPr>
          <p:cNvPr id="3" name="resp 1"/>
          <p:cNvSpPr/>
          <p:nvPr/>
        </p:nvSpPr>
        <p:spPr>
          <a:xfrm>
            <a:off x="457200" y="914400"/>
            <a:ext cx="438912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640080" y="1005840"/>
            <a:ext cx="4023360" cy="274320"/>
          </a:xfrm>
          <a:prstGeom prst="rect">
            <a:avLst/>
          </a:prstGeom>
          <a:noFill/>
          <a:ln/>
        </p:spPr>
        <p:txBody>
          <a:bodyPr wrap="square" lIns="0" tIns="0" rIns="0" bIns="0" rtlCol="0" anchor="t"/>
          <a:lstStyle/>
          <a:p>
            <a:pPr indent="0" marL="0">
              <a:buNone/>
            </a:pPr>
            <a:r>
              <a:rPr lang="en-US" sz="1400" b="1" dirty="0">
                <a:solidFill>
                  <a:schemeClr val="tx2"/>
                </a:solidFill>
              </a:rPr>
              <a:t>No invented numbers</a:t>
            </a:r>
            <a:endParaRPr lang="en-US" sz="1400" dirty="0"/>
          </a:p>
        </p:txBody>
      </p:sp>
      <p:sp>
        <p:nvSpPr>
          <p:cNvPr id="5" name="Text 3"/>
          <p:cNvSpPr txBox="1"/>
          <p:nvPr/>
        </p:nvSpPr>
        <p:spPr>
          <a:xfrm>
            <a:off x="640080" y="1298448"/>
            <a:ext cx="4023360" cy="365760"/>
          </a:xfrm>
          <a:prstGeom prst="rect">
            <a:avLst/>
          </a:prstGeom>
          <a:noFill/>
          <a:ln/>
        </p:spPr>
        <p:txBody>
          <a:bodyPr wrap="square" lIns="0" tIns="0" rIns="0" bIns="0" rtlCol="0" anchor="t"/>
          <a:lstStyle/>
          <a:p>
            <a:pPr indent="0" marL="0">
              <a:buNone/>
            </a:pPr>
            <a:r>
              <a:rPr lang="en-US" sz="1100" dirty="0">
                <a:solidFill>
                  <a:schemeClr val="tx1"/>
                </a:solidFill>
              </a:rPr>
              <a:t>Every number is inserted by code from a gold table and carries its row id</a:t>
            </a:r>
            <a:endParaRPr lang="en-US" sz="1100" dirty="0"/>
          </a:p>
        </p:txBody>
      </p:sp>
      <p:sp>
        <p:nvSpPr>
          <p:cNvPr id="6" name="resp 2"/>
          <p:cNvSpPr/>
          <p:nvPr/>
        </p:nvSpPr>
        <p:spPr>
          <a:xfrm>
            <a:off x="457200" y="1810512"/>
            <a:ext cx="4389120" cy="777240"/>
          </a:xfrm>
          <a:prstGeom prst="roundRect">
            <a:avLst>
              <a:gd name="adj" fmla="val 9412"/>
            </a:avLst>
          </a:prstGeom>
          <a:solidFill>
            <a:schemeClr val="bg2"/>
          </a:solidFill>
          <a:ln w="12700">
            <a:solidFill>
              <a:schemeClr val="bg2"/>
            </a:solidFill>
            <a:prstDash val="solid"/>
          </a:ln>
        </p:spPr>
      </p:sp>
      <p:sp>
        <p:nvSpPr>
          <p:cNvPr id="7" name="Text 5"/>
          <p:cNvSpPr txBox="1"/>
          <p:nvPr/>
        </p:nvSpPr>
        <p:spPr>
          <a:xfrm>
            <a:off x="640080" y="1901952"/>
            <a:ext cx="4023360" cy="274320"/>
          </a:xfrm>
          <a:prstGeom prst="rect">
            <a:avLst/>
          </a:prstGeom>
          <a:noFill/>
          <a:ln/>
        </p:spPr>
        <p:txBody>
          <a:bodyPr wrap="square" lIns="0" tIns="0" rIns="0" bIns="0" rtlCol="0" anchor="t"/>
          <a:lstStyle/>
          <a:p>
            <a:pPr indent="0" marL="0">
              <a:buNone/>
            </a:pPr>
            <a:r>
              <a:rPr lang="en-US" sz="1400" b="1" dirty="0">
                <a:solidFill>
                  <a:schemeClr val="tx2"/>
                </a:solidFill>
              </a:rPr>
              <a:t>Every claim cited</a:t>
            </a:r>
            <a:endParaRPr lang="en-US" sz="1400" dirty="0"/>
          </a:p>
        </p:txBody>
      </p:sp>
      <p:sp>
        <p:nvSpPr>
          <p:cNvPr id="8" name="Text 6"/>
          <p:cNvSpPr txBox="1"/>
          <p:nvPr/>
        </p:nvSpPr>
        <p:spPr>
          <a:xfrm>
            <a:off x="640080" y="2194560"/>
            <a:ext cx="4023360" cy="365760"/>
          </a:xfrm>
          <a:prstGeom prst="rect">
            <a:avLst/>
          </a:prstGeom>
          <a:noFill/>
          <a:ln/>
        </p:spPr>
        <p:txBody>
          <a:bodyPr wrap="square" lIns="0" tIns="0" rIns="0" bIns="0" rtlCol="0" anchor="t"/>
          <a:lstStyle/>
          <a:p>
            <a:pPr indent="0" marL="0">
              <a:buNone/>
            </a:pPr>
            <a:r>
              <a:rPr lang="en-US" sz="1100" dirty="0">
                <a:solidFill>
                  <a:schemeClr val="tx1"/>
                </a:solidFill>
              </a:rPr>
              <a:t>NDMA quotes carry document, page and section id; no support → “I don't know”</a:t>
            </a:r>
            <a:endParaRPr lang="en-US" sz="1100" dirty="0"/>
          </a:p>
        </p:txBody>
      </p:sp>
      <p:sp>
        <p:nvSpPr>
          <p:cNvPr id="9" name="resp 3"/>
          <p:cNvSpPr/>
          <p:nvPr/>
        </p:nvSpPr>
        <p:spPr>
          <a:xfrm>
            <a:off x="457200" y="2706624"/>
            <a:ext cx="4389120" cy="777240"/>
          </a:xfrm>
          <a:prstGeom prst="roundRect">
            <a:avLst>
              <a:gd name="adj" fmla="val 9412"/>
            </a:avLst>
          </a:prstGeom>
          <a:solidFill>
            <a:schemeClr val="bg2"/>
          </a:solidFill>
          <a:ln w="12700">
            <a:solidFill>
              <a:schemeClr val="bg2"/>
            </a:solidFill>
            <a:prstDash val="solid"/>
          </a:ln>
        </p:spPr>
      </p:sp>
      <p:sp>
        <p:nvSpPr>
          <p:cNvPr id="10" name="Text 8"/>
          <p:cNvSpPr txBox="1"/>
          <p:nvPr/>
        </p:nvSpPr>
        <p:spPr>
          <a:xfrm>
            <a:off x="640080" y="2798064"/>
            <a:ext cx="4023360" cy="274320"/>
          </a:xfrm>
          <a:prstGeom prst="rect">
            <a:avLst/>
          </a:prstGeom>
          <a:noFill/>
          <a:ln/>
        </p:spPr>
        <p:txBody>
          <a:bodyPr wrap="square" lIns="0" tIns="0" rIns="0" bIns="0" rtlCol="0" anchor="t"/>
          <a:lstStyle/>
          <a:p>
            <a:pPr indent="0" marL="0">
              <a:buNone/>
            </a:pPr>
            <a:r>
              <a:rPr lang="en-US" sz="1400" b="1" dirty="0">
                <a:solidFill>
                  <a:schemeClr val="tx2"/>
                </a:solidFill>
              </a:rPr>
              <a:t>Safe by default</a:t>
            </a:r>
            <a:endParaRPr lang="en-US" sz="1400" dirty="0"/>
          </a:p>
        </p:txBody>
      </p:sp>
      <p:sp>
        <p:nvSpPr>
          <p:cNvPr id="11" name="Text 9"/>
          <p:cNvSpPr txBox="1"/>
          <p:nvPr/>
        </p:nvSpPr>
        <p:spPr>
          <a:xfrm>
            <a:off x="640080" y="3090672"/>
            <a:ext cx="4023360" cy="365760"/>
          </a:xfrm>
          <a:prstGeom prst="rect">
            <a:avLst/>
          </a:prstGeom>
          <a:noFill/>
          <a:ln/>
        </p:spPr>
        <p:txBody>
          <a:bodyPr wrap="square" lIns="0" tIns="0" rIns="0" bIns="0" rtlCol="0" anchor="t"/>
          <a:lstStyle/>
          <a:p>
            <a:pPr indent="0" marL="0">
              <a:buNone/>
            </a:pPr>
            <a:r>
              <a:rPr lang="en-US" sz="1100" dirty="0">
                <a:solidFill>
                  <a:schemeClr val="tx1"/>
                </a:solidFill>
              </a:rPr>
              <a:t>Emergency questions go to Rescue 1122 and NDMA/PDMA first; never an official warning</a:t>
            </a:r>
            <a:endParaRPr lang="en-US" sz="1100" dirty="0"/>
          </a:p>
        </p:txBody>
      </p:sp>
      <p:sp>
        <p:nvSpPr>
          <p:cNvPr id="12" name="resp 4"/>
          <p:cNvSpPr/>
          <p:nvPr/>
        </p:nvSpPr>
        <p:spPr>
          <a:xfrm>
            <a:off x="457200" y="3602736"/>
            <a:ext cx="4389120" cy="777240"/>
          </a:xfrm>
          <a:prstGeom prst="roundRect">
            <a:avLst>
              <a:gd name="adj" fmla="val 9412"/>
            </a:avLst>
          </a:prstGeom>
          <a:solidFill>
            <a:schemeClr val="bg2"/>
          </a:solidFill>
          <a:ln w="12700">
            <a:solidFill>
              <a:schemeClr val="bg2"/>
            </a:solidFill>
            <a:prstDash val="solid"/>
          </a:ln>
        </p:spPr>
      </p:sp>
      <p:sp>
        <p:nvSpPr>
          <p:cNvPr id="13" name="Text 11"/>
          <p:cNvSpPr txBox="1"/>
          <p:nvPr/>
        </p:nvSpPr>
        <p:spPr>
          <a:xfrm>
            <a:off x="640080" y="3694176"/>
            <a:ext cx="4023360" cy="274320"/>
          </a:xfrm>
          <a:prstGeom prst="rect">
            <a:avLst/>
          </a:prstGeom>
          <a:noFill/>
          <a:ln/>
        </p:spPr>
        <p:txBody>
          <a:bodyPr wrap="square" lIns="0" tIns="0" rIns="0" bIns="0" rtlCol="0" anchor="t"/>
          <a:lstStyle/>
          <a:p>
            <a:pPr indent="0" marL="0">
              <a:buNone/>
            </a:pPr>
            <a:r>
              <a:rPr lang="en-US" sz="1400" b="1" dirty="0">
                <a:solidFill>
                  <a:schemeClr val="tx2"/>
                </a:solidFill>
              </a:rPr>
              <a:t>Usable in Pakistan</a:t>
            </a:r>
            <a:endParaRPr lang="en-US" sz="1400" dirty="0"/>
          </a:p>
        </p:txBody>
      </p:sp>
      <p:sp>
        <p:nvSpPr>
          <p:cNvPr id="14" name="Text 12"/>
          <p:cNvSpPr txBox="1"/>
          <p:nvPr/>
        </p:nvSpPr>
        <p:spPr>
          <a:xfrm>
            <a:off x="640080" y="3986784"/>
            <a:ext cx="4023360" cy="365760"/>
          </a:xfrm>
          <a:prstGeom prst="rect">
            <a:avLst/>
          </a:prstGeom>
          <a:noFill/>
          <a:ln/>
        </p:spPr>
        <p:txBody>
          <a:bodyPr wrap="square" lIns="0" tIns="0" rIns="0" bIns="0" rtlCol="0" anchor="t"/>
          <a:lstStyle/>
          <a:p>
            <a:pPr indent="0" marL="0">
              <a:buNone/>
            </a:pPr>
            <a:r>
              <a:rPr lang="en-US" sz="1100" dirty="0">
                <a:solidFill>
                  <a:schemeClr val="tx1"/>
                </a:solidFill>
              </a:rPr>
              <a:t>Urdu answers, 160 OCHA districts, PBS prices for 17 cities, NDMA advisories on the map</a:t>
            </a:r>
            <a:endParaRPr lang="en-US" sz="1100" dirty="0"/>
          </a:p>
        </p:txBody>
      </p:sp>
      <p:sp>
        <p:nvSpPr>
          <p:cNvPr id="15" name="local validation"/>
          <p:cNvSpPr/>
          <p:nvPr/>
        </p:nvSpPr>
        <p:spPr>
          <a:xfrm>
            <a:off x="5120640" y="914400"/>
            <a:ext cx="3566160" cy="1874520"/>
          </a:xfrm>
          <a:prstGeom prst="roundRect">
            <a:avLst>
              <a:gd name="adj" fmla="val 3902"/>
            </a:avLst>
          </a:prstGeom>
          <a:solidFill>
            <a:schemeClr val="bg2"/>
          </a:solidFill>
          <a:ln w="12700">
            <a:solidFill>
              <a:schemeClr val="bg2"/>
            </a:solidFill>
            <a:prstDash val="solid"/>
          </a:ln>
        </p:spPr>
      </p:sp>
      <p:sp>
        <p:nvSpPr>
          <p:cNvPr id="16" name="Text 14"/>
          <p:cNvSpPr txBox="1"/>
          <p:nvPr/>
        </p:nvSpPr>
        <p:spPr>
          <a:xfrm>
            <a:off x="5303520" y="1024128"/>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LOCAL VALIDATION (NDMA)</a:t>
            </a:r>
            <a:endParaRPr lang="en-US" sz="1200" dirty="0"/>
          </a:p>
        </p:txBody>
      </p:sp>
      <p:sp>
        <p:nvSpPr>
          <p:cNvPr id="17" name="Text 15"/>
          <p:cNvSpPr txBox="1"/>
          <p:nvPr/>
        </p:nvSpPr>
        <p:spPr>
          <a:xfrm>
            <a:off x="5303520" y="1325880"/>
            <a:ext cx="3246120" cy="141732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1"/>
                </a:solidFill>
              </a:rPr>
              <a:t>Replay of Aug 2025: on 14 Aug, 8 of our top-10 districts had heavy rain (34 districts did)</a:t>
            </a:r>
            <a:endParaRPr lang="en-US" sz="1100" dirty="0"/>
          </a:p>
          <a:p>
            <a:pPr marL="342900" indent="-342900">
              <a:spcAft>
                <a:spcPts val="300"/>
              </a:spcAft>
              <a:buSzPct val="100000"/>
              <a:buChar char="•"/>
            </a:pPr>
            <a:r>
              <a:rPr lang="en-US" sz="1100" dirty="0">
                <a:solidFill>
                  <a:schemeClr val="tx1"/>
                </a:solidFill>
              </a:rPr>
              <a:t>NDMA's 87 sitreps name 125 districts; our fixed 0.5 alert rule flagged only 1, so we rank risk instead</a:t>
            </a:r>
            <a:endParaRPr lang="en-US" sz="1100" dirty="0"/>
          </a:p>
        </p:txBody>
      </p:sp>
      <p:sp>
        <p:nvSpPr>
          <p:cNvPr id="18" name="limits"/>
          <p:cNvSpPr/>
          <p:nvPr/>
        </p:nvSpPr>
        <p:spPr>
          <a:xfrm>
            <a:off x="5120640" y="2926080"/>
            <a:ext cx="3566160" cy="1554480"/>
          </a:xfrm>
          <a:prstGeom prst="roundRect">
            <a:avLst>
              <a:gd name="adj" fmla="val 4706"/>
            </a:avLst>
          </a:prstGeom>
          <a:solidFill>
            <a:schemeClr val="tx2"/>
          </a:solidFill>
          <a:ln w="12700">
            <a:solidFill>
              <a:schemeClr val="tx2"/>
            </a:solidFill>
            <a:prstDash val="solid"/>
          </a:ln>
        </p:spPr>
      </p:sp>
      <p:sp>
        <p:nvSpPr>
          <p:cNvPr id="19" name="Text 17"/>
          <p:cNvSpPr txBox="1"/>
          <p:nvPr/>
        </p:nvSpPr>
        <p:spPr>
          <a:xfrm>
            <a:off x="5303520" y="3035808"/>
            <a:ext cx="3200400" cy="274320"/>
          </a:xfrm>
          <a:prstGeom prst="rect">
            <a:avLst/>
          </a:prstGeom>
          <a:noFill/>
          <a:ln/>
        </p:spPr>
        <p:txBody>
          <a:bodyPr wrap="square" lIns="0" tIns="0" rIns="0" bIns="0" rtlCol="0" anchor="t"/>
          <a:lstStyle/>
          <a:p>
            <a:pPr indent="0" marL="0">
              <a:buNone/>
            </a:pPr>
            <a:r>
              <a:rPr lang="en-US" sz="1200" b="1" dirty="0">
                <a:solidFill>
                  <a:schemeClr val="bg1"/>
                </a:solidFill>
              </a:rPr>
              <a:t>HONEST LIMITS</a:t>
            </a:r>
            <a:endParaRPr lang="en-US" sz="1200" dirty="0"/>
          </a:p>
        </p:txBody>
      </p:sp>
      <p:sp>
        <p:nvSpPr>
          <p:cNvPr id="20" name="Text 18"/>
          <p:cNvSpPr txBox="1"/>
          <p:nvPr/>
        </p:nvSpPr>
        <p:spPr>
          <a:xfrm>
            <a:off x="5303520" y="3337560"/>
            <a:ext cx="3246120" cy="1097280"/>
          </a:xfrm>
          <a:prstGeom prst="rect">
            <a:avLst/>
          </a:prstGeom>
          <a:noFill/>
          <a:ln/>
        </p:spPr>
        <p:txBody>
          <a:bodyPr wrap="square" lIns="0" tIns="0" rIns="0" bIns="0" rtlCol="0" anchor="t"/>
          <a:lstStyle/>
          <a:p>
            <a:pPr indent="0" marL="0">
              <a:buNone/>
            </a:pPr>
            <a:r>
              <a:rPr lang="en-US" sz="1100" dirty="0">
                <a:solidFill>
                  <a:schemeClr val="bg1"/>
                </a:solidFill>
              </a:rPr>
              <a:t>Buner, 15 Aug 2025: a flash flood killed 100+, but the satellite's wettest pixel (43 mm) stayed under Buner's 57.5 mm threshold, so the label says “no heavy rain”. Daily satellite rain misses cloudbursts.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Conclusion</a:t>
            </a:r>
            <a:endParaRPr lang="en-US" sz="2800" dirty="0"/>
          </a:p>
        </p:txBody>
      </p:sp>
      <p:sp>
        <p:nvSpPr>
          <p:cNvPr id="3" name="finding 1"/>
          <p:cNvSpPr/>
          <p:nvPr/>
        </p:nvSpPr>
        <p:spPr>
          <a:xfrm>
            <a:off x="457200" y="1051560"/>
            <a:ext cx="4937760" cy="1024128"/>
          </a:xfrm>
          <a:prstGeom prst="roundRect">
            <a:avLst>
              <a:gd name="adj" fmla="val 7143"/>
            </a:avLst>
          </a:prstGeom>
          <a:solidFill>
            <a:schemeClr val="bg2"/>
          </a:solidFill>
          <a:ln w="12700">
            <a:solidFill>
              <a:schemeClr val="bg2"/>
            </a:solidFill>
            <a:prstDash val="solid"/>
          </a:ln>
        </p:spPr>
      </p:sp>
      <p:sp>
        <p:nvSpPr>
          <p:cNvPr id="4" name="dot 1"/>
          <p:cNvSpPr/>
          <p:nvPr/>
        </p:nvSpPr>
        <p:spPr>
          <a:xfrm>
            <a:off x="640080" y="12344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4008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143000" y="1188720"/>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Beats the baseline on unseen 2026 data</a:t>
            </a:r>
            <a:endParaRPr lang="en-US" sz="1500" dirty="0"/>
          </a:p>
        </p:txBody>
      </p:sp>
      <p:sp>
        <p:nvSpPr>
          <p:cNvPr id="7" name="Text 5"/>
          <p:cNvSpPr txBox="1"/>
          <p:nvPr/>
        </p:nvSpPr>
        <p:spPr>
          <a:xfrm>
            <a:off x="1143000" y="1508760"/>
            <a:ext cx="4114800" cy="530352"/>
          </a:xfrm>
          <a:prstGeom prst="rect">
            <a:avLst/>
          </a:prstGeom>
          <a:noFill/>
          <a:ln/>
        </p:spPr>
        <p:txBody>
          <a:bodyPr wrap="square" lIns="0" tIns="0" rIns="0" bIns="0" rtlCol="0" anchor="t"/>
          <a:lstStyle/>
          <a:p>
            <a:pPr indent="0" marL="0">
              <a:buNone/>
            </a:pPr>
            <a:r>
              <a:rPr lang="en-US" sz="1200" dirty="0">
                <a:solidFill>
                  <a:schemeClr val="tx1"/>
                </a:solidFill>
              </a:rPr>
              <a:t>Brier 0.0177 vs climatology 0.0192 (about 7% better); the 95% interval of the gain excludes zero</a:t>
            </a:r>
            <a:endParaRPr lang="en-US" sz="1200" dirty="0"/>
          </a:p>
        </p:txBody>
      </p:sp>
      <p:sp>
        <p:nvSpPr>
          <p:cNvPr id="8" name="finding 2"/>
          <p:cNvSpPr/>
          <p:nvPr/>
        </p:nvSpPr>
        <p:spPr>
          <a:xfrm>
            <a:off x="457200" y="2212848"/>
            <a:ext cx="4937760" cy="1024128"/>
          </a:xfrm>
          <a:prstGeom prst="roundRect">
            <a:avLst>
              <a:gd name="adj" fmla="val 7143"/>
            </a:avLst>
          </a:prstGeom>
          <a:solidFill>
            <a:schemeClr val="bg2"/>
          </a:solidFill>
          <a:ln w="12700">
            <a:solidFill>
              <a:schemeClr val="bg2"/>
            </a:solidFill>
            <a:prstDash val="solid"/>
          </a:ln>
        </p:spPr>
      </p:sp>
      <p:sp>
        <p:nvSpPr>
          <p:cNvPr id="9" name="dot 2"/>
          <p:cNvSpPr/>
          <p:nvPr/>
        </p:nvSpPr>
        <p:spPr>
          <a:xfrm>
            <a:off x="640080" y="2395728"/>
            <a:ext cx="329184" cy="329184"/>
          </a:xfrm>
          <a:prstGeom prst="ellipse">
            <a:avLst/>
          </a:prstGeom>
          <a:solidFill>
            <a:schemeClr val="accent1"/>
          </a:solidFill>
          <a:ln w="12700">
            <a:solidFill>
              <a:schemeClr val="accent1"/>
            </a:solidFill>
            <a:prstDash val="solid"/>
          </a:ln>
        </p:spPr>
      </p:sp>
      <p:sp>
        <p:nvSpPr>
          <p:cNvPr id="10" name="Text 8"/>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143000" y="2350008"/>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Better everywhere we checked</a:t>
            </a:r>
            <a:endParaRPr lang="en-US" sz="1500" dirty="0"/>
          </a:p>
        </p:txBody>
      </p:sp>
      <p:sp>
        <p:nvSpPr>
          <p:cNvPr id="12" name="Text 10"/>
          <p:cNvSpPr txBox="1"/>
          <p:nvPr/>
        </p:nvSpPr>
        <p:spPr>
          <a:xfrm>
            <a:off x="1143000" y="2670048"/>
            <a:ext cx="4114800" cy="530352"/>
          </a:xfrm>
          <a:prstGeom prst="rect">
            <a:avLst/>
          </a:prstGeom>
          <a:noFill/>
          <a:ln/>
        </p:spPr>
        <p:txBody>
          <a:bodyPr wrap="square" lIns="0" tIns="0" rIns="0" bIns="0" rtlCol="0" anchor="t"/>
          <a:lstStyle/>
          <a:p>
            <a:pPr indent="0" marL="0">
              <a:buNone/>
            </a:pPr>
            <a:r>
              <a:rPr lang="en-US" sz="1200" dirty="0">
                <a:solidFill>
                  <a:schemeClr val="tx1"/>
                </a:solidFill>
              </a:rPr>
              <a:t>Ahead of climatology in every province and terrain group and in monsoon months; weakest in Azad Kashmir</a:t>
            </a:r>
            <a:endParaRPr lang="en-US" sz="1200" dirty="0"/>
          </a:p>
        </p:txBody>
      </p:sp>
      <p:sp>
        <p:nvSpPr>
          <p:cNvPr id="13" name="finding 3"/>
          <p:cNvSpPr/>
          <p:nvPr/>
        </p:nvSpPr>
        <p:spPr>
          <a:xfrm>
            <a:off x="457200" y="3374136"/>
            <a:ext cx="4937760" cy="1024128"/>
          </a:xfrm>
          <a:prstGeom prst="roundRect">
            <a:avLst>
              <a:gd name="adj" fmla="val 7143"/>
            </a:avLst>
          </a:prstGeom>
          <a:solidFill>
            <a:schemeClr val="bg2"/>
          </a:solidFill>
          <a:ln w="12700">
            <a:solidFill>
              <a:schemeClr val="bg2"/>
            </a:solidFill>
            <a:prstDash val="solid"/>
          </a:ln>
        </p:spPr>
      </p:sp>
      <p:sp>
        <p:nvSpPr>
          <p:cNvPr id="14" name="dot 3"/>
          <p:cNvSpPr/>
          <p:nvPr/>
        </p:nvSpPr>
        <p:spPr>
          <a:xfrm>
            <a:off x="640080" y="355701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40080" y="35570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143000" y="3511296"/>
            <a:ext cx="4114800" cy="292608"/>
          </a:xfrm>
          <a:prstGeom prst="rect">
            <a:avLst/>
          </a:prstGeom>
          <a:noFill/>
          <a:ln/>
        </p:spPr>
        <p:txBody>
          <a:bodyPr wrap="square" lIns="0" tIns="0" rIns="0" bIns="0" rtlCol="0" anchor="t"/>
          <a:lstStyle/>
          <a:p>
            <a:pPr indent="0" marL="0">
              <a:buNone/>
            </a:pPr>
            <a:r>
              <a:rPr lang="en-US" sz="1500" b="1" dirty="0">
                <a:solidFill>
                  <a:schemeClr val="tx2"/>
                </a:solidFill>
              </a:rPr>
              <a:t>Right when it mattered</a:t>
            </a:r>
            <a:endParaRPr lang="en-US" sz="1500" dirty="0"/>
          </a:p>
        </p:txBody>
      </p:sp>
      <p:sp>
        <p:nvSpPr>
          <p:cNvPr id="17" name="Text 15"/>
          <p:cNvSpPr txBox="1"/>
          <p:nvPr/>
        </p:nvSpPr>
        <p:spPr>
          <a:xfrm>
            <a:off x="1143000" y="3831336"/>
            <a:ext cx="4114800" cy="530352"/>
          </a:xfrm>
          <a:prstGeom prst="rect">
            <a:avLst/>
          </a:prstGeom>
          <a:noFill/>
          <a:ln/>
        </p:spPr>
        <p:txBody>
          <a:bodyPr wrap="square" lIns="0" tIns="0" rIns="0" bIns="0" rtlCol="0" anchor="t"/>
          <a:lstStyle/>
          <a:p>
            <a:pPr indent="0" marL="0">
              <a:buNone/>
            </a:pPr>
            <a:r>
              <a:rPr lang="en-US" sz="1200" dirty="0">
                <a:solidFill>
                  <a:schemeClr val="tx1"/>
                </a:solidFill>
              </a:rPr>
              <a:t>Replaying Aug 2025: on 14 Aug, 8 of the 10 districts we ranked highest really had heavy rain</a:t>
            </a:r>
            <a:endParaRPr lang="en-US" sz="1200" dirty="0"/>
          </a:p>
        </p:txBody>
      </p:sp>
      <p:sp>
        <p:nvSpPr>
          <p:cNvPr id="18" name="impact"/>
          <p:cNvSpPr/>
          <p:nvPr/>
        </p:nvSpPr>
        <p:spPr>
          <a:xfrm>
            <a:off x="5669280" y="1051560"/>
            <a:ext cx="3017520" cy="1691640"/>
          </a:xfrm>
          <a:prstGeom prst="roundRect">
            <a:avLst>
              <a:gd name="adj" fmla="val 4324"/>
            </a:avLst>
          </a:prstGeom>
          <a:solidFill>
            <a:schemeClr val="tx2"/>
          </a:solidFill>
          <a:ln w="12700">
            <a:solidFill>
              <a:schemeClr val="tx2"/>
            </a:solidFill>
            <a:prstDash val="solid"/>
          </a:ln>
        </p:spPr>
      </p:sp>
      <p:sp>
        <p:nvSpPr>
          <p:cNvPr id="19" name="Text 17"/>
          <p:cNvSpPr txBox="1"/>
          <p:nvPr/>
        </p:nvSpPr>
        <p:spPr>
          <a:xfrm>
            <a:off x="5870448" y="1216152"/>
            <a:ext cx="2651760" cy="274320"/>
          </a:xfrm>
          <a:prstGeom prst="rect">
            <a:avLst/>
          </a:prstGeom>
          <a:noFill/>
          <a:ln/>
        </p:spPr>
        <p:txBody>
          <a:bodyPr wrap="square" lIns="0" tIns="0" rIns="0" bIns="0" rtlCol="0" anchor="t"/>
          <a:lstStyle/>
          <a:p>
            <a:pPr indent="0" marL="0">
              <a:buNone/>
            </a:pPr>
            <a:r>
              <a:rPr lang="en-US" sz="1200" b="1" spc="200" kern="0" dirty="0">
                <a:solidFill>
                  <a:schemeClr val="bg1"/>
                </a:solidFill>
              </a:rPr>
              <a:t>IMPACT</a:t>
            </a:r>
            <a:endParaRPr lang="en-US" sz="1200" dirty="0"/>
          </a:p>
        </p:txBody>
      </p:sp>
      <p:sp>
        <p:nvSpPr>
          <p:cNvPr id="20" name="Text 18"/>
          <p:cNvSpPr txBox="1"/>
          <p:nvPr/>
        </p:nvSpPr>
        <p:spPr>
          <a:xfrm>
            <a:off x="5870448" y="1490472"/>
            <a:ext cx="2697480" cy="1216152"/>
          </a:xfrm>
          <a:prstGeom prst="rect">
            <a:avLst/>
          </a:prstGeom>
          <a:noFill/>
          <a:ln/>
        </p:spPr>
        <p:txBody>
          <a:bodyPr wrap="square" lIns="0" tIns="0" rIns="0" bIns="0" rtlCol="0" anchor="t"/>
          <a:lstStyle/>
          <a:p>
            <a:pPr indent="0" marL="0">
              <a:spcAft>
                <a:spcPts val="400"/>
              </a:spcAft>
              <a:buNone/>
            </a:pPr>
            <a:r>
              <a:rPr lang="en-US" sz="1100" dirty="0">
                <a:solidFill>
                  <a:schemeClr val="bg1"/>
                </a:solidFill>
              </a:rPr>
              <a:t>160 district offices get a free, hourly, per-district signal with reasons and NDMA sources.</a:t>
            </a:r>
            <a:endParaRPr lang="en-US" sz="1100" dirty="0"/>
          </a:p>
          <a:p>
            <a:pPr indent="0" marL="0">
              <a:spcAft>
                <a:spcPts val="400"/>
              </a:spcAft>
              <a:buNone/>
            </a:pPr>
            <a:r>
              <a:rPr lang="en-US" sz="1100" b="1" dirty="0">
                <a:solidFill>
                  <a:schemeClr val="bg1"/>
                </a:solidFill>
              </a:rPr>
              <a:t>Payer: PDMA preparedness budgets or donors' anticipatory-action funds. Runs on 1 CPU, free-tier data.</a:t>
            </a:r>
            <a:endParaRPr lang="en-US" sz="1100" dirty="0"/>
          </a:p>
        </p:txBody>
      </p:sp>
      <p:sp>
        <p:nvSpPr>
          <p:cNvPr id="21" name="future work"/>
          <p:cNvSpPr/>
          <p:nvPr/>
        </p:nvSpPr>
        <p:spPr>
          <a:xfrm>
            <a:off x="5669280" y="2907792"/>
            <a:ext cx="3017520" cy="1572768"/>
          </a:xfrm>
          <a:prstGeom prst="roundRect">
            <a:avLst>
              <a:gd name="adj" fmla="val 4651"/>
            </a:avLst>
          </a:prstGeom>
          <a:solidFill>
            <a:schemeClr val="bg2"/>
          </a:solidFill>
          <a:ln w="12700">
            <a:solidFill>
              <a:schemeClr val="bg2"/>
            </a:solidFill>
            <a:prstDash val="solid"/>
          </a:ln>
        </p:spPr>
      </p:sp>
      <p:sp>
        <p:nvSpPr>
          <p:cNvPr id="22" name="Text 20"/>
          <p:cNvSpPr txBox="1"/>
          <p:nvPr/>
        </p:nvSpPr>
        <p:spPr>
          <a:xfrm>
            <a:off x="5870448" y="3072384"/>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FUTURE WORK</a:t>
            </a:r>
            <a:endParaRPr lang="en-US" sz="1200" dirty="0"/>
          </a:p>
        </p:txBody>
      </p:sp>
      <p:sp>
        <p:nvSpPr>
          <p:cNvPr id="23" name="Text 21"/>
          <p:cNvSpPr txBox="1"/>
          <p:nvPr/>
        </p:nvSpPr>
        <p:spPr>
          <a:xfrm>
            <a:off x="5870448" y="3383280"/>
            <a:ext cx="2697480" cy="10515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Sub-daily rain to catch cloudbursts like Buner</a:t>
            </a:r>
            <a:endParaRPr lang="en-US" sz="1200" dirty="0"/>
          </a:p>
          <a:p>
            <a:pPr marL="342900" indent="-342900">
              <a:spcAft>
                <a:spcPts val="300"/>
              </a:spcAft>
              <a:buSzPct val="100000"/>
              <a:buChar char="•"/>
            </a:pPr>
            <a:r>
              <a:rPr lang="en-US" sz="1200" dirty="0">
                <a:solidFill>
                  <a:schemeClr val="tx1"/>
                </a:solidFill>
              </a:rPr>
              <a:t>Flood and damage targets, not only rain</a:t>
            </a:r>
            <a:endParaRPr lang="en-US" sz="1200" dirty="0"/>
          </a:p>
          <a:p>
            <a:pPr marL="342900" indent="-342900">
              <a:spcAft>
                <a:spcPts val="300"/>
              </a:spcAft>
              <a:buSzPct val="100000"/>
              <a:buChar char="•"/>
            </a:pPr>
            <a:r>
              <a:rPr lang="en-US" sz="1200" dirty="0">
                <a:solidFill>
                  <a:schemeClr val="tx1"/>
                </a:solidFill>
              </a:rPr>
              <a:t>A price model that beats “no change”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Team &amp; Credits</a:t>
            </a:r>
            <a:endParaRPr lang="en-US" sz="2800" dirty="0"/>
          </a:p>
        </p:txBody>
      </p:sp>
      <p:sp>
        <p:nvSpPr>
          <p:cNvPr id="3" name="Text 1"/>
          <p:cNvSpPr txBox="1"/>
          <p:nvPr/>
        </p:nvSpPr>
        <p:spPr>
          <a:xfrm>
            <a:off x="457200" y="914400"/>
            <a:ext cx="5486400"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TEAM SPARK H</a:t>
            </a:r>
            <a:endParaRPr lang="en-US" sz="1800" dirty="0"/>
          </a:p>
        </p:txBody>
      </p:sp>
      <p:sp>
        <p:nvSpPr>
          <p:cNvPr id="4" name="member 1"/>
          <p:cNvSpPr/>
          <p:nvPr/>
        </p:nvSpPr>
        <p:spPr>
          <a:xfrm>
            <a:off x="457200" y="914400"/>
            <a:ext cx="2560320" cy="2880360"/>
          </a:xfrm>
          <a:prstGeom prst="roundRect">
            <a:avLst>
              <a:gd name="adj" fmla="val 2857"/>
            </a:avLst>
          </a:prstGeom>
          <a:solidFill>
            <a:schemeClr val="bg2"/>
          </a:solidFill>
          <a:ln w="12700">
            <a:solidFill>
              <a:schemeClr val="bg2"/>
            </a:solidFill>
            <a:prstDash val="solid"/>
          </a:ln>
        </p:spPr>
      </p:sp>
      <p:sp>
        <p:nvSpPr>
          <p:cNvPr id="5" name="avatar 1"/>
          <p:cNvSpPr/>
          <p:nvPr/>
        </p:nvSpPr>
        <p:spPr>
          <a:xfrm>
            <a:off x="1463040" y="105156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46304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RT</a:t>
            </a:r>
            <a:endParaRPr lang="en-US" sz="1600" dirty="0"/>
          </a:p>
        </p:txBody>
      </p:sp>
      <p:sp>
        <p:nvSpPr>
          <p:cNvPr id="7" name="Text 5"/>
          <p:cNvSpPr txBox="1"/>
          <p:nvPr/>
        </p:nvSpPr>
        <p:spPr>
          <a:xfrm>
            <a:off x="54864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Roshaan Tahir</a:t>
            </a:r>
            <a:endParaRPr lang="en-US" sz="1600" dirty="0"/>
          </a:p>
        </p:txBody>
      </p:sp>
      <p:sp>
        <p:nvSpPr>
          <p:cNvPr id="8" name="Text 6"/>
          <p:cNvSpPr txBox="1"/>
          <p:nvPr/>
        </p:nvSpPr>
        <p:spPr>
          <a:xfrm>
            <a:off x="54864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Forecast data, models &amp; dashboard</a:t>
            </a:r>
            <a:endParaRPr lang="en-US" sz="1200" dirty="0"/>
          </a:p>
        </p:txBody>
      </p:sp>
      <p:sp>
        <p:nvSpPr>
          <p:cNvPr id="9" name="Text 7"/>
          <p:cNvSpPr txBox="1"/>
          <p:nvPr/>
        </p:nvSpPr>
        <p:spPr>
          <a:xfrm>
            <a:off x="64008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Open-Meteo forecast pipeline</a:t>
            </a:r>
            <a:endParaRPr lang="en-US" sz="1200" dirty="0"/>
          </a:p>
          <a:p>
            <a:pPr marL="342900" indent="-342900">
              <a:spcAft>
                <a:spcPts val="400"/>
              </a:spcAft>
              <a:buSzPct val="100000"/>
              <a:buChar char="•"/>
            </a:pPr>
            <a:r>
              <a:rPr lang="en-US" sz="1200" dirty="0">
                <a:solidFill>
                  <a:schemeClr val="tx1"/>
                </a:solidFill>
              </a:rPr>
              <a:t>Model A training and calibration</a:t>
            </a:r>
            <a:endParaRPr lang="en-US" sz="1200" dirty="0"/>
          </a:p>
          <a:p>
            <a:pPr marL="342900" indent="-342900">
              <a:spcAft>
                <a:spcPts val="400"/>
              </a:spcAft>
              <a:buSzPct val="100000"/>
              <a:buChar char="•"/>
            </a:pPr>
            <a:r>
              <a:rPr lang="en-US" sz="1200" dirty="0">
                <a:solidFill>
                  <a:schemeClr val="tx1"/>
                </a:solidFill>
              </a:rPr>
              <a:t>Insight Agent and live dashboard</a:t>
            </a:r>
            <a:endParaRPr lang="en-US" sz="1200" dirty="0"/>
          </a:p>
        </p:txBody>
      </p:sp>
      <p:sp>
        <p:nvSpPr>
          <p:cNvPr id="10" name="member 2"/>
          <p:cNvSpPr/>
          <p:nvPr/>
        </p:nvSpPr>
        <p:spPr>
          <a:xfrm>
            <a:off x="3291840" y="914400"/>
            <a:ext cx="2560320" cy="2880360"/>
          </a:xfrm>
          <a:prstGeom prst="roundRect">
            <a:avLst>
              <a:gd name="adj" fmla="val 2857"/>
            </a:avLst>
          </a:prstGeom>
          <a:solidFill>
            <a:schemeClr val="bg2"/>
          </a:solidFill>
          <a:ln w="12700">
            <a:solidFill>
              <a:schemeClr val="bg2"/>
            </a:solidFill>
            <a:prstDash val="solid"/>
          </a:ln>
        </p:spPr>
      </p:sp>
      <p:sp>
        <p:nvSpPr>
          <p:cNvPr id="11" name="avatar 2"/>
          <p:cNvSpPr/>
          <p:nvPr/>
        </p:nvSpPr>
        <p:spPr>
          <a:xfrm>
            <a:off x="4297680" y="105156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29768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HK</a:t>
            </a:r>
            <a:endParaRPr lang="en-US" sz="1600" dirty="0"/>
          </a:p>
        </p:txBody>
      </p:sp>
      <p:sp>
        <p:nvSpPr>
          <p:cNvPr id="13" name="Text 11"/>
          <p:cNvSpPr txBox="1"/>
          <p:nvPr/>
        </p:nvSpPr>
        <p:spPr>
          <a:xfrm>
            <a:off x="338328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Hammad Khan</a:t>
            </a:r>
            <a:endParaRPr lang="en-US" sz="1600" dirty="0"/>
          </a:p>
        </p:txBody>
      </p:sp>
      <p:sp>
        <p:nvSpPr>
          <p:cNvPr id="14" name="Text 12"/>
          <p:cNvSpPr txBox="1"/>
          <p:nvPr/>
        </p:nvSpPr>
        <p:spPr>
          <a:xfrm>
            <a:off x="338328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Satellite rain &amp; ground truth</a:t>
            </a:r>
            <a:endParaRPr lang="en-US" sz="1200" dirty="0"/>
          </a:p>
        </p:txBody>
      </p:sp>
      <p:sp>
        <p:nvSpPr>
          <p:cNvPr id="15" name="Text 13"/>
          <p:cNvSpPr txBox="1"/>
          <p:nvPr/>
        </p:nvSpPr>
        <p:spPr>
          <a:xfrm>
            <a:off x="347472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NASA IMERG satellite rain fetcher</a:t>
            </a:r>
            <a:endParaRPr lang="en-US" sz="1200" dirty="0"/>
          </a:p>
          <a:p>
            <a:pPr marL="342900" indent="-342900">
              <a:spcAft>
                <a:spcPts val="400"/>
              </a:spcAft>
              <a:buSzPct val="100000"/>
              <a:buChar char="•"/>
            </a:pPr>
            <a:r>
              <a:rPr lang="en-US" sz="1200" dirty="0">
                <a:solidFill>
                  <a:schemeClr val="tx1"/>
                </a:solidFill>
              </a:rPr>
              <a:t>District rain, 95th-pct thresholds, labels</a:t>
            </a:r>
            <a:endParaRPr lang="en-US" sz="1200" dirty="0"/>
          </a:p>
          <a:p>
            <a:pPr marL="342900" indent="-342900">
              <a:spcAft>
                <a:spcPts val="400"/>
              </a:spcAft>
              <a:buSzPct val="100000"/>
              <a:buChar char="•"/>
            </a:pPr>
            <a:r>
              <a:rPr lang="en-US" sz="1200" dirty="0">
                <a:solidFill>
                  <a:schemeClr val="tx1"/>
                </a:solidFill>
              </a:rPr>
              <a:t>Data quality checks + 26 tests</a:t>
            </a:r>
            <a:endParaRPr lang="en-US" sz="1200" dirty="0"/>
          </a:p>
        </p:txBody>
      </p:sp>
      <p:sp>
        <p:nvSpPr>
          <p:cNvPr id="16" name="member 3"/>
          <p:cNvSpPr/>
          <p:nvPr/>
        </p:nvSpPr>
        <p:spPr>
          <a:xfrm>
            <a:off x="6126480" y="914400"/>
            <a:ext cx="2560320" cy="2880360"/>
          </a:xfrm>
          <a:prstGeom prst="roundRect">
            <a:avLst>
              <a:gd name="adj" fmla="val 2857"/>
            </a:avLst>
          </a:prstGeom>
          <a:solidFill>
            <a:schemeClr val="bg2"/>
          </a:solidFill>
          <a:ln w="12700">
            <a:solidFill>
              <a:schemeClr val="bg2"/>
            </a:solidFill>
            <a:prstDash val="solid"/>
          </a:ln>
        </p:spPr>
      </p:sp>
      <p:sp>
        <p:nvSpPr>
          <p:cNvPr id="17" name="avatar 3"/>
          <p:cNvSpPr/>
          <p:nvPr/>
        </p:nvSpPr>
        <p:spPr>
          <a:xfrm>
            <a:off x="7132320" y="1051560"/>
            <a:ext cx="548640" cy="548640"/>
          </a:xfrm>
          <a:prstGeom prst="ellipse">
            <a:avLst/>
          </a:prstGeom>
          <a:solidFill>
            <a:schemeClr val="accent1"/>
          </a:solidFill>
          <a:ln w="12700">
            <a:solidFill>
              <a:schemeClr val="accent1"/>
            </a:solidFill>
            <a:prstDash val="solid"/>
          </a:ln>
        </p:spPr>
      </p:sp>
      <p:sp>
        <p:nvSpPr>
          <p:cNvPr id="18" name="Text 16"/>
          <p:cNvSpPr txBox="1"/>
          <p:nvPr/>
        </p:nvSpPr>
        <p:spPr>
          <a:xfrm>
            <a:off x="713232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MH</a:t>
            </a:r>
            <a:endParaRPr lang="en-US" sz="1600" dirty="0"/>
          </a:p>
        </p:txBody>
      </p:sp>
      <p:sp>
        <p:nvSpPr>
          <p:cNvPr id="19" name="Text 17"/>
          <p:cNvSpPr txBox="1"/>
          <p:nvPr/>
        </p:nvSpPr>
        <p:spPr>
          <a:xfrm>
            <a:off x="621792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Muhammad Huzaifa</a:t>
            </a:r>
            <a:endParaRPr lang="en-US" sz="1600" dirty="0"/>
          </a:p>
        </p:txBody>
      </p:sp>
      <p:sp>
        <p:nvSpPr>
          <p:cNvPr id="20" name="Text 18"/>
          <p:cNvSpPr txBox="1"/>
          <p:nvPr/>
        </p:nvSpPr>
        <p:spPr>
          <a:xfrm>
            <a:off x="621792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Deployment &amp; delivery</a:t>
            </a:r>
            <a:endParaRPr lang="en-US" sz="1200" dirty="0"/>
          </a:p>
        </p:txBody>
      </p:sp>
      <p:sp>
        <p:nvSpPr>
          <p:cNvPr id="21" name="Text 19"/>
          <p:cNvSpPr txBox="1"/>
          <p:nvPr/>
        </p:nvSpPr>
        <p:spPr>
          <a:xfrm>
            <a:off x="630936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Hugging Face Space (Docker server)</a:t>
            </a:r>
            <a:endParaRPr lang="en-US" sz="1200" dirty="0"/>
          </a:p>
          <a:p>
            <a:pPr marL="342900" indent="-342900">
              <a:spcAft>
                <a:spcPts val="400"/>
              </a:spcAft>
              <a:buSzPct val="100000"/>
              <a:buChar char="•"/>
            </a:pPr>
            <a:r>
              <a:rPr lang="en-US" sz="1200" dirty="0">
                <a:solidFill>
                  <a:schemeClr val="tx1"/>
                </a:solidFill>
              </a:rPr>
              <a:t>Build-and-assemble deploy script</a:t>
            </a:r>
            <a:endParaRPr lang="en-US" sz="1200" dirty="0"/>
          </a:p>
          <a:p>
            <a:pPr marL="342900" indent="-342900">
              <a:spcAft>
                <a:spcPts val="400"/>
              </a:spcAft>
              <a:buSzPct val="100000"/>
              <a:buChar char="•"/>
            </a:pPr>
            <a:r>
              <a:rPr lang="en-US" sz="1200" dirty="0">
                <a:solidFill>
                  <a:schemeClr val="tx1"/>
                </a:solidFill>
              </a:rPr>
              <a:t>Deploy checklist and AI-use records</a:t>
            </a:r>
            <a:endParaRPr lang="en-US" sz="1200" dirty="0"/>
          </a:p>
        </p:txBody>
      </p:sp>
      <p:sp>
        <p:nvSpPr>
          <p:cNvPr id="22" name="Text 20"/>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100" b="1" dirty="0">
                <a:solidFill>
                  <a:schemeClr val="tx1"/>
                </a:solidFill>
              </a:rPr>
              <a:t>Contact: </a:t>
            </a:r>
            <a:pPr indent="0" marL="0">
              <a:buNone/>
            </a:pPr>
            <a:r>
              <a:rPr lang="en-US" sz="1100" dirty="0">
                <a:solidFill>
                  <a:schemeClr val="accent5"/>
                </a:solidFill>
              </a:rPr>
              <a:t>github.com/RoshaanT1/floodlens-pakistan</a:t>
            </a:r>
            <a:pPr indent="0" marL="0">
              <a:buNone/>
            </a:pPr>
            <a:r>
              <a:rPr lang="en-US" sz="1100" dirty="0">
                <a:solidFill>
                  <a:schemeClr val="tx1"/>
                </a:solidFill>
              </a:rPr>
              <a:t>   ·   Data: Open-Meteo, NASA, OCHA, PBS, NDMA</a:t>
            </a:r>
            <a:endParaRPr lang="en-US" sz="1100" dirty="0"/>
          </a:p>
        </p:txBody>
      </p:sp>
      <p:sp>
        <p:nvSpPr>
          <p:cNvPr id="23" name="Text 21"/>
          <p:cNvSpPr txBox="1"/>
          <p:nvPr/>
        </p:nvSpPr>
        <p:spPr>
          <a:xfrm>
            <a:off x="457200" y="4224528"/>
            <a:ext cx="5486400" cy="411480"/>
          </a:xfrm>
          <a:prstGeom prst="rect">
            <a:avLst/>
          </a:prstGeom>
          <a:noFill/>
          <a:ln/>
        </p:spPr>
        <p:txBody>
          <a:bodyPr wrap="square" lIns="0" tIns="0" rIns="0" bIns="0" rtlCol="0" anchor="t"/>
          <a:lstStyle/>
          <a:p>
            <a:pPr indent="0" marL="0">
              <a:buNone/>
            </a:pPr>
            <a:r>
              <a:rPr lang="en-US" sz="2400" b="1" dirty="0">
                <a:solidFill>
                  <a:schemeClr val="tx2"/>
                </a:solidFill>
              </a:rPr>
              <a:t>Thank you!</a:t>
            </a:r>
            <a:endParaRPr lang="en-US" sz="2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FloodLens">
  <a:themeElements>
    <a:clrScheme name="FloodLens">
      <a:dk1>
        <a:srgbClr val="1F2933"/>
      </a:dk1>
      <a:lt1>
        <a:srgbClr val="FFFFFF"/>
      </a:lt1>
      <a:dk2>
        <a:srgbClr val="0B5D2A"/>
      </a:dk2>
      <a:lt2>
        <a:srgbClr val="EEF6F0"/>
      </a:lt2>
      <a:accent1>
        <a:srgbClr val="0B5D2A"/>
      </a:accent1>
      <a:accent2>
        <a:srgbClr val="2E8B57"/>
      </a:accent2>
      <a:accent3>
        <a:srgbClr val="B42318"/>
      </a:accent3>
      <a:accent4>
        <a:srgbClr val="B54708"/>
      </a:accent4>
      <a:accent5>
        <a:srgbClr val="1D4E89"/>
      </a:accent5>
      <a:accent6>
        <a:srgbClr val="667085"/>
      </a:accent6>
      <a:hlink>
        <a:srgbClr val="1D4E89"/>
      </a:hlink>
      <a:folHlink>
        <a:srgbClr val="6941C6"/>
      </a:folHlink>
    </a:clrScheme>
    <a:fontScheme name="FloodLe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FloodLens Pakistan</dc:title>
  <dc:subject>PptxGenJS Presentation</dc:subject>
  <dc:creator>Team Spark H</dc:creator>
  <cp:lastModifiedBy>Team Spark H</cp:lastModifiedBy>
  <cp:revision>1</cp:revision>
  <dcterms:created xsi:type="dcterms:W3CDTF">2026-10-21T17:25:51Z</dcterms:created>
  <dcterms:modified xsi:type="dcterms:W3CDTF">2026-10-21T17:25:51Z</dcterms:modified>
</cp:coreProperties>
</file>